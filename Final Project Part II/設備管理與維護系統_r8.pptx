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86" r:id="rId2"/>
    <p:sldId id="287" r:id="rId3"/>
    <p:sldId id="258" r:id="rId4"/>
    <p:sldId id="290" r:id="rId5"/>
    <p:sldId id="292" r:id="rId6"/>
    <p:sldId id="293" r:id="rId7"/>
    <p:sldId id="294" r:id="rId8"/>
    <p:sldId id="295" r:id="rId9"/>
    <p:sldId id="296" r:id="rId10"/>
    <p:sldId id="297" r:id="rId11"/>
    <p:sldId id="306" r:id="rId12"/>
    <p:sldId id="299" r:id="rId13"/>
    <p:sldId id="300" r:id="rId14"/>
    <p:sldId id="302" r:id="rId15"/>
    <p:sldId id="307" r:id="rId16"/>
    <p:sldId id="309" r:id="rId17"/>
    <p:sldId id="314" r:id="rId18"/>
    <p:sldId id="310" r:id="rId19"/>
    <p:sldId id="311" r:id="rId20"/>
    <p:sldId id="312" r:id="rId21"/>
    <p:sldId id="313" r:id="rId22"/>
    <p:sldId id="30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15" r:id="rId31"/>
    <p:sldId id="323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6DDEF"/>
    <a:srgbClr val="EDE6DF"/>
    <a:srgbClr val="B76251"/>
    <a:srgbClr val="DDE7D8"/>
    <a:srgbClr val="9AB78B"/>
    <a:srgbClr val="89AEC9"/>
    <a:srgbClr val="A0BED4"/>
    <a:srgbClr val="DCE7EF"/>
    <a:srgbClr val="EED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5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431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BE6297E-9269-40CC-82A3-4071A20778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DC10915-2D7E-47F7-B825-B02946BA54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A448-9036-4014-BC64-AC9466AAC4A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D48D28-1C69-4BFB-A8AC-AC4AFAEFFD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549B96-D402-4C29-B08B-5FB7E98E93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4EB42-A537-4A89-979B-55DC3571A6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979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80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17BC-1733-0E9E-F710-4888FA8F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14A03-A06D-8146-52E0-D8015155D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2CCD9-0067-B383-D5C0-0CF07472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C1027-6647-5F9C-8C45-057A37CAB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15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9EE7-0A47-8CFD-2215-F8EA4BC8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6E240-3E21-7EC0-796B-EA9891F91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68319-3FC7-1E44-B873-52D8E24CC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23D9E-2495-FBC0-7FD9-B22790C98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58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2EBE9-0185-22C8-1362-E487B60C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B711F-CD3E-6DB0-182B-0DABAE8DC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039BC-F969-6459-143D-000E205AD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90B-F0CC-210F-3412-D8D999946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11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CCD1-F291-2DCE-7760-AC6D4955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974B0-734C-CB67-D91C-CE6BD0323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13F5E-47B9-C11C-85BA-7ABFC5B02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27892-28E2-DB32-C88E-52AE44B54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15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EB24-5002-3F14-9618-3CD36017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5A4E8-0EB6-D923-C534-0309BE080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7FC91-533B-9D81-D5CF-33D9CE646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4FD01-775F-C831-3605-3FAC8B275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23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459F-72A9-0896-71F4-3AD9EEE3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26237-333E-9381-F08B-FB91DE76F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D34F6-E118-6E40-877B-FAE4128D9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F5683-C887-B5E4-FDA3-E30885297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38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D27CE-E175-7766-CA9C-7E9BA93F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7B026-4323-C688-9CE8-3D1EC2E61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D7E6F-7D17-DD57-97A3-9947BA560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46F8A-DCCB-B912-F316-1AA13070F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62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F19B-B85F-1984-40EA-4FD8F377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ACA81-6140-4F9E-9733-0A29564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FD2CB-837D-BC68-9D85-A42252DD6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C6C4-90A9-3478-3441-FCC1E015A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12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73D2A-A4E2-9BB7-691E-7F2BD915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43469-1AB3-1DC4-D7D6-30F1EDB7E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63C73-8CD2-8CC8-C60B-F53E02F2C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487AC-E4C1-B912-11D0-28740192F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84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E413-3328-557E-0F1A-BC8013C4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9D466-FAB2-C837-4258-0A1787636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271A4-7BBC-425A-4EF3-CFE397254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93827-B747-BEEF-9B01-58C2B6CD0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6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58B4-11DA-F5CC-CB7A-2E586EED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CC91C-A3BD-BD2F-36E0-F1A20C388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A093C-C9F9-CB27-BF18-2FBF891C1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5E9C3-1DE4-50A4-D6FD-7C170AD2A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60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5562-53EB-ABC0-1853-94C80B21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C90B8-BA51-1AE4-6B37-62EB5237D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55950-0D50-157E-1AFF-D01287E8E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9330-FFE3-3342-B4CB-6C8FD91C0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44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904DEDD3-D704-4483-845D-79CACAD3B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453" y="61737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FA32C4C-0BC4-4C0B-B515-D3E7B997DA3C}" type="slidenum">
              <a:rPr lang="zh-TW" altLang="en-US" smtClean="0"/>
              <a:pPr/>
              <a:t>‹#›</a:t>
            </a:fld>
            <a:endParaRPr lang="zh-TW" altLang="en-US" dirty="0"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D597FF06-CA41-4D55-959E-B3CEA5C4B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453" y="61737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FA32C4C-0BC4-4C0B-B515-D3E7B997DA3C}" type="slidenum">
              <a:rPr lang="zh-TW" altLang="en-US" smtClean="0"/>
              <a:pPr/>
              <a:t>‹#›</a:t>
            </a:fld>
            <a:endParaRPr lang="zh-TW" altLang="en-US" dirty="0"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D6873905-18EC-BCF3-3E98-BF70D2048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453" y="61737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FA32C4C-0BC4-4C0B-B515-D3E7B997DA3C}" type="slidenum">
              <a:rPr lang="zh-TW" altLang="en-US" smtClean="0"/>
              <a:pPr/>
              <a:t>‹#›</a:t>
            </a:fld>
            <a:endParaRPr lang="zh-TW" altLang="en-US" dirty="0"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ceapp.nfu.edu.tw/" TargetMode="External"/><Relationship Id="rId2" Type="http://schemas.openxmlformats.org/officeDocument/2006/relationships/hyperlink" Target="https://eqapp.nfu.edu.tw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7753968" y="-1059881"/>
            <a:ext cx="8572563" cy="3288747"/>
          </a:xfrm>
          <a:custGeom>
            <a:avLst/>
            <a:gdLst/>
            <a:ahLst/>
            <a:cxnLst/>
            <a:rect l="l" t="t" r="r" b="b"/>
            <a:pathLst>
              <a:path w="12858845" h="4933121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Freeform 7"/>
          <p:cNvSpPr/>
          <p:nvPr/>
        </p:nvSpPr>
        <p:spPr>
          <a:xfrm rot="1925852">
            <a:off x="-2020475" y="2402771"/>
            <a:ext cx="6257785" cy="7038409"/>
          </a:xfrm>
          <a:custGeom>
            <a:avLst/>
            <a:gdLst/>
            <a:ahLst/>
            <a:cxnLst/>
            <a:rect l="l" t="t" r="r" b="b"/>
            <a:pathLst>
              <a:path w="9386678" h="10557613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567324" y="3248949"/>
            <a:ext cx="10938877" cy="0"/>
          </a:xfrm>
          <a:prstGeom prst="line">
            <a:avLst/>
          </a:prstGeom>
          <a:ln w="9525" cap="flat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6555" y="2140673"/>
            <a:ext cx="10938888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86"/>
              </a:lnSpc>
            </a:pPr>
            <a:r>
              <a:rPr lang="zh-TW" altLang="en-US" sz="7200" b="1" spc="43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 Bold"/>
                <a:sym typeface="Noto Sans T Chinese Bold"/>
              </a:rPr>
              <a:t>設備管理與維護系統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6555" y="4855323"/>
            <a:ext cx="5167755" cy="1116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zh-TW" alt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組別</a:t>
            </a:r>
            <a:r>
              <a:rPr 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：</a:t>
            </a:r>
            <a:r>
              <a:rPr lang="en-US" altLang="zh-TW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G</a:t>
            </a:r>
            <a:r>
              <a:rPr 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 05</a:t>
            </a:r>
          </a:p>
          <a:p>
            <a:pPr>
              <a:lnSpc>
                <a:spcPts val="2999"/>
              </a:lnSpc>
            </a:pPr>
            <a:r>
              <a:rPr 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組員：41141205 </a:t>
            </a:r>
            <a:r>
              <a:rPr lang="zh-TW" alt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楊鈞婷  </a:t>
            </a:r>
            <a:r>
              <a:rPr 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41243158</a:t>
            </a:r>
            <a:r>
              <a:rPr lang="zh-TW" alt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 葉啓源</a:t>
            </a:r>
            <a:endParaRPr lang="en-US" sz="1999" b="1" dirty="0">
              <a:latin typeface="微軟正黑體" panose="020B0604030504040204" pitchFamily="34" charset="-12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>
              <a:lnSpc>
                <a:spcPts val="2999"/>
              </a:lnSpc>
            </a:pPr>
            <a:r>
              <a:rPr lang="zh-TW" alt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            </a:t>
            </a:r>
            <a:r>
              <a:rPr 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41243165 陳紋誼</a:t>
            </a:r>
            <a:r>
              <a:rPr lang="zh-TW" alt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  </a:t>
            </a:r>
            <a:r>
              <a:rPr 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41243170 </a:t>
            </a:r>
            <a:r>
              <a:rPr lang="zh-TW" altLang="en-US" sz="1999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陳冠瑜</a:t>
            </a:r>
            <a:endParaRPr lang="en-US" sz="1999" b="1" dirty="0">
              <a:latin typeface="微軟正黑體" panose="020B0604030504040204" pitchFamily="34" charset="-12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3377905"/>
            <a:ext cx="10820400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33"/>
              </a:lnSpc>
              <a:spcBef>
                <a:spcPct val="0"/>
              </a:spcBef>
            </a:pPr>
            <a:r>
              <a:rPr lang="zh-TW" altLang="en-US" sz="2666" spc="605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以系所為</a:t>
            </a:r>
            <a:r>
              <a:rPr lang="zh-TW" altLang="en-US" sz="2666" spc="605" dirty="0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例</a:t>
            </a:r>
            <a:endParaRPr lang="en-US" sz="2666" spc="605" dirty="0">
              <a:latin typeface="微軟正黑體" panose="020B0604030504040204" pitchFamily="34" charset="-12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309229" y="292474"/>
            <a:ext cx="3573542" cy="328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zh-TW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資料庫系統  期末專題 </a:t>
            </a:r>
            <a:r>
              <a:rPr lang="en-US" altLang="zh-TW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Part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">
            <a:extLst>
              <a:ext uri="{FF2B5EF4-FFF2-40B4-BE49-F238E27FC236}">
                <a16:creationId xmlns:a16="http://schemas.microsoft.com/office/drawing/2014/main" id="{5E36AFC7-2FA5-CF05-A8F1-0D45EA8A108E}"/>
              </a:ext>
            </a:extLst>
          </p:cNvPr>
          <p:cNvSpPr/>
          <p:nvPr/>
        </p:nvSpPr>
        <p:spPr>
          <a:xfrm rot="1701013">
            <a:off x="8932976" y="-313979"/>
            <a:ext cx="5579263" cy="7347879"/>
          </a:xfrm>
          <a:custGeom>
            <a:avLst/>
            <a:gdLst/>
            <a:ahLst/>
            <a:cxnLst/>
            <a:rect l="l" t="t" r="r" b="b"/>
            <a:pathLst>
              <a:path w="9386678" h="10557613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621DE42-FC3B-226D-F03F-2DCC161CF4DC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DE11A68-CBC7-C5FF-0BBB-6BD929F5A01F}"/>
              </a:ext>
            </a:extLst>
          </p:cNvPr>
          <p:cNvSpPr/>
          <p:nvPr/>
        </p:nvSpPr>
        <p:spPr>
          <a:xfrm>
            <a:off x="777240" y="54864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大綱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0BF90DF-0D70-A096-4CCE-08E7B0D6C677}"/>
              </a:ext>
            </a:extLst>
          </p:cNvPr>
          <p:cNvSpPr/>
          <p:nvPr/>
        </p:nvSpPr>
        <p:spPr>
          <a:xfrm>
            <a:off x="1454644" y="1805482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0741A6F-4CF4-FBBF-C62A-D792EEE7F067}"/>
              </a:ext>
            </a:extLst>
          </p:cNvPr>
          <p:cNvSpPr/>
          <p:nvPr/>
        </p:nvSpPr>
        <p:spPr>
          <a:xfrm>
            <a:off x="2152017" y="1997506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A275A2B-464E-6769-02FC-FA64FB2EE94F}"/>
              </a:ext>
            </a:extLst>
          </p:cNvPr>
          <p:cNvSpPr/>
          <p:nvPr/>
        </p:nvSpPr>
        <p:spPr>
          <a:xfrm>
            <a:off x="3206935" y="1787194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應用情境</a:t>
            </a:r>
            <a:endParaRPr lang="en-US" sz="28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345E650-AB59-B470-1727-6AC2A6562E25}"/>
              </a:ext>
            </a:extLst>
          </p:cNvPr>
          <p:cNvSpPr/>
          <p:nvPr/>
        </p:nvSpPr>
        <p:spPr>
          <a:xfrm>
            <a:off x="6315895" y="1842058"/>
            <a:ext cx="2926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 Scenario</a:t>
            </a:r>
            <a:endParaRPr lang="en-US" sz="16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904ED6FA-2BEB-A41D-143D-FE201D52CDA8}"/>
              </a:ext>
            </a:extLst>
          </p:cNvPr>
          <p:cNvSpPr/>
          <p:nvPr/>
        </p:nvSpPr>
        <p:spPr>
          <a:xfrm>
            <a:off x="1454644" y="2591866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E0791919-522F-1BAD-47A9-66CA93DA0F56}"/>
              </a:ext>
            </a:extLst>
          </p:cNvPr>
          <p:cNvSpPr/>
          <p:nvPr/>
        </p:nvSpPr>
        <p:spPr>
          <a:xfrm>
            <a:off x="2152017" y="2783890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1342E431-A53D-289D-7B08-0A12207B0863}"/>
              </a:ext>
            </a:extLst>
          </p:cNvPr>
          <p:cNvSpPr/>
          <p:nvPr/>
        </p:nvSpPr>
        <p:spPr>
          <a:xfrm>
            <a:off x="3206935" y="2601571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使用案例</a:t>
            </a:r>
            <a:endParaRPr lang="en-US" sz="28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5CB1338F-5413-545B-BA55-D3C11BA7A2EA}"/>
              </a:ext>
            </a:extLst>
          </p:cNvPr>
          <p:cNvSpPr/>
          <p:nvPr/>
        </p:nvSpPr>
        <p:spPr>
          <a:xfrm>
            <a:off x="6315895" y="2656435"/>
            <a:ext cx="2926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0B967B68-5802-90D5-ABAF-A8FC94AE6F47}"/>
              </a:ext>
            </a:extLst>
          </p:cNvPr>
          <p:cNvSpPr/>
          <p:nvPr/>
        </p:nvSpPr>
        <p:spPr>
          <a:xfrm>
            <a:off x="1454644" y="3378250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978276A3-001E-C916-1B95-CFF14C48BDF1}"/>
              </a:ext>
            </a:extLst>
          </p:cNvPr>
          <p:cNvSpPr/>
          <p:nvPr/>
        </p:nvSpPr>
        <p:spPr>
          <a:xfrm>
            <a:off x="2152017" y="3570274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5969058-9C29-CCC0-134F-70D1E18BA767}"/>
              </a:ext>
            </a:extLst>
          </p:cNvPr>
          <p:cNvSpPr/>
          <p:nvPr/>
        </p:nvSpPr>
        <p:spPr>
          <a:xfrm>
            <a:off x="3206935" y="3387955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系統需求說明</a:t>
            </a:r>
            <a:endParaRPr lang="en-US" sz="28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EC3CABB3-09C3-A81A-2B12-C48E6123A179}"/>
              </a:ext>
            </a:extLst>
          </p:cNvPr>
          <p:cNvSpPr/>
          <p:nvPr/>
        </p:nvSpPr>
        <p:spPr>
          <a:xfrm>
            <a:off x="6315895" y="3442819"/>
            <a:ext cx="2926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Requirements</a:t>
            </a:r>
            <a:endParaRPr lang="en-US" sz="16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1241FAE-4DAD-4047-2035-BDDC1CC4C3B7}"/>
              </a:ext>
            </a:extLst>
          </p:cNvPr>
          <p:cNvSpPr/>
          <p:nvPr/>
        </p:nvSpPr>
        <p:spPr>
          <a:xfrm>
            <a:off x="1454644" y="4164634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38C53A42-50F0-2279-D08F-C36F3376B7D9}"/>
              </a:ext>
            </a:extLst>
          </p:cNvPr>
          <p:cNvSpPr/>
          <p:nvPr/>
        </p:nvSpPr>
        <p:spPr>
          <a:xfrm>
            <a:off x="2152017" y="4356658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809E252-B88D-A26A-2500-11F5F538DFAA}"/>
              </a:ext>
            </a:extLst>
          </p:cNvPr>
          <p:cNvSpPr/>
          <p:nvPr/>
        </p:nvSpPr>
        <p:spPr>
          <a:xfrm>
            <a:off x="3206935" y="4174339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完整性限制</a:t>
            </a:r>
            <a:endParaRPr lang="en-US" sz="280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F488579C-4D92-CE56-A3E9-6F78E90CD32F}"/>
              </a:ext>
            </a:extLst>
          </p:cNvPr>
          <p:cNvSpPr/>
          <p:nvPr/>
        </p:nvSpPr>
        <p:spPr>
          <a:xfrm>
            <a:off x="6315895" y="4229203"/>
            <a:ext cx="2926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Integrity Constraints</a:t>
            </a:r>
            <a:endParaRPr lang="en-US" sz="16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DD2EC9F-AAE8-D392-72F4-71DCF42149E1}"/>
              </a:ext>
            </a:extLst>
          </p:cNvPr>
          <p:cNvSpPr/>
          <p:nvPr/>
        </p:nvSpPr>
        <p:spPr>
          <a:xfrm>
            <a:off x="1454644" y="4951018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43B3B2AA-B5EC-63C0-D1CC-720C82A99979}"/>
              </a:ext>
            </a:extLst>
          </p:cNvPr>
          <p:cNvSpPr/>
          <p:nvPr/>
        </p:nvSpPr>
        <p:spPr>
          <a:xfrm>
            <a:off x="2152017" y="5143042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1FADDED4-0A30-021A-6ADC-8FF51BD253E4}"/>
              </a:ext>
            </a:extLst>
          </p:cNvPr>
          <p:cNvSpPr/>
          <p:nvPr/>
        </p:nvSpPr>
        <p:spPr>
          <a:xfrm>
            <a:off x="3206935" y="4960723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Diagram</a:t>
            </a:r>
            <a:endParaRPr lang="en-US" sz="2800" dirty="0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29B25CF4-D1F7-91F5-66ED-9F06ED7A29E0}"/>
              </a:ext>
            </a:extLst>
          </p:cNvPr>
          <p:cNvSpPr/>
          <p:nvPr/>
        </p:nvSpPr>
        <p:spPr>
          <a:xfrm>
            <a:off x="6315895" y="5015587"/>
            <a:ext cx="2926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Entity-Relationship Diagram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1332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應用情境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68580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500">
                <a:latin typeface="微軟正黑體" panose="020B0604030504040204" pitchFamily="34" charset="-120"/>
                <a:ea typeface="微軟正黑體" panose="020B0604030504040204" pitchFamily="34" charset="-120"/>
              </a:rPr>
              <a:t>系所物品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依管理方式分成三類：</a:t>
            </a:r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3154680" cy="2743200"/>
          </a:xfrm>
          <a:prstGeom prst="roundRect">
            <a:avLst>
              <a:gd name="adj" fmla="val 2000"/>
            </a:avLst>
          </a:prstGeom>
          <a:solidFill>
            <a:srgbClr val="EEDAD6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22C19A9B-B41B-61DE-C812-8ED5A1C7FE77}"/>
              </a:ext>
            </a:extLst>
          </p:cNvPr>
          <p:cNvGrpSpPr/>
          <p:nvPr/>
        </p:nvGrpSpPr>
        <p:grpSpPr>
          <a:xfrm>
            <a:off x="1107708" y="2620465"/>
            <a:ext cx="523037" cy="362102"/>
            <a:chOff x="1005840" y="2620465"/>
            <a:chExt cx="523037" cy="362102"/>
          </a:xfrm>
        </p:grpSpPr>
        <p:sp>
          <p:nvSpPr>
            <p:cNvPr id="11" name="Shape 9"/>
            <p:cNvSpPr/>
            <p:nvPr/>
          </p:nvSpPr>
          <p:spPr>
            <a:xfrm>
              <a:off x="1005840" y="2620465"/>
              <a:ext cx="523037" cy="362102"/>
            </a:xfrm>
            <a:prstGeom prst="chevron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1369227" y="2763851"/>
              <a:ext cx="52304" cy="52304"/>
            </a:xfrm>
            <a:prstGeom prst="ellipse">
              <a:avLst/>
            </a:prstGeom>
            <a:solidFill>
              <a:srgbClr val="F6F1E8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 11"/>
          <p:cNvSpPr/>
          <p:nvPr/>
        </p:nvSpPr>
        <p:spPr>
          <a:xfrm>
            <a:off x="1528877" y="2654559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財產設備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51560" y="345410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貼有財產標籤列管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3787856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伺服器、</a:t>
            </a: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高階儀器、投影機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80560" y="2148840"/>
            <a:ext cx="3154680" cy="2743200"/>
          </a:xfrm>
          <a:prstGeom prst="roundRect">
            <a:avLst>
              <a:gd name="adj" fmla="val 2000"/>
            </a:avLst>
          </a:prstGeom>
          <a:solidFill>
            <a:srgbClr val="DCE7EF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226939" y="2654559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非列管設備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754880" y="345410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可重複使用但無財產標籤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77740" y="3787856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簡報筆、轉接頭、開發版、</a:t>
            </a:r>
            <a:endParaRPr lang="en-US" altLang="zh-TW" sz="145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系辦推車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154680" cy="2743200"/>
          </a:xfrm>
          <a:prstGeom prst="roundRect">
            <a:avLst>
              <a:gd name="adj" fmla="val 2000"/>
            </a:avLst>
          </a:prstGeom>
          <a:solidFill>
            <a:srgbClr val="DDE7D8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3" name="Shape 21"/>
          <p:cNvSpPr/>
          <p:nvPr/>
        </p:nvSpPr>
        <p:spPr>
          <a:xfrm>
            <a:off x="8474202" y="2568718"/>
            <a:ext cx="402336" cy="44257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8938260" y="2655087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日常耗材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458199" y="3787856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白板筆、影印紙、</a:t>
            </a:r>
            <a:endParaRPr lang="en-US" altLang="zh-TW" sz="145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教學用電子零件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" y="5532120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共同核心：以</a:t>
            </a: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zh-TW" altLang="en-US" sz="18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內部設備編號</a:t>
            </a: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en-US" sz="1800" b="1" dirty="0" err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作為追蹤、借用、領用與維修管理的主要識別依據</a:t>
            </a: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335055D6-45F7-13D1-5574-185219CDA9CF}"/>
              </a:ext>
            </a:extLst>
          </p:cNvPr>
          <p:cNvGrpSpPr/>
          <p:nvPr/>
        </p:nvGrpSpPr>
        <p:grpSpPr>
          <a:xfrm>
            <a:off x="4735659" y="2655736"/>
            <a:ext cx="402336" cy="281635"/>
            <a:chOff x="4709160" y="2487168"/>
            <a:chExt cx="402336" cy="28163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7" name="Shape 15"/>
            <p:cNvSpPr/>
            <p:nvPr/>
          </p:nvSpPr>
          <p:spPr>
            <a:xfrm>
              <a:off x="4709160" y="2487168"/>
              <a:ext cx="402336" cy="281635"/>
            </a:xfrm>
            <a:prstGeom prst="rect">
              <a:avLst/>
            </a:prstGeom>
            <a:grp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4709160" y="2583729"/>
              <a:ext cx="402336" cy="0"/>
            </a:xfrm>
            <a:prstGeom prst="line">
              <a:avLst/>
            </a:prstGeom>
            <a:grpFill/>
            <a:ln w="1397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Shape 16">
              <a:extLst>
                <a:ext uri="{FF2B5EF4-FFF2-40B4-BE49-F238E27FC236}">
                  <a16:creationId xmlns:a16="http://schemas.microsoft.com/office/drawing/2014/main" id="{C1D3779F-58F5-F7E9-3E88-106F0CD64F23}"/>
                </a:ext>
              </a:extLst>
            </p:cNvPr>
            <p:cNvSpPr/>
            <p:nvPr/>
          </p:nvSpPr>
          <p:spPr>
            <a:xfrm>
              <a:off x="4709160" y="2670887"/>
              <a:ext cx="402336" cy="0"/>
            </a:xfrm>
            <a:prstGeom prst="line">
              <a:avLst/>
            </a:prstGeom>
            <a:grpFill/>
            <a:ln w="1397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0F7594-FC74-2CC9-E494-52435D8ABA3C}"/>
              </a:ext>
            </a:extLst>
          </p:cNvPr>
          <p:cNvSpPr txBox="1"/>
          <p:nvPr/>
        </p:nvSpPr>
        <p:spPr>
          <a:xfrm>
            <a:off x="8255725" y="3433913"/>
            <a:ext cx="301098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單價較低、會被消耗的耗材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9358-9FB8-CD85-6342-5E3AF0D4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01D198E-094F-1226-9554-A817D8D97DAB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7A192D-278B-13F7-4008-CC44085D846B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痛點與解決方案</a:t>
            </a:r>
            <a:endParaRPr lang="en-US" sz="4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70DA4C0-A7EC-4B18-A743-EC26097113BE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57D1689F-9CB8-6B90-01F3-683682969140}"/>
              </a:ext>
            </a:extLst>
          </p:cNvPr>
          <p:cNvSpPr/>
          <p:nvPr/>
        </p:nvSpPr>
        <p:spPr>
          <a:xfrm>
            <a:off x="731520" y="1600200"/>
            <a:ext cx="5120640" cy="1801368"/>
          </a:xfrm>
          <a:prstGeom prst="roundRect">
            <a:avLst>
              <a:gd name="adj" fmla="val 6400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F9C729EB-7439-61DB-6232-689A04BA697D}"/>
              </a:ext>
            </a:extLst>
          </p:cNvPr>
          <p:cNvSpPr/>
          <p:nvPr/>
        </p:nvSpPr>
        <p:spPr>
          <a:xfrm>
            <a:off x="932688" y="1858844"/>
            <a:ext cx="4773168" cy="43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資產流向不明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與跨空間調度困難</a:t>
            </a:r>
            <a:endParaRPr lang="en-US" sz="20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BB049351-2C15-E7AF-5FE2-7F498668B214}"/>
              </a:ext>
            </a:extLst>
          </p:cNvPr>
          <p:cNvSpPr/>
          <p:nvPr/>
        </p:nvSpPr>
        <p:spPr>
          <a:xfrm>
            <a:off x="932688" y="2344594"/>
            <a:ext cx="4773168" cy="8619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僅靠紙本或人工記憶管理，</a:t>
            </a:r>
            <a:r>
              <a:rPr lang="zh-TW" altLang="en-US" sz="12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教職員離職、學生畢業或設備在不同教室間借用而導致流向不明</a:t>
            </a:r>
            <a:r>
              <a:rPr lang="en-US" sz="12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TW" altLang="en-US" sz="12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當設備損壞時，缺乏跨空間「使用歷程追蹤」，無法追溯上一個借用者</a:t>
            </a:r>
            <a:endParaRPr lang="en-US" sz="12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A0B764F1-5506-F05D-E80E-DBCF4EFFC781}"/>
              </a:ext>
            </a:extLst>
          </p:cNvPr>
          <p:cNvSpPr/>
          <p:nvPr/>
        </p:nvSpPr>
        <p:spPr>
          <a:xfrm>
            <a:off x="731520" y="3760423"/>
            <a:ext cx="5120640" cy="1801368"/>
          </a:xfrm>
          <a:prstGeom prst="roundRect">
            <a:avLst>
              <a:gd name="adj" fmla="val 6400"/>
            </a:avLst>
          </a:prstGeom>
          <a:solidFill>
            <a:srgbClr val="DCE7EF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ABF6BD2-F2FD-78B0-9582-519E644C41E8}"/>
              </a:ext>
            </a:extLst>
          </p:cNvPr>
          <p:cNvSpPr/>
          <p:nvPr/>
        </p:nvSpPr>
        <p:spPr>
          <a:xfrm>
            <a:off x="932688" y="4019067"/>
            <a:ext cx="4773168" cy="43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耗材領用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成行政瓶頸</a:t>
            </a:r>
            <a:endParaRPr lang="en-US" sz="20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80D6A89E-A33B-B978-609D-1633B8C31567}"/>
              </a:ext>
            </a:extLst>
          </p:cNvPr>
          <p:cNvSpPr/>
          <p:nvPr/>
        </p:nvSpPr>
        <p:spPr>
          <a:xfrm>
            <a:off x="932688" y="4504817"/>
            <a:ext cx="4773168" cy="8619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系上耗材的領用極度依賴系助教或行政人員人工登記。全系師生頻繁的領用需求嚴重消耗行政時間，且常發生「先拿了再說、事後忘記補登記」的狀況，導致系辦系統帳面庫存與實際數量嚴重脫節，影響採購編列。</a:t>
            </a:r>
            <a:endParaRPr lang="en-US" sz="12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C3200130-F6ED-F43F-F5C8-181749DE462F}"/>
              </a:ext>
            </a:extLst>
          </p:cNvPr>
          <p:cNvSpPr/>
          <p:nvPr/>
        </p:nvSpPr>
        <p:spPr>
          <a:xfrm>
            <a:off x="6172200" y="1920239"/>
            <a:ext cx="0" cy="3641551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DB716B44-D55A-0BE1-595C-9A31756D0718}"/>
              </a:ext>
            </a:extLst>
          </p:cNvPr>
          <p:cNvSpPr/>
          <p:nvPr/>
        </p:nvSpPr>
        <p:spPr>
          <a:xfrm>
            <a:off x="662940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</a:t>
            </a:r>
            <a:endParaRPr lang="en-US" sz="28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10903047-C1E7-DA2A-9695-B82432019A59}"/>
              </a:ext>
            </a:extLst>
          </p:cNvPr>
          <p:cNvSpPr/>
          <p:nvPr/>
        </p:nvSpPr>
        <p:spPr>
          <a:xfrm>
            <a:off x="6629399" y="2121408"/>
            <a:ext cx="4809931" cy="2420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針對具名資產與共同設備：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建立完整的「使用歷程追蹤（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Audit Trail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）」機制，精準記錄每次在全系不同空間的借還時間與經手人員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借用歷程記錄：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系管人員可一鍵查詢該設備的歷史流向，釐清責任歸屬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578FE726-F6FD-61E5-F905-C968ADC6C919}"/>
              </a:ext>
            </a:extLst>
          </p:cNvPr>
          <p:cNvSpPr/>
          <p:nvPr/>
        </p:nvSpPr>
        <p:spPr>
          <a:xfrm>
            <a:off x="6629400" y="4883920"/>
            <a:ext cx="4629908" cy="84815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目標：降低行政負擔，提升資料即時性與管理透明度。</a:t>
            </a:r>
            <a:endParaRPr lang="en-US" sz="18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38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442BF-345D-5548-6639-BE8DD1C93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2738124-5355-2EC5-2387-5B535091A856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0BE8B5-3528-6D6D-AA57-760A3E2A5F8E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使用案例角色</a:t>
            </a:r>
            <a:endParaRPr lang="en-US" sz="4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E34CACC-7D3F-D0CC-DAD3-78DA39806F25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E1BF86FB-A8E1-B29B-0906-195BD1CC3F7F}"/>
              </a:ext>
            </a:extLst>
          </p:cNvPr>
          <p:cNvSpPr/>
          <p:nvPr/>
        </p:nvSpPr>
        <p:spPr>
          <a:xfrm>
            <a:off x="1176590" y="1554480"/>
            <a:ext cx="56692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B762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500" dirty="0">
              <a:solidFill>
                <a:srgbClr val="B7625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BA093AD2-C47C-270D-A1FD-3D397AAC6218}"/>
              </a:ext>
            </a:extLst>
          </p:cNvPr>
          <p:cNvSpPr/>
          <p:nvPr/>
        </p:nvSpPr>
        <p:spPr>
          <a:xfrm>
            <a:off x="2058336" y="1783080"/>
            <a:ext cx="1005840" cy="0"/>
          </a:xfrm>
          <a:prstGeom prst="line">
            <a:avLst/>
          </a:prstGeom>
          <a:noFill/>
          <a:ln w="20320">
            <a:solidFill>
              <a:srgbClr val="8B1617"/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B76251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625F547-7AE9-B57D-7A47-9AC885F17D2E}"/>
              </a:ext>
            </a:extLst>
          </p:cNvPr>
          <p:cNvSpPr/>
          <p:nvPr/>
        </p:nvSpPr>
        <p:spPr>
          <a:xfrm>
            <a:off x="3424341" y="1527048"/>
            <a:ext cx="3017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系所</a:t>
            </a:r>
            <a:r>
              <a:rPr 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2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AF53A357-1943-5349-2812-52C1F41BE83E}"/>
              </a:ext>
            </a:extLst>
          </p:cNvPr>
          <p:cNvSpPr/>
          <p:nvPr/>
        </p:nvSpPr>
        <p:spPr>
          <a:xfrm>
            <a:off x="5306629" y="1621941"/>
            <a:ext cx="3017519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altLang="zh-TW" sz="140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Department Administrator / </a:t>
            </a:r>
            <a:r>
              <a:rPr lang="zh-TW" altLang="en-US" sz="140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系助教</a:t>
            </a:r>
            <a:endParaRPr lang="en-US" sz="1400" dirty="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4AEBB3B-5BF1-407D-AAA4-F2BB5BA30FA4}"/>
              </a:ext>
            </a:extLst>
          </p:cNvPr>
          <p:cNvSpPr/>
          <p:nvPr/>
        </p:nvSpPr>
        <p:spPr>
          <a:xfrm>
            <a:off x="3424341" y="1984248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資產基本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資料、耗材庫存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停用與報廢狀態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6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FA0A0456-2B5C-C25A-5F32-EB7B0B45873D}"/>
              </a:ext>
            </a:extLst>
          </p:cNvPr>
          <p:cNvSpPr/>
          <p:nvPr/>
        </p:nvSpPr>
        <p:spPr>
          <a:xfrm>
            <a:off x="1176590" y="2971800"/>
            <a:ext cx="56692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5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E1980C2-0AA9-0DF3-E43F-A397F30E1B3E}"/>
              </a:ext>
            </a:extLst>
          </p:cNvPr>
          <p:cNvSpPr/>
          <p:nvPr/>
        </p:nvSpPr>
        <p:spPr>
          <a:xfrm>
            <a:off x="2058336" y="3200400"/>
            <a:ext cx="1005840" cy="0"/>
          </a:xfrm>
          <a:prstGeom prst="line">
            <a:avLst/>
          </a:prstGeom>
          <a:noFill/>
          <a:ln w="203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331299A-5CA0-BF7F-E0FA-8D386EBFC12B}"/>
              </a:ext>
            </a:extLst>
          </p:cNvPr>
          <p:cNvSpPr/>
          <p:nvPr/>
        </p:nvSpPr>
        <p:spPr>
          <a:xfrm>
            <a:off x="3424341" y="2944368"/>
            <a:ext cx="3017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全系師生</a:t>
            </a:r>
            <a:endParaRPr lang="en-US" sz="22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E77A0D2-8F98-3939-1B9D-8C1A5619EFC8}"/>
              </a:ext>
            </a:extLst>
          </p:cNvPr>
          <p:cNvSpPr/>
          <p:nvPr/>
        </p:nvSpPr>
        <p:spPr>
          <a:xfrm>
            <a:off x="5344581" y="3032252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altLang="zh-TW" sz="140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Faculty and Students</a:t>
            </a:r>
            <a:endParaRPr lang="en-US" sz="1400" dirty="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D305120-397A-6C0A-4D02-98E9230447D8}"/>
              </a:ext>
            </a:extLst>
          </p:cNvPr>
          <p:cNvSpPr/>
          <p:nvPr/>
        </p:nvSpPr>
        <p:spPr>
          <a:xfrm>
            <a:off x="3424341" y="3401568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設備借用與歸還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故障異常報修</a:t>
            </a:r>
            <a:endParaRPr lang="en-US" sz="165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3E0CD2D8-87F0-570F-A957-A39E7939F991}"/>
              </a:ext>
            </a:extLst>
          </p:cNvPr>
          <p:cNvSpPr/>
          <p:nvPr/>
        </p:nvSpPr>
        <p:spPr>
          <a:xfrm>
            <a:off x="1176590" y="4389120"/>
            <a:ext cx="56692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chemeClr val="accent6">
                    <a:lumMod val="7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ACCC674-356B-07DA-034F-20950E02415E}"/>
              </a:ext>
            </a:extLst>
          </p:cNvPr>
          <p:cNvSpPr/>
          <p:nvPr/>
        </p:nvSpPr>
        <p:spPr>
          <a:xfrm>
            <a:off x="2058336" y="4617720"/>
            <a:ext cx="1005840" cy="0"/>
          </a:xfrm>
          <a:prstGeom prst="line">
            <a:avLst/>
          </a:prstGeom>
          <a:noFill/>
          <a:ln w="2032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9D3C46F3-9A78-ACBF-898D-55D947C936F7}"/>
              </a:ext>
            </a:extLst>
          </p:cNvPr>
          <p:cNvSpPr/>
          <p:nvPr/>
        </p:nvSpPr>
        <p:spPr>
          <a:xfrm>
            <a:off x="3424341" y="4361688"/>
            <a:ext cx="3017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空間</a:t>
            </a:r>
            <a:r>
              <a:rPr lang="en-US" altLang="zh-TW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設備負責人</a:t>
            </a:r>
            <a:endParaRPr lang="en-US" sz="22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60C3FC98-11FA-8841-A836-DE14861FEC89}"/>
              </a:ext>
            </a:extLst>
          </p:cNvPr>
          <p:cNvSpPr/>
          <p:nvPr/>
        </p:nvSpPr>
        <p:spPr>
          <a:xfrm>
            <a:off x="5971123" y="4448388"/>
            <a:ext cx="3017519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altLang="zh-TW" sz="140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Space/Equipment Supervisor</a:t>
            </a:r>
            <a:endParaRPr lang="en-US" sz="1400" dirty="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67591976-9915-C1F0-EA30-7CDE291C2F36}"/>
              </a:ext>
            </a:extLst>
          </p:cNvPr>
          <p:cNvSpPr/>
          <p:nvPr/>
        </p:nvSpPr>
        <p:spPr>
          <a:xfrm>
            <a:off x="3424341" y="4818888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維修結案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與回報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、預防性維護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</a:t>
            </a:r>
            <a:endParaRPr lang="en-US" sz="165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EA34DBB-F500-7C06-8533-40AF7C10DDEA}"/>
              </a:ext>
            </a:extLst>
          </p:cNvPr>
          <p:cNvSpPr/>
          <p:nvPr/>
        </p:nvSpPr>
        <p:spPr>
          <a:xfrm>
            <a:off x="929640" y="5751576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角色設計重點：廠商不作為登入角色，而是維修工單中的外部關聯資料。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35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E0D7-448E-753D-225A-1A61B293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6F495F2A-559A-6738-8646-69F49902C9DD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096B4E-97B1-0853-186A-A38CDECF287F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使用</a:t>
            </a: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案例｜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系助教</a:t>
            </a:r>
            <a:endParaRPr lang="zh-TW" altLang="en-US" sz="4000" b="1" dirty="0">
              <a:solidFill>
                <a:schemeClr val="accent3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65180FF-4992-AEB1-2F4A-5566D041DCAE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C64D8FD9-16EB-B3DC-BD2F-24F3EA84DCE0}"/>
              </a:ext>
            </a:extLst>
          </p:cNvPr>
          <p:cNvSpPr/>
          <p:nvPr/>
        </p:nvSpPr>
        <p:spPr>
          <a:xfrm>
            <a:off x="850017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B76251"/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B76251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71213C75-8E08-9E44-A84E-18D8B1119045}"/>
              </a:ext>
            </a:extLst>
          </p:cNvPr>
          <p:cNvSpPr/>
          <p:nvPr/>
        </p:nvSpPr>
        <p:spPr>
          <a:xfrm>
            <a:off x="1014984" y="1955143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UC1  建立資產基本資訊</a:t>
            </a:r>
            <a:endParaRPr lang="en-US" sz="20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8D676CEE-F85F-C281-EB8D-D525A4783132}"/>
              </a:ext>
            </a:extLst>
          </p:cNvPr>
          <p:cNvSpPr/>
          <p:nvPr/>
        </p:nvSpPr>
        <p:spPr>
          <a:xfrm>
            <a:off x="8500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建立設備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的獨立性系所內部設備編號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  <a:r>
              <a:rPr 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若屬財產設備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，額外登錄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學校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財產編號</a:t>
            </a:r>
            <a:r>
              <a:rPr 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、經費來源、保管人、取得日期、金額與耐用年限。</a:t>
            </a:r>
            <a:endParaRPr lang="en-US" sz="20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5B5AC5E9-125F-47B0-BB19-323BC9811364}"/>
              </a:ext>
            </a:extLst>
          </p:cNvPr>
          <p:cNvSpPr/>
          <p:nvPr/>
        </p:nvSpPr>
        <p:spPr>
          <a:xfrm>
            <a:off x="6336418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89AEC9"/>
          </a:solidFill>
          <a:ln w="12700">
            <a:solidFill>
              <a:srgbClr val="B987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AE9E712C-C833-8C92-BC8D-764C8D046169}"/>
              </a:ext>
            </a:extLst>
          </p:cNvPr>
          <p:cNvSpPr/>
          <p:nvPr/>
        </p:nvSpPr>
        <p:spPr>
          <a:xfrm>
            <a:off x="6501384" y="1942633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UC2  耗材庫存管理</a:t>
            </a:r>
            <a:endParaRPr lang="en-US" sz="20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0CF547AA-9170-1A49-E10E-EEB2206AE5BD}"/>
              </a:ext>
            </a:extLst>
          </p:cNvPr>
          <p:cNvSpPr/>
          <p:nvPr/>
        </p:nvSpPr>
        <p:spPr>
          <a:xfrm>
            <a:off x="63364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建立耗材資料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，記錄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庫存量</a:t>
            </a:r>
            <a:r>
              <a:rPr 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最低庫存量與單位。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師生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領用後扣除庫存；低於最低庫存時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，系統提醒系辦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補貨</a:t>
            </a:r>
            <a:r>
              <a:rPr 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6AE86E3A-9BE0-AFCE-AF82-1531113C4796}"/>
              </a:ext>
            </a:extLst>
          </p:cNvPr>
          <p:cNvSpPr/>
          <p:nvPr/>
        </p:nvSpPr>
        <p:spPr>
          <a:xfrm>
            <a:off x="850016" y="4804423"/>
            <a:ext cx="10122782" cy="37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關鍵規則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447A903C-BA68-C5FE-1DF4-0984FE182B70}"/>
              </a:ext>
            </a:extLst>
          </p:cNvPr>
          <p:cNvSpPr/>
          <p:nvPr/>
        </p:nvSpPr>
        <p:spPr>
          <a:xfrm>
            <a:off x="850016" y="5266755"/>
            <a:ext cx="10757783" cy="7717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系所內部設備編號</a:t>
            </a:r>
            <a:r>
              <a:rPr lang="en-US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不可重複</a:t>
            </a:r>
            <a:r>
              <a:rPr lang="en-US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；財產設備的財產編號不得為空且不可重複；耗材領用數量不可大於目前庫存。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34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22C1-2CDB-83F6-2A2E-E967B3B8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C2C5504-9637-7523-58F1-7E9A31B68B04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17B745-A93A-0595-7101-F124D97EF001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使用</a:t>
            </a: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案例｜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系助教</a:t>
            </a:r>
            <a:endParaRPr lang="zh-TW" altLang="en-US" sz="4000" b="1" dirty="0">
              <a:solidFill>
                <a:schemeClr val="accent3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A3A70EF-C608-199E-68AE-015E3422A002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819772D-3043-11CA-9264-9131340914C6}"/>
              </a:ext>
            </a:extLst>
          </p:cNvPr>
          <p:cNvSpPr/>
          <p:nvPr/>
        </p:nvSpPr>
        <p:spPr>
          <a:xfrm>
            <a:off x="2359714" y="2540400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判斷條件</a:t>
            </a:r>
            <a:endParaRPr lang="en-US" sz="17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40CC276-ED0D-7D45-6FC8-669CF9E4B7C5}"/>
              </a:ext>
            </a:extLst>
          </p:cNvPr>
          <p:cNvSpPr/>
          <p:nvPr/>
        </p:nvSpPr>
        <p:spPr>
          <a:xfrm>
            <a:off x="4279954" y="2540400"/>
            <a:ext cx="5989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超過耐用年限、維修成本過高或不堪使用。</a:t>
            </a:r>
            <a:endParaRPr lang="en-US" sz="165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3955C7B4-988F-97B8-E337-5970717CF2FA}"/>
              </a:ext>
            </a:extLst>
          </p:cNvPr>
          <p:cNvSpPr/>
          <p:nvPr/>
        </p:nvSpPr>
        <p:spPr>
          <a:xfrm>
            <a:off x="2359714" y="3500520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狀態更新</a:t>
            </a:r>
            <a:endParaRPr lang="en-US" sz="17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1ABA69F-09BA-14A2-7FF4-2B76C7B8FA99}"/>
              </a:ext>
            </a:extLst>
          </p:cNvPr>
          <p:cNvSpPr/>
          <p:nvPr/>
        </p:nvSpPr>
        <p:spPr>
          <a:xfrm>
            <a:off x="4279954" y="3500520"/>
            <a:ext cx="5989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管理員可將設備狀態更新為「停用」或「報廢」。</a:t>
            </a:r>
            <a:endParaRPr lang="en-US" sz="165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94A78256-E7E7-4F8B-30E1-5D5563526246}"/>
              </a:ext>
            </a:extLst>
          </p:cNvPr>
          <p:cNvSpPr/>
          <p:nvPr/>
        </p:nvSpPr>
        <p:spPr>
          <a:xfrm>
            <a:off x="2359714" y="4460640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留存紀錄</a:t>
            </a:r>
            <a:endParaRPr lang="en-US" sz="17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D7D35F7-0C45-0657-D462-96211D2181E9}"/>
              </a:ext>
            </a:extLst>
          </p:cNvPr>
          <p:cNvSpPr/>
          <p:nvPr/>
        </p:nvSpPr>
        <p:spPr>
          <a:xfrm>
            <a:off x="4279954" y="4460640"/>
            <a:ext cx="5989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狀態異動紀錄需包含時間、操作者與異動原因。</a:t>
            </a:r>
            <a:endParaRPr lang="en-US" sz="16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DBF8438-5AD9-E12B-38F2-519F623AD84E}"/>
              </a:ext>
            </a:extLst>
          </p:cNvPr>
          <p:cNvSpPr/>
          <p:nvPr/>
        </p:nvSpPr>
        <p:spPr>
          <a:xfrm>
            <a:off x="1650028" y="1684106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9AB78B"/>
          </a:solidFill>
          <a:ln w="12700">
            <a:solidFill>
              <a:srgbClr val="B987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7E22BDF2-78B1-08B8-865C-4BC95E19B036}"/>
              </a:ext>
            </a:extLst>
          </p:cNvPr>
          <p:cNvSpPr/>
          <p:nvPr/>
        </p:nvSpPr>
        <p:spPr>
          <a:xfrm>
            <a:off x="1814994" y="1840113"/>
            <a:ext cx="3715636" cy="260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UC3 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設備停用與報廢狀態更新</a:t>
            </a: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627D87E-1223-4EB6-261C-F64FB5BA7BA6}"/>
              </a:ext>
            </a:extLst>
          </p:cNvPr>
          <p:cNvSpPr/>
          <p:nvPr/>
        </p:nvSpPr>
        <p:spPr>
          <a:xfrm>
            <a:off x="850015" y="5209513"/>
            <a:ext cx="10122782" cy="37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B212FCDF-4E35-DBFB-987B-455F29B68E7C}"/>
              </a:ext>
            </a:extLst>
          </p:cNvPr>
          <p:cNvSpPr/>
          <p:nvPr/>
        </p:nvSpPr>
        <p:spPr>
          <a:xfrm>
            <a:off x="850016" y="5671846"/>
            <a:ext cx="10122782" cy="4612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已報廢物品不得再被借用或建立新的維修工單。</a:t>
            </a:r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EE7B5967-A965-BD64-DD4C-7E6C08CD8C3F}"/>
              </a:ext>
            </a:extLst>
          </p:cNvPr>
          <p:cNvSpPr/>
          <p:nvPr/>
        </p:nvSpPr>
        <p:spPr>
          <a:xfrm>
            <a:off x="1960176" y="2731116"/>
            <a:ext cx="0" cy="1920241"/>
          </a:xfrm>
          <a:prstGeom prst="line">
            <a:avLst/>
          </a:prstGeom>
          <a:noFill/>
          <a:ln w="20320">
            <a:solidFill>
              <a:srgbClr val="DDE7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75E08D3A-F4D2-99ED-A58D-B4DC9D5832B8}"/>
              </a:ext>
            </a:extLst>
          </p:cNvPr>
          <p:cNvSpPr/>
          <p:nvPr/>
        </p:nvSpPr>
        <p:spPr>
          <a:xfrm>
            <a:off x="1890592" y="2607976"/>
            <a:ext cx="139167" cy="1391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0D5A7DF1-B88E-4B21-AD7C-F0581F20B2CE}"/>
              </a:ext>
            </a:extLst>
          </p:cNvPr>
          <p:cNvSpPr/>
          <p:nvPr/>
        </p:nvSpPr>
        <p:spPr>
          <a:xfrm>
            <a:off x="1890590" y="3568096"/>
            <a:ext cx="139167" cy="1391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09F8F1D8-B61D-8A39-3E45-C3D01C98FA69}"/>
              </a:ext>
            </a:extLst>
          </p:cNvPr>
          <p:cNvSpPr/>
          <p:nvPr/>
        </p:nvSpPr>
        <p:spPr>
          <a:xfrm>
            <a:off x="1890592" y="4528216"/>
            <a:ext cx="139167" cy="1391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53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FB7E-82FB-3FE0-4A47-EE9EF1C8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C76E7639-5459-FBDB-B4DC-CC9433B06AAA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447D92-F6AE-7D33-E4B2-3BB583359CD5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使用</a:t>
            </a: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案例｜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全系師生</a:t>
            </a:r>
            <a:endParaRPr lang="zh-TW" altLang="en-US" sz="4000" b="1" dirty="0">
              <a:solidFill>
                <a:schemeClr val="accent3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4D87865-C93C-CC77-4472-DD2897E02F49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0A53F7E2-1DB5-C86A-65A0-4985F1D8EF69}"/>
              </a:ext>
            </a:extLst>
          </p:cNvPr>
          <p:cNvSpPr/>
          <p:nvPr/>
        </p:nvSpPr>
        <p:spPr>
          <a:xfrm>
            <a:off x="850017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B76251"/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B76251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B7D1A676-ABED-3FCC-D044-59F29E80179D}"/>
              </a:ext>
            </a:extLst>
          </p:cNvPr>
          <p:cNvSpPr/>
          <p:nvPr/>
        </p:nvSpPr>
        <p:spPr>
          <a:xfrm>
            <a:off x="1014984" y="1955143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UC4  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設備借用與歸還</a:t>
            </a: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6FC2397E-8EFF-38A6-1648-891A2F929A13}"/>
              </a:ext>
            </a:extLst>
          </p:cNvPr>
          <p:cNvSpPr/>
          <p:nvPr/>
        </p:nvSpPr>
        <p:spPr>
          <a:xfrm>
            <a:off x="8500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師生查詢</a:t>
            </a:r>
            <a:r>
              <a:rPr lang="zh-TW" alt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可借用設備後提出申請，系統記錄借用時間、預計歸還時間、實際歸還時間與借用狀態。</a:t>
            </a: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950B0538-FAA3-590A-C798-3C8ED609A437}"/>
              </a:ext>
            </a:extLst>
          </p:cNvPr>
          <p:cNvSpPr/>
          <p:nvPr/>
        </p:nvSpPr>
        <p:spPr>
          <a:xfrm>
            <a:off x="6336418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89AEC9"/>
          </a:solidFill>
          <a:ln w="12700">
            <a:solidFill>
              <a:srgbClr val="B987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DF69A7F3-A45F-B0FD-3C9B-D7C27D806FC6}"/>
              </a:ext>
            </a:extLst>
          </p:cNvPr>
          <p:cNvSpPr/>
          <p:nvPr/>
        </p:nvSpPr>
        <p:spPr>
          <a:xfrm>
            <a:off x="6501384" y="1942633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UC5  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故障異常報修</a:t>
            </a: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D9A600A5-D96F-4A06-37D1-26C4B5B0F9F5}"/>
              </a:ext>
            </a:extLst>
          </p:cNvPr>
          <p:cNvSpPr/>
          <p:nvPr/>
        </p:nvSpPr>
        <p:spPr>
          <a:xfrm>
            <a:off x="63364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師生於教室或實驗室發現設備異常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建立維修工單並描述故障現象，讓設備負責人或管理員追蹤處理。</a:t>
            </a: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EBA7C8CE-29F5-A021-4A3A-C3677D98A85A}"/>
              </a:ext>
            </a:extLst>
          </p:cNvPr>
          <p:cNvSpPr/>
          <p:nvPr/>
        </p:nvSpPr>
        <p:spPr>
          <a:xfrm>
            <a:off x="850016" y="4804423"/>
            <a:ext cx="10122782" cy="37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關鍵規則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21B7692A-3D53-10B3-CE32-0E10116E9C45}"/>
              </a:ext>
            </a:extLst>
          </p:cNvPr>
          <p:cNvSpPr/>
          <p:nvPr/>
        </p:nvSpPr>
        <p:spPr>
          <a:xfrm>
            <a:off x="850017" y="5266755"/>
            <a:ext cx="10122782" cy="7717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耗材不進入借用流程；耗材僅透過「領用紀錄」進行管理。</a:t>
            </a:r>
          </a:p>
        </p:txBody>
      </p:sp>
    </p:spTree>
    <p:extLst>
      <p:ext uri="{BB962C8B-B14F-4D97-AF65-F5344CB8AC3E}">
        <p14:creationId xmlns:p14="http://schemas.microsoft.com/office/powerpoint/2010/main" val="388458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DF8D-72A6-3E59-8389-E583C91C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53CB07C1-A034-4F9F-4A01-1B7AC62EC17C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7654E8-E328-E9CB-65AB-40B3798FFA0C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使用</a:t>
            </a: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案例｜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空間</a:t>
            </a:r>
            <a:r>
              <a:rPr lang="en-US" altLang="zh-TW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設備空間負責人</a:t>
            </a:r>
            <a:endParaRPr lang="zh-TW" altLang="en-US" sz="4000" b="1" dirty="0">
              <a:solidFill>
                <a:schemeClr val="accent3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0A582A3-EDE1-064E-FC61-7BB29A1BFB26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C8A133A5-FDC8-6324-E9D1-AD54E7C6C0AF}"/>
              </a:ext>
            </a:extLst>
          </p:cNvPr>
          <p:cNvSpPr/>
          <p:nvPr/>
        </p:nvSpPr>
        <p:spPr>
          <a:xfrm>
            <a:off x="850017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B76251"/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B76251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CB758FF2-F82A-F092-C156-47148C891D1D}"/>
              </a:ext>
            </a:extLst>
          </p:cNvPr>
          <p:cNvSpPr/>
          <p:nvPr/>
        </p:nvSpPr>
        <p:spPr>
          <a:xfrm>
            <a:off x="1014984" y="1955143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UC6 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維修結案與回報</a:t>
            </a: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0A7A0410-1179-10F7-7746-5413237E7BAD}"/>
              </a:ext>
            </a:extLst>
          </p:cNvPr>
          <p:cNvSpPr/>
          <p:nvPr/>
        </p:nvSpPr>
        <p:spPr>
          <a:xfrm>
            <a:off x="8500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zh-TW" alt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設備完成維護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後，負責人回</a:t>
            </a:r>
            <a:r>
              <a:rPr lang="zh-TW" altLang="en-US" sz="20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填維修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金額、廠商資訊與更換紀錄。</a:t>
            </a:r>
            <a:endParaRPr lang="zh-TW" altLang="en-US" sz="20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87D2788A-4B5C-37C3-8E59-D9E63F2E09ED}"/>
              </a:ext>
            </a:extLst>
          </p:cNvPr>
          <p:cNvSpPr/>
          <p:nvPr/>
        </p:nvSpPr>
        <p:spPr>
          <a:xfrm>
            <a:off x="6336418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89AEC9"/>
          </a:solidFill>
          <a:ln w="12700">
            <a:solidFill>
              <a:srgbClr val="B987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7859E791-3C60-7CD8-1DA4-A78328BBFDAD}"/>
              </a:ext>
            </a:extLst>
          </p:cNvPr>
          <p:cNvSpPr/>
          <p:nvPr/>
        </p:nvSpPr>
        <p:spPr>
          <a:xfrm>
            <a:off x="6501384" y="1942633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UC7 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預防性維護排程</a:t>
            </a: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DAEB6FB4-EB49-4FE8-70F7-09826DC8546C}"/>
              </a:ext>
            </a:extLst>
          </p:cNvPr>
          <p:cNvSpPr/>
          <p:nvPr/>
        </p:nvSpPr>
        <p:spPr>
          <a:xfrm>
            <a:off x="63364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系統依據保養週期自動通知該空間</a:t>
            </a:r>
            <a:r>
              <a:rPr lang="en-US" altLang="zh-TW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設備負責人進行檢修。</a:t>
            </a:r>
            <a:endParaRPr lang="zh-TW" altLang="en-US" sz="20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67CB4927-DDBE-950E-4F83-BB22D853459C}"/>
              </a:ext>
            </a:extLst>
          </p:cNvPr>
          <p:cNvSpPr/>
          <p:nvPr/>
        </p:nvSpPr>
        <p:spPr>
          <a:xfrm>
            <a:off x="850016" y="4804423"/>
            <a:ext cx="10122782" cy="37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關鍵規則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786E4176-D47A-DE34-FD6A-888FE36E2201}"/>
              </a:ext>
            </a:extLst>
          </p:cNvPr>
          <p:cNvSpPr/>
          <p:nvPr/>
        </p:nvSpPr>
        <p:spPr>
          <a:xfrm>
            <a:off x="850017" y="5266755"/>
            <a:ext cx="10122782" cy="7717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設備負責人是維修流程與設備狀態追蹤的關鍵節點。</a:t>
            </a:r>
          </a:p>
        </p:txBody>
      </p:sp>
    </p:spTree>
    <p:extLst>
      <p:ext uri="{BB962C8B-B14F-4D97-AF65-F5344CB8AC3E}">
        <p14:creationId xmlns:p14="http://schemas.microsoft.com/office/powerpoint/2010/main" val="479798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9C16-09B4-2DEB-6FB1-5A575699D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8">
            <a:extLst>
              <a:ext uri="{FF2B5EF4-FFF2-40B4-BE49-F238E27FC236}">
                <a16:creationId xmlns:a16="http://schemas.microsoft.com/office/drawing/2014/main" id="{1434922D-D5E5-8135-AF4D-2BD28C27D3E4}"/>
              </a:ext>
            </a:extLst>
          </p:cNvPr>
          <p:cNvSpPr/>
          <p:nvPr/>
        </p:nvSpPr>
        <p:spPr>
          <a:xfrm>
            <a:off x="6452586" y="1710859"/>
            <a:ext cx="3956179" cy="2834267"/>
          </a:xfrm>
          <a:prstGeom prst="roundRect">
            <a:avLst>
              <a:gd name="adj" fmla="val 2000"/>
            </a:avLst>
          </a:prstGeom>
          <a:solidFill>
            <a:srgbClr val="B76251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07FA9F-5A29-D17D-E857-23C3A703D0EB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C9E30C-EA00-D70C-A226-592F2C379E21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系統需求說明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8AB8DBE-0D43-2157-2E4A-5D79A01C5B4C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10</a:t>
            </a:r>
            <a:endParaRPr lang="en-US" sz="9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B9BBE486-9F29-7A77-4125-8E8B103654B1}"/>
              </a:ext>
            </a:extLst>
          </p:cNvPr>
          <p:cNvSpPr/>
          <p:nvPr/>
        </p:nvSpPr>
        <p:spPr>
          <a:xfrm>
            <a:off x="929640" y="1780655"/>
            <a:ext cx="5669280" cy="259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需求規劃聚焦在四個問題：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設備流向不明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維修責任難追蹤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耗材庫存不即時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人工管理負擔過重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C5246B3-EA41-6F04-89E4-DAF629422201}"/>
              </a:ext>
            </a:extLst>
          </p:cNvPr>
          <p:cNvSpPr/>
          <p:nvPr/>
        </p:nvSpPr>
        <p:spPr>
          <a:xfrm>
            <a:off x="6653661" y="2295702"/>
            <a:ext cx="3566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三種管理類型</a:t>
            </a:r>
            <a:endParaRPr lang="en-US" sz="2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F5A70-FE69-E832-C23C-A5D1C179DD4C}"/>
              </a:ext>
            </a:extLst>
          </p:cNvPr>
          <p:cNvSpPr/>
          <p:nvPr/>
        </p:nvSpPr>
        <p:spPr>
          <a:xfrm>
            <a:off x="6699381" y="3009307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5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財產設備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5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可重複使用的非列管設備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5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耗材</a:t>
            </a:r>
            <a:endParaRPr lang="en-US" sz="2200" dirty="0"/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24661825-5754-6E28-D052-BBA40AACEA2F}"/>
              </a:ext>
            </a:extLst>
          </p:cNvPr>
          <p:cNvSpPr/>
          <p:nvPr/>
        </p:nvSpPr>
        <p:spPr>
          <a:xfrm>
            <a:off x="929640" y="5751576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zh-TW" altLang="en-US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</a:t>
            </a:r>
            <a:r>
              <a:rPr lang="zh-TW" altLang="en-US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內部設備編號</a:t>
            </a:r>
            <a:r>
              <a:rPr lang="zh-TW" altLang="en-US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作為辨識、查詢與追蹤各類物品的主要依據。</a:t>
            </a:r>
          </a:p>
        </p:txBody>
      </p:sp>
    </p:spTree>
    <p:extLst>
      <p:ext uri="{BB962C8B-B14F-4D97-AF65-F5344CB8AC3E}">
        <p14:creationId xmlns:p14="http://schemas.microsoft.com/office/powerpoint/2010/main" val="3109191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56BF6-306D-E70F-62D4-86F8AD50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F04916C-32AD-CBE8-5DD1-D3B6956971C7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6B743E-9E32-D751-117C-9C5E818C24F3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功能性需求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3F9B0F5-961B-7C8C-5112-40E3F3ECE078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11</a:t>
            </a:r>
            <a:endParaRPr lang="en-US" sz="900" dirty="0"/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ECFFD701-71FC-1241-5A6F-0E5CEE11BFEF}"/>
              </a:ext>
            </a:extLst>
          </p:cNvPr>
          <p:cNvSpPr/>
          <p:nvPr/>
        </p:nvSpPr>
        <p:spPr>
          <a:xfrm>
            <a:off x="929640" y="5751576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對應「登錄 → 使用 → 維護 → 生命週期結束」。</a:t>
            </a: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1C52FCD9-5248-6E96-A10F-0BBD9E6EEDE1}"/>
              </a:ext>
            </a:extLst>
          </p:cNvPr>
          <p:cNvSpPr/>
          <p:nvPr/>
        </p:nvSpPr>
        <p:spPr>
          <a:xfrm>
            <a:off x="777240" y="1667384"/>
            <a:ext cx="5074920" cy="871856"/>
          </a:xfrm>
          <a:prstGeom prst="roundRect">
            <a:avLst>
              <a:gd name="adj" fmla="val 5161"/>
            </a:avLst>
          </a:prstGeom>
          <a:solidFill>
            <a:srgbClr val="EEDAD6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2C8F91AD-E0D0-B52C-69E8-B3B10E89E931}"/>
              </a:ext>
            </a:extLst>
          </p:cNvPr>
          <p:cNvSpPr/>
          <p:nvPr/>
        </p:nvSpPr>
        <p:spPr>
          <a:xfrm>
            <a:off x="1005840" y="1831976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20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A.</a:t>
            </a:r>
            <a:r>
              <a:rPr lang="en-US" sz="20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物品</a:t>
            </a:r>
            <a:r>
              <a:rPr lang="zh-TW" altLang="en-US" sz="2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分類與內部識別資訊管理</a:t>
            </a:r>
            <a:endParaRPr lang="en-US" sz="20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3C510944-243F-88EA-E8D7-B51714BD608C}"/>
              </a:ext>
            </a:extLst>
          </p:cNvPr>
          <p:cNvSpPr/>
          <p:nvPr/>
        </p:nvSpPr>
        <p:spPr>
          <a:xfrm>
            <a:off x="1005840" y="2234312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sz="11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物品分類管理、系所內部設備資訊建立、基本資料管理、規格與多實體管理</a:t>
            </a:r>
            <a:endParaRPr lang="en-US" sz="110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EE7EFC86-C758-2A49-DBA3-EE32ADCA67B5}"/>
              </a:ext>
            </a:extLst>
          </p:cNvPr>
          <p:cNvSpPr/>
          <p:nvPr/>
        </p:nvSpPr>
        <p:spPr>
          <a:xfrm>
            <a:off x="6355080" y="1667384"/>
            <a:ext cx="5074920" cy="871200"/>
          </a:xfrm>
          <a:prstGeom prst="roundRect">
            <a:avLst>
              <a:gd name="adj" fmla="val 5161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0FF14A0A-7B80-1C7F-E371-9ED6D7C9D2C5}"/>
              </a:ext>
            </a:extLst>
          </p:cNvPr>
          <p:cNvSpPr/>
          <p:nvPr/>
        </p:nvSpPr>
        <p:spPr>
          <a:xfrm>
            <a:off x="6583680" y="1831976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耗材庫存與自助領用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5DFA05-AD88-29D8-EF6A-7DB3C4EFEF60}"/>
              </a:ext>
            </a:extLst>
          </p:cNvPr>
          <p:cNvSpPr/>
          <p:nvPr/>
        </p:nvSpPr>
        <p:spPr>
          <a:xfrm>
            <a:off x="6583680" y="2234312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1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耗材資料管理、自助領用登記、低庫存預警</a:t>
            </a:r>
            <a:endParaRPr lang="en-US" sz="11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B650032-FD32-B68D-2800-40329982EBB2}"/>
              </a:ext>
            </a:extLst>
          </p:cNvPr>
          <p:cNvSpPr/>
          <p:nvPr/>
        </p:nvSpPr>
        <p:spPr>
          <a:xfrm>
            <a:off x="777240" y="2947483"/>
            <a:ext cx="5074920" cy="871200"/>
          </a:xfrm>
          <a:prstGeom prst="roundRect">
            <a:avLst>
              <a:gd name="adj" fmla="val 516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82A7F71-9A7C-5A7D-FF38-402378A69EC0}"/>
              </a:ext>
            </a:extLst>
          </p:cNvPr>
          <p:cNvSpPr/>
          <p:nvPr/>
        </p:nvSpPr>
        <p:spPr>
          <a:xfrm>
            <a:off x="1005840" y="3112075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財產設備管理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ACD85BD-0E1F-350A-BBFD-A8DE007DD5C5}"/>
              </a:ext>
            </a:extLst>
          </p:cNvPr>
          <p:cNvSpPr/>
          <p:nvPr/>
        </p:nvSpPr>
        <p:spPr>
          <a:xfrm>
            <a:off x="1005840" y="3514411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1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財產標籤資料登錄、保管人與設備負責人區分、報廢評估</a:t>
            </a:r>
            <a:endParaRPr lang="en-US" sz="11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D6C91B8-F4DC-9EA1-0D25-AA45B1D15AA5}"/>
              </a:ext>
            </a:extLst>
          </p:cNvPr>
          <p:cNvSpPr/>
          <p:nvPr/>
        </p:nvSpPr>
        <p:spPr>
          <a:xfrm>
            <a:off x="6355080" y="2944963"/>
            <a:ext cx="5074920" cy="871200"/>
          </a:xfrm>
          <a:prstGeom prst="roundRect">
            <a:avLst>
              <a:gd name="adj" fmla="val 5161"/>
            </a:avLst>
          </a:prstGeom>
          <a:solidFill>
            <a:srgbClr val="DCE7EF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9162E6C-342F-036B-B2F3-D56FD4543EBB}"/>
              </a:ext>
            </a:extLst>
          </p:cNvPr>
          <p:cNvSpPr/>
          <p:nvPr/>
        </p:nvSpPr>
        <p:spPr>
          <a:xfrm>
            <a:off x="6583680" y="3109555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使用歷程與審計追蹤</a:t>
            </a:r>
            <a:endParaRPr lang="en-US" sz="2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6631262-57D1-DBAB-964D-99B8DE373D5A}"/>
              </a:ext>
            </a:extLst>
          </p:cNvPr>
          <p:cNvSpPr/>
          <p:nvPr/>
        </p:nvSpPr>
        <p:spPr>
          <a:xfrm>
            <a:off x="6583680" y="3514411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1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借還與責任溯源、狀態異動紀錄</a:t>
            </a:r>
            <a:endParaRPr lang="en-US" sz="11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91860F3D-9ECF-49E9-BC85-0F92DD80A1C8}"/>
              </a:ext>
            </a:extLst>
          </p:cNvPr>
          <p:cNvSpPr/>
          <p:nvPr/>
        </p:nvSpPr>
        <p:spPr>
          <a:xfrm>
            <a:off x="777240" y="4226926"/>
            <a:ext cx="5074920" cy="871200"/>
          </a:xfrm>
          <a:prstGeom prst="roundRect">
            <a:avLst>
              <a:gd name="adj" fmla="val 5161"/>
            </a:avLst>
          </a:prstGeom>
          <a:solidFill>
            <a:srgbClr val="FBF8F2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43F41664-E689-407C-A2CF-5A1709CF0259}"/>
              </a:ext>
            </a:extLst>
          </p:cNvPr>
          <p:cNvSpPr/>
          <p:nvPr/>
        </p:nvSpPr>
        <p:spPr>
          <a:xfrm>
            <a:off x="1005840" y="4391518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可重複使用的非列管設備管理</a:t>
            </a:r>
            <a:endParaRPr lang="en-US" sz="20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23DAD1DC-65C0-4474-A4CD-4A5911AAE70A}"/>
              </a:ext>
            </a:extLst>
          </p:cNvPr>
          <p:cNvSpPr/>
          <p:nvPr/>
        </p:nvSpPr>
        <p:spPr>
          <a:xfrm>
            <a:off x="1005840" y="4798426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1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無財產標籤設備管理、借用狀態管理</a:t>
            </a:r>
            <a:endParaRPr lang="en-US" sz="11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D1DB6099-77A8-4D62-9738-000D1F285536}"/>
              </a:ext>
            </a:extLst>
          </p:cNvPr>
          <p:cNvSpPr/>
          <p:nvPr/>
        </p:nvSpPr>
        <p:spPr>
          <a:xfrm>
            <a:off x="6355080" y="4230227"/>
            <a:ext cx="5074920" cy="871200"/>
          </a:xfrm>
          <a:prstGeom prst="roundRect">
            <a:avLst>
              <a:gd name="adj" fmla="val 5161"/>
            </a:avLst>
          </a:prstGeom>
          <a:solidFill>
            <a:srgbClr val="E6DDEF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612A53C-3834-4B68-B8CE-B5C16B05D4ED}"/>
              </a:ext>
            </a:extLst>
          </p:cNvPr>
          <p:cNvSpPr/>
          <p:nvPr/>
        </p:nvSpPr>
        <p:spPr>
          <a:xfrm>
            <a:off x="6583680" y="4394819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F.</a:t>
            </a:r>
            <a:r>
              <a:rPr lang="zh-TW" altLang="en-US" sz="2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維修工單與維護管理</a:t>
            </a:r>
            <a:endParaRPr lang="en-US" sz="20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CF3B152C-F96B-4349-99A3-4175B634058A}"/>
              </a:ext>
            </a:extLst>
          </p:cNvPr>
          <p:cNvSpPr/>
          <p:nvPr/>
        </p:nvSpPr>
        <p:spPr>
          <a:xfrm>
            <a:off x="6583680" y="4799675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1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跨空間故障回報、維修與成本統計</a:t>
            </a:r>
            <a:endParaRPr lang="en-US" sz="11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618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4B23-2B99-567E-93C7-1AA6D502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D487D56-6998-0966-96ED-FDFDBC7737D5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FCC7F0-D241-3D45-798D-34BB0F9097EA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非功能性需求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02808CF-659C-0981-BCCC-F054F1C15FA1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12</a:t>
            </a:r>
            <a:endParaRPr lang="en-US" sz="900" dirty="0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A17CB5F4-8537-9953-4835-B40DC2602599}"/>
              </a:ext>
            </a:extLst>
          </p:cNvPr>
          <p:cNvSpPr/>
          <p:nvPr/>
        </p:nvSpPr>
        <p:spPr>
          <a:xfrm>
            <a:off x="1005840" y="1650600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78E9885E-1ACF-FFE1-BDE1-0104C17B65A2}"/>
              </a:ext>
            </a:extLst>
          </p:cNvPr>
          <p:cNvSpPr/>
          <p:nvPr/>
        </p:nvSpPr>
        <p:spPr>
          <a:xfrm>
            <a:off x="1234440" y="1966068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DDA9D7F-7E9F-D271-16A7-8D2C5D6F11A0}"/>
              </a:ext>
            </a:extLst>
          </p:cNvPr>
          <p:cNvSpPr/>
          <p:nvPr/>
        </p:nvSpPr>
        <p:spPr>
          <a:xfrm>
            <a:off x="1837267" y="1961496"/>
            <a:ext cx="2414693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一致性與完整性</a:t>
            </a:r>
            <a:endParaRPr lang="en-US" sz="20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5AAA6AA-265A-69CB-B5B2-3AD47C97CF44}"/>
              </a:ext>
            </a:extLst>
          </p:cNvPr>
          <p:cNvSpPr/>
          <p:nvPr/>
        </p:nvSpPr>
        <p:spPr>
          <a:xfrm>
            <a:off x="4351867" y="1790429"/>
            <a:ext cx="6217920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系所內部設備編號不可為空且不可重複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庫存不可</a:t>
            </a:r>
            <a:r>
              <a:rPr lang="en-US" altLang="zh-TW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&lt;0</a:t>
            </a: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，領用量不可</a:t>
            </a:r>
            <a:r>
              <a:rPr lang="en-US" altLang="zh-TW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&gt;</a:t>
            </a: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庫存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維修結案與歸還日期的時序邏輯必須正確</a:t>
            </a:r>
            <a:endParaRPr lang="en-US" sz="14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2A1FD78-A3EC-869F-C720-3F3C9A1CDF63}"/>
              </a:ext>
            </a:extLst>
          </p:cNvPr>
          <p:cNvSpPr/>
          <p:nvPr/>
        </p:nvSpPr>
        <p:spPr>
          <a:xfrm>
            <a:off x="1005840" y="3142596"/>
            <a:ext cx="9966960" cy="950976"/>
          </a:xfrm>
          <a:prstGeom prst="roundRect">
            <a:avLst>
              <a:gd name="adj" fmla="val 673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163745B-81CD-B0C2-E5F9-5F7CDECD8B1D}"/>
              </a:ext>
            </a:extLst>
          </p:cNvPr>
          <p:cNvSpPr/>
          <p:nvPr/>
        </p:nvSpPr>
        <p:spPr>
          <a:xfrm>
            <a:off x="1234440" y="3458064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B9E8B3E-8CA5-D825-DA05-3604EAE2E69F}"/>
              </a:ext>
            </a:extLst>
          </p:cNvPr>
          <p:cNvSpPr/>
          <p:nvPr/>
        </p:nvSpPr>
        <p:spPr>
          <a:xfrm>
            <a:off x="1837267" y="3448920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權限控管</a:t>
            </a:r>
            <a:endParaRPr lang="en-US" sz="20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9B7DBA7-8F5F-8CE7-3DB7-47FACEEBEF22}"/>
              </a:ext>
            </a:extLst>
          </p:cNvPr>
          <p:cNvSpPr/>
          <p:nvPr/>
        </p:nvSpPr>
        <p:spPr>
          <a:xfrm>
            <a:off x="4351867" y="3142596"/>
            <a:ext cx="6217920" cy="95097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全系師生：可查詢、借用、領用、報修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空間</a:t>
            </a:r>
            <a:r>
              <a:rPr lang="en-US" altLang="zh-TW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設備負責人：管理轄下空間設備狀態、處理報修工單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系所管理員：擁有全系最高權限，可進行跨空間盤點、報廢審查、庫存採購　　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　　　　　　　　與帳號權限管理</a:t>
            </a:r>
            <a:endParaRPr lang="en-US" sz="14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C26AC156-41DB-5140-F9C5-091A21CCE110}"/>
              </a:ext>
            </a:extLst>
          </p:cNvPr>
          <p:cNvSpPr/>
          <p:nvPr/>
        </p:nvSpPr>
        <p:spPr>
          <a:xfrm>
            <a:off x="1005840" y="4634592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C8A62AA6-3694-BE9F-B04A-CB01C5D4FE48}"/>
              </a:ext>
            </a:extLst>
          </p:cNvPr>
          <p:cNvSpPr/>
          <p:nvPr/>
        </p:nvSpPr>
        <p:spPr>
          <a:xfrm>
            <a:off x="1234440" y="4945955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26E86872-1612-3429-C2FA-5CCC300B91D8}"/>
              </a:ext>
            </a:extLst>
          </p:cNvPr>
          <p:cNvSpPr/>
          <p:nvPr/>
        </p:nvSpPr>
        <p:spPr>
          <a:xfrm>
            <a:off x="1837267" y="4809154"/>
            <a:ext cx="2286000" cy="59364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2000" b="1">
                <a:latin typeface="Microsoft JhengHei" pitchFamily="34" charset="0"/>
                <a:ea typeface="Microsoft JhengHei" pitchFamily="34" charset="-122"/>
              </a:rPr>
              <a:t>可追溯性／</a:t>
            </a:r>
            <a:endParaRPr lang="en-US" altLang="zh-TW" sz="2000" b="1"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2000" b="1">
                <a:latin typeface="Microsoft JhengHei" pitchFamily="34" charset="0"/>
                <a:ea typeface="Microsoft JhengHei" pitchFamily="34" charset="-122"/>
              </a:rPr>
              <a:t>庫存資料一致性</a:t>
            </a:r>
            <a:endParaRPr lang="en-US" sz="2000" b="1" dirty="0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FCA5BFDF-748B-E18F-764F-88F6BB630224}"/>
              </a:ext>
            </a:extLst>
          </p:cNvPr>
          <p:cNvSpPr/>
          <p:nvPr/>
        </p:nvSpPr>
        <p:spPr>
          <a:xfrm>
            <a:off x="4351867" y="4913950"/>
            <a:ext cx="6217920" cy="48884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確保高並發下（如開學出大量領用耗材）的庫存扣減正確性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歷史紀錄採封存（</a:t>
            </a:r>
            <a:r>
              <a:rPr lang="en-US" altLang="zh-TW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Archived</a:t>
            </a: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）而非物理刪除</a:t>
            </a:r>
            <a:endParaRPr lang="en-US" sz="14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740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1B33B-E117-4402-1D37-54F24EAB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8493261-D935-8E1A-B577-45CFD15BAE66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250740-D6F6-B4F0-D4BF-C7ADFCA0CEA7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完整性限制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EEEF60F-31EC-043C-62AB-CE601B18DDD1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13</a:t>
            </a:r>
            <a:endParaRPr lang="en-US" sz="900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AD56BCAC-60F2-CBDC-D65C-5A5B112C224E}"/>
              </a:ext>
            </a:extLst>
          </p:cNvPr>
          <p:cNvSpPr/>
          <p:nvPr/>
        </p:nvSpPr>
        <p:spPr>
          <a:xfrm>
            <a:off x="984503" y="1685198"/>
            <a:ext cx="9814311" cy="48705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資料庫設計核心：不是只記錄資料，而是確保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資料符合系所管理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語意。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48921C7-7D8E-BD6C-7AE5-F8989112E37B}"/>
              </a:ext>
            </a:extLst>
          </p:cNvPr>
          <p:cNvSpPr/>
          <p:nvPr/>
        </p:nvSpPr>
        <p:spPr>
          <a:xfrm>
            <a:off x="713231" y="3090670"/>
            <a:ext cx="2371345" cy="1887397"/>
          </a:xfrm>
          <a:prstGeom prst="roundRect">
            <a:avLst>
              <a:gd name="adj" fmla="val 4103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D4E93F9-5233-1A31-BDA1-9FE136F1F0DC}"/>
              </a:ext>
            </a:extLst>
          </p:cNvPr>
          <p:cNvSpPr/>
          <p:nvPr/>
        </p:nvSpPr>
        <p:spPr>
          <a:xfrm>
            <a:off x="961643" y="3419855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實體完整性</a:t>
            </a:r>
            <a:endParaRPr lang="en-US" sz="18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33E76AE-AB6F-1CD2-542B-E936CE5CB018}"/>
              </a:ext>
            </a:extLst>
          </p:cNvPr>
          <p:cNvSpPr/>
          <p:nvPr/>
        </p:nvSpPr>
        <p:spPr>
          <a:xfrm>
            <a:off x="984503" y="4041646"/>
            <a:ext cx="1828800" cy="6423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F6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每筆資料要能被唯一識別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73D64CC-7CA0-AC39-7979-27C50114B047}"/>
              </a:ext>
            </a:extLst>
          </p:cNvPr>
          <p:cNvSpPr/>
          <p:nvPr/>
        </p:nvSpPr>
        <p:spPr>
          <a:xfrm>
            <a:off x="3456431" y="3090670"/>
            <a:ext cx="2371345" cy="1887397"/>
          </a:xfrm>
          <a:prstGeom prst="roundRect">
            <a:avLst>
              <a:gd name="adj" fmla="val 4103"/>
            </a:avLst>
          </a:prstGeom>
          <a:solidFill>
            <a:srgbClr val="DCE7EF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B087C6C-EC74-0C2F-4E30-5DF7D4E33696}"/>
              </a:ext>
            </a:extLst>
          </p:cNvPr>
          <p:cNvSpPr/>
          <p:nvPr/>
        </p:nvSpPr>
        <p:spPr>
          <a:xfrm>
            <a:off x="3704843" y="3419855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參照完整性</a:t>
            </a:r>
            <a:endParaRPr lang="en-US" sz="18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467E066-6A51-A426-BDD1-B322094C92CD}"/>
              </a:ext>
            </a:extLst>
          </p:cNvPr>
          <p:cNvSpPr/>
          <p:nvPr/>
        </p:nvSpPr>
        <p:spPr>
          <a:xfrm>
            <a:off x="3704843" y="4043139"/>
            <a:ext cx="18745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F6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紀錄要對應有效資料</a:t>
            </a:r>
            <a:endParaRPr lang="en-US" sz="16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4F0DF7AD-E0C2-8469-5C28-5BD2C9CBCABB}"/>
              </a:ext>
            </a:extLst>
          </p:cNvPr>
          <p:cNvSpPr/>
          <p:nvPr/>
        </p:nvSpPr>
        <p:spPr>
          <a:xfrm>
            <a:off x="6199631" y="3090670"/>
            <a:ext cx="2371345" cy="1887397"/>
          </a:xfrm>
          <a:prstGeom prst="roundRect">
            <a:avLst>
              <a:gd name="adj" fmla="val 4103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91E74FD-665A-2123-5BF9-451834E506BD}"/>
              </a:ext>
            </a:extLst>
          </p:cNvPr>
          <p:cNvSpPr/>
          <p:nvPr/>
        </p:nvSpPr>
        <p:spPr>
          <a:xfrm>
            <a:off x="6448043" y="3419855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值域完整性</a:t>
            </a:r>
            <a:endParaRPr lang="en-US" sz="18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72A6F7C2-2191-971D-A0B9-216AB4EA299A}"/>
              </a:ext>
            </a:extLst>
          </p:cNvPr>
          <p:cNvSpPr/>
          <p:nvPr/>
        </p:nvSpPr>
        <p:spPr>
          <a:xfrm>
            <a:off x="6470903" y="4061427"/>
            <a:ext cx="1828800" cy="6225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F6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數值、狀態、日期要合理</a:t>
            </a:r>
            <a:endParaRPr lang="en-US" sz="16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7EFC7ADA-6B20-5D24-8AEE-0746D94C7E57}"/>
              </a:ext>
            </a:extLst>
          </p:cNvPr>
          <p:cNvSpPr/>
          <p:nvPr/>
        </p:nvSpPr>
        <p:spPr>
          <a:xfrm>
            <a:off x="8942831" y="3090670"/>
            <a:ext cx="2371345" cy="1887397"/>
          </a:xfrm>
          <a:prstGeom prst="roundRect">
            <a:avLst>
              <a:gd name="adj" fmla="val 4103"/>
            </a:avLst>
          </a:prstGeom>
          <a:solidFill>
            <a:srgbClr val="FBF8F2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C9EBCEA2-278F-FA50-E4BD-DE82B4956021}"/>
              </a:ext>
            </a:extLst>
          </p:cNvPr>
          <p:cNvSpPr/>
          <p:nvPr/>
        </p:nvSpPr>
        <p:spPr>
          <a:xfrm>
            <a:off x="9191243" y="3419855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使用者自訂完整性</a:t>
            </a:r>
            <a:endParaRPr lang="en-US" sz="18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42D5E5E-3C30-D222-027F-FC54152A601C}"/>
              </a:ext>
            </a:extLst>
          </p:cNvPr>
          <p:cNvSpPr/>
          <p:nvPr/>
        </p:nvSpPr>
        <p:spPr>
          <a:xfrm>
            <a:off x="9236963" y="4034368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F6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符合本系統情境規則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9075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F0AD-B049-078F-F8D6-485949E1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D683EB1-C98A-2C92-F4BA-AE98B0234ACD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BFE975-8A6D-2FC5-CEF1-38CC1383107E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 dirty="0">
                <a:latin typeface="Microsoft JhengHei" pitchFamily="34" charset="0"/>
                <a:ea typeface="Microsoft JhengHei" pitchFamily="34" charset="-122"/>
              </a:rPr>
              <a:t>完整性限制：分類與代表規則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44041FA-441D-DD1B-4E1D-C7DA6860A3A4}"/>
              </a:ext>
            </a:extLst>
          </p:cNvPr>
          <p:cNvSpPr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14</a:t>
            </a:r>
            <a:endParaRPr lang="en-US" sz="900" dirty="0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DC3B241F-F087-0414-073B-564784FF773D}"/>
              </a:ext>
            </a:extLst>
          </p:cNvPr>
          <p:cNvSpPr/>
          <p:nvPr/>
        </p:nvSpPr>
        <p:spPr>
          <a:xfrm>
            <a:off x="1005840" y="1509318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B8ACD0A-6A3E-B34F-A6EB-AA384DEA4458}"/>
              </a:ext>
            </a:extLst>
          </p:cNvPr>
          <p:cNvSpPr/>
          <p:nvPr/>
        </p:nvSpPr>
        <p:spPr>
          <a:xfrm>
            <a:off x="1478898" y="1820214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實體完整性</a:t>
            </a: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5851572-1810-5FAA-4655-0B0B5BB6D4E6}"/>
              </a:ext>
            </a:extLst>
          </p:cNvPr>
          <p:cNvSpPr/>
          <p:nvPr/>
        </p:nvSpPr>
        <p:spPr>
          <a:xfrm>
            <a:off x="3981364" y="1792782"/>
            <a:ext cx="720479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設備具有獨立的系所內部設備編號</a:t>
            </a:r>
            <a:r>
              <a:rPr lang="en-US" altLang="zh-TW" sz="16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(Primary Key)</a:t>
            </a: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，且不得缺失</a:t>
            </a:r>
            <a:r>
              <a:rPr lang="en-US" altLang="zh-TW" sz="16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(Not NULL)</a:t>
            </a: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altLang="zh-TW" sz="16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BF8EC46-410D-5C45-2FBA-3C6FB2A1A893}"/>
              </a:ext>
            </a:extLst>
          </p:cNvPr>
          <p:cNvSpPr/>
          <p:nvPr/>
        </p:nvSpPr>
        <p:spPr>
          <a:xfrm>
            <a:off x="1005840" y="2639069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DCE7EF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94D73EB-3747-E3C7-DC5C-BB5A49EB120D}"/>
              </a:ext>
            </a:extLst>
          </p:cNvPr>
          <p:cNvSpPr/>
          <p:nvPr/>
        </p:nvSpPr>
        <p:spPr>
          <a:xfrm>
            <a:off x="1478898" y="2945393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參照完整性</a:t>
            </a: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63F48D1C-FC4C-77C4-069B-614B5913DA47}"/>
              </a:ext>
            </a:extLst>
          </p:cNvPr>
          <p:cNvSpPr/>
          <p:nvPr/>
        </p:nvSpPr>
        <p:spPr>
          <a:xfrm>
            <a:off x="3981365" y="2917961"/>
            <a:ext cx="664430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歸屬之類別、存放地點及負責人</a:t>
            </a:r>
            <a:r>
              <a:rPr lang="en-US" altLang="zh-TW" sz="16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altLang="zh-TW" sz="1600" dirty="0" err="1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Foreigh</a:t>
            </a:r>
            <a:r>
              <a:rPr lang="en-US" altLang="zh-TW" sz="16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Keys)</a:t>
            </a: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必須對應系統中有效實體。</a:t>
            </a: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D6593324-4844-162F-2E2A-5D1EEE2FFA7E}"/>
              </a:ext>
            </a:extLst>
          </p:cNvPr>
          <p:cNvSpPr/>
          <p:nvPr/>
        </p:nvSpPr>
        <p:spPr>
          <a:xfrm>
            <a:off x="1005840" y="3768820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8A9D4555-BC21-C0E6-54D2-8F272B59A590}"/>
              </a:ext>
            </a:extLst>
          </p:cNvPr>
          <p:cNvSpPr/>
          <p:nvPr/>
        </p:nvSpPr>
        <p:spPr>
          <a:xfrm>
            <a:off x="1478898" y="4075611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值域完整性</a:t>
            </a: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15F149FE-ACCB-EA5F-630F-14EAF296EAAA}"/>
              </a:ext>
            </a:extLst>
          </p:cNvPr>
          <p:cNvSpPr/>
          <p:nvPr/>
        </p:nvSpPr>
        <p:spPr>
          <a:xfrm>
            <a:off x="3981365" y="3909075"/>
            <a:ext cx="6217920" cy="67161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狀態</a:t>
            </a:r>
            <a:r>
              <a:rPr lang="en-US" altLang="zh-TW" sz="16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</a:rPr>
              <a:t>(status)</a:t>
            </a: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：可用、借出中、維修中、停用、報廢或遺失。</a:t>
            </a:r>
            <a:endParaRPr lang="en-US" altLang="zh-TW" sz="16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數值</a:t>
            </a:r>
            <a:r>
              <a:rPr lang="en-US" altLang="zh-TW" sz="16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</a:rPr>
              <a:t>(Numeric)</a:t>
            </a: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：財務與庫存數據必須</a:t>
            </a:r>
            <a:r>
              <a:rPr lang="en-US" altLang="zh-TW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&gt;=0</a:t>
            </a: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。</a:t>
            </a:r>
            <a:endParaRPr lang="en-US" altLang="zh-TW" sz="16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日期</a:t>
            </a:r>
            <a:r>
              <a:rPr lang="en-US" altLang="zh-TW" sz="16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</a:rPr>
              <a:t>(Date)</a:t>
            </a: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：須符合標準</a:t>
            </a:r>
            <a:r>
              <a:rPr lang="en-US" altLang="zh-TW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Timestamp</a:t>
            </a:r>
            <a:r>
              <a:rPr lang="zh-TW" altLang="en-US" sz="1600" dirty="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格式。</a:t>
            </a:r>
          </a:p>
        </p:txBody>
      </p:sp>
      <p:sp>
        <p:nvSpPr>
          <p:cNvPr id="2" name="Shape 19">
            <a:extLst>
              <a:ext uri="{FF2B5EF4-FFF2-40B4-BE49-F238E27FC236}">
                <a16:creationId xmlns:a16="http://schemas.microsoft.com/office/drawing/2014/main" id="{E2933C0F-D5A5-9C54-24C1-A170DD6C6321}"/>
              </a:ext>
            </a:extLst>
          </p:cNvPr>
          <p:cNvSpPr/>
          <p:nvPr/>
        </p:nvSpPr>
        <p:spPr>
          <a:xfrm>
            <a:off x="1005840" y="4898571"/>
            <a:ext cx="9966960" cy="950976"/>
          </a:xfrm>
          <a:prstGeom prst="roundRect">
            <a:avLst>
              <a:gd name="adj" fmla="val 5161"/>
            </a:avLst>
          </a:prstGeom>
          <a:solidFill>
            <a:srgbClr val="FBF8F2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DE93146A-CE8B-9696-3A24-93550A52D0AB}"/>
              </a:ext>
            </a:extLst>
          </p:cNvPr>
          <p:cNvSpPr/>
          <p:nvPr/>
        </p:nvSpPr>
        <p:spPr>
          <a:xfrm>
            <a:off x="1478898" y="5213011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zh-TW" altLang="en-US" sz="20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使用者自訂完整性</a:t>
            </a: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F592207A-9ED3-E2C6-CFAB-9DEA37D97B40}"/>
              </a:ext>
            </a:extLst>
          </p:cNvPr>
          <p:cNvSpPr/>
          <p:nvPr/>
        </p:nvSpPr>
        <p:spPr>
          <a:xfrm>
            <a:off x="3981365" y="5185579"/>
            <a:ext cx="62179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財產資料與負責人限制、借用與領用限制、時序與歷程限制</a:t>
            </a:r>
            <a:endParaRPr lang="zh-TW" altLang="en-US" sz="1600" dirty="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934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群組 21">
            <a:extLst>
              <a:ext uri="{FF2B5EF4-FFF2-40B4-BE49-F238E27FC236}">
                <a16:creationId xmlns:a16="http://schemas.microsoft.com/office/drawing/2014/main" id="{5E3F6461-A28D-B799-9403-661E4EFA2898}"/>
              </a:ext>
            </a:extLst>
          </p:cNvPr>
          <p:cNvGrpSpPr/>
          <p:nvPr/>
        </p:nvGrpSpPr>
        <p:grpSpPr>
          <a:xfrm>
            <a:off x="295561" y="1200246"/>
            <a:ext cx="5675563" cy="4681287"/>
            <a:chOff x="295561" y="1200246"/>
            <a:chExt cx="5675563" cy="4681287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6B30406-A76C-1B1B-CEA1-23D7C5CA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561" y="1200246"/>
              <a:ext cx="5675563" cy="4681287"/>
            </a:xfrm>
            <a:prstGeom prst="rect">
              <a:avLst/>
            </a:prstGeom>
          </p:spPr>
        </p:pic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1371835E-25F2-0AD4-794E-9D1412EAE226}"/>
                </a:ext>
              </a:extLst>
            </p:cNvPr>
            <p:cNvSpPr/>
            <p:nvPr/>
          </p:nvSpPr>
          <p:spPr>
            <a:xfrm>
              <a:off x="1013758" y="1277480"/>
              <a:ext cx="3792857" cy="43227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lt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D850AC9F-659B-2F92-80D4-E73E918F5EF2}"/>
                </a:ext>
              </a:extLst>
            </p:cNvPr>
            <p:cNvSpPr/>
            <p:nvPr/>
          </p:nvSpPr>
          <p:spPr>
            <a:xfrm>
              <a:off x="582282" y="4370765"/>
              <a:ext cx="862952" cy="40271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lt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5B304107-86B8-4C8E-237C-443A8FCC3AFA}"/>
                </a:ext>
              </a:extLst>
            </p:cNvPr>
            <p:cNvSpPr/>
            <p:nvPr/>
          </p:nvSpPr>
          <p:spPr>
            <a:xfrm>
              <a:off x="3825392" y="1929359"/>
              <a:ext cx="1148183" cy="50078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lt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1D164710-7818-7AA7-E6A3-FF8F4A4DFAE7}"/>
                </a:ext>
              </a:extLst>
            </p:cNvPr>
            <p:cNvSpPr/>
            <p:nvPr/>
          </p:nvSpPr>
          <p:spPr>
            <a:xfrm>
              <a:off x="439667" y="3099799"/>
              <a:ext cx="1148183" cy="50078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lt"/>
              </a:endParaRPr>
            </a:p>
          </p:txBody>
        </p:sp>
      </p:grp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7F165B35-072E-A7AA-E9D5-CE988208E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30775"/>
              </p:ext>
            </p:extLst>
          </p:nvPr>
        </p:nvGraphicFramePr>
        <p:xfrm>
          <a:off x="1626725" y="2479933"/>
          <a:ext cx="10119592" cy="4088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993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2217993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2217993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3465613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5319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83079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內部設備編號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不可為空，且不可重複，作為物品主要識別依據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5319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8307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可用、借出中、維修中、停用、報廢、遺失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5319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保固期限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必須為合法日期格式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8307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存放位置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存放地點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不可為空，且應能唯一識別存放位置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</a:tbl>
          </a:graphicData>
        </a:graphic>
      </p:graphicFrame>
      <p:sp>
        <p:nvSpPr>
          <p:cNvPr id="2" name="Text 4">
            <a:extLst>
              <a:ext uri="{FF2B5EF4-FFF2-40B4-BE49-F238E27FC236}">
                <a16:creationId xmlns:a16="http://schemas.microsoft.com/office/drawing/2014/main" id="{019145E3-D46E-E938-F313-1AD648A534DA}"/>
              </a:ext>
            </a:extLst>
          </p:cNvPr>
          <p:cNvSpPr/>
          <p:nvPr/>
        </p:nvSpPr>
        <p:spPr>
          <a:xfrm>
            <a:off x="502919" y="436504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3600" b="1" dirty="0">
                <a:latin typeface="Microsoft JhengHei" pitchFamily="34" charset="0"/>
                <a:ea typeface="Microsoft JhengHei" pitchFamily="34" charset="-122"/>
              </a:rPr>
              <a:t>完整性限制：實體屬性與限制對應表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0BDD77D-D04C-AC16-1126-D76DBA287A61}"/>
              </a:ext>
            </a:extLst>
          </p:cNvPr>
          <p:cNvSpPr/>
          <p:nvPr/>
        </p:nvSpPr>
        <p:spPr>
          <a:xfrm>
            <a:off x="6383304" y="1721706"/>
            <a:ext cx="2399749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物件與存放位置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F82124B-9A57-7AA6-529D-FCA2F249EB9F}"/>
              </a:ext>
            </a:extLst>
          </p:cNvPr>
          <p:cNvSpPr/>
          <p:nvPr/>
        </p:nvSpPr>
        <p:spPr>
          <a:xfrm>
            <a:off x="149877" y="6196413"/>
            <a:ext cx="540844" cy="2427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38BB52E-0DF7-122F-7560-66345E91DAA9}"/>
              </a:ext>
            </a:extLst>
          </p:cNvPr>
          <p:cNvSpPr txBox="1"/>
          <p:nvPr/>
        </p:nvSpPr>
        <p:spPr>
          <a:xfrm>
            <a:off x="720801" y="6129513"/>
            <a:ext cx="663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實體</a:t>
            </a:r>
            <a:endParaRPr lang="zh-TW" altLang="en-US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D3B3C84-8AF1-DE3F-FF17-AB72DF16A6AB}"/>
              </a:ext>
            </a:extLst>
          </p:cNvPr>
          <p:cNvSpPr/>
          <p:nvPr/>
        </p:nvSpPr>
        <p:spPr>
          <a:xfrm>
            <a:off x="178863" y="5791793"/>
            <a:ext cx="497528" cy="27443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A6A603C-7BE7-6160-C216-598135AE8FA7}"/>
              </a:ext>
            </a:extLst>
          </p:cNvPr>
          <p:cNvSpPr txBox="1"/>
          <p:nvPr/>
        </p:nvSpPr>
        <p:spPr>
          <a:xfrm>
            <a:off x="712986" y="5728539"/>
            <a:ext cx="663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</a:t>
            </a:r>
            <a:endParaRPr lang="zh-TW" altLang="en-US" dirty="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9132D8F6-69D0-0F38-222C-A9639335253E}"/>
              </a:ext>
            </a:extLst>
          </p:cNvPr>
          <p:cNvSpPr/>
          <p:nvPr/>
        </p:nvSpPr>
        <p:spPr>
          <a:xfrm>
            <a:off x="11385184" y="6564198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</a:t>
            </a:r>
            <a:r>
              <a:rPr lang="en-US" altLang="zh-TW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73419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165DE54-000D-2BB4-9680-0C1B04E15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679432"/>
              </p:ext>
            </p:extLst>
          </p:nvPr>
        </p:nvGraphicFramePr>
        <p:xfrm>
          <a:off x="539639" y="3584408"/>
          <a:ext cx="11216215" cy="291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349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2458349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2458349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3841168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56000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財產編號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保管人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財產設備必須記錄保管人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56000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取得日期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必須為合法日期格式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經費來源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應記錄有效經費來源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取得金額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必須大於等於 </a:t>
                      </a:r>
                      <a:r>
                        <a:rPr lang="en-US" altLang="zh-TW" sz="16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3,000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耐用年限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必須為正整數或大於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839740043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60BB2F2A-C037-4DA7-B579-8B3419014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40" y="344410"/>
            <a:ext cx="2622856" cy="3239998"/>
          </a:xfrm>
          <a:prstGeom prst="rect">
            <a:avLst/>
          </a:prstGeom>
        </p:spPr>
      </p:pic>
      <p:sp>
        <p:nvSpPr>
          <p:cNvPr id="10" name="橢圓 9">
            <a:extLst>
              <a:ext uri="{FF2B5EF4-FFF2-40B4-BE49-F238E27FC236}">
                <a16:creationId xmlns:a16="http://schemas.microsoft.com/office/drawing/2014/main" id="{1065F3D4-71C9-E127-72BC-D86BA78AFB7E}"/>
              </a:ext>
            </a:extLst>
          </p:cNvPr>
          <p:cNvSpPr/>
          <p:nvPr/>
        </p:nvSpPr>
        <p:spPr>
          <a:xfrm>
            <a:off x="2511895" y="446234"/>
            <a:ext cx="124065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6F573E01-2E2C-BC82-5AB5-4D2F8C9941DB}"/>
              </a:ext>
            </a:extLst>
          </p:cNvPr>
          <p:cNvSpPr/>
          <p:nvPr/>
        </p:nvSpPr>
        <p:spPr>
          <a:xfrm>
            <a:off x="1011991" y="772758"/>
            <a:ext cx="1189788" cy="275851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F5B81A57-953F-B505-2F90-9F9A92490E56}"/>
              </a:ext>
            </a:extLst>
          </p:cNvPr>
          <p:cNvSpPr/>
          <p:nvPr/>
        </p:nvSpPr>
        <p:spPr>
          <a:xfrm>
            <a:off x="6383304" y="1721705"/>
            <a:ext cx="2431132" cy="7688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物品分類子實體</a:t>
            </a:r>
            <a:r>
              <a:rPr lang="en-US" altLang="zh-TW" sz="2400" b="1" dirty="0">
                <a:latin typeface="Microsoft JhengHei" pitchFamily="34" charset="0"/>
                <a:ea typeface="Microsoft JhengHei" pitchFamily="34" charset="-122"/>
              </a:rPr>
              <a:t>-</a:t>
            </a: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財產設備</a:t>
            </a:r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E102C9FB-3687-881C-DA24-6350962992CA}"/>
              </a:ext>
            </a:extLst>
          </p:cNvPr>
          <p:cNvSpPr/>
          <p:nvPr/>
        </p:nvSpPr>
        <p:spPr>
          <a:xfrm>
            <a:off x="11385184" y="6564198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</a:t>
            </a:r>
            <a:r>
              <a:rPr lang="en-US" altLang="zh-TW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51679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7D78-2B6D-97E5-53F3-9118E262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4">
            <a:extLst>
              <a:ext uri="{FF2B5EF4-FFF2-40B4-BE49-F238E27FC236}">
                <a16:creationId xmlns:a16="http://schemas.microsoft.com/office/drawing/2014/main" id="{B30A082C-9918-EE96-93D3-43ED17B17CF5}"/>
              </a:ext>
            </a:extLst>
          </p:cNvPr>
          <p:cNvSpPr/>
          <p:nvPr/>
        </p:nvSpPr>
        <p:spPr>
          <a:xfrm>
            <a:off x="6383304" y="1721705"/>
            <a:ext cx="3506654" cy="125009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物品分類子實體</a:t>
            </a:r>
            <a:r>
              <a:rPr lang="en-US" altLang="zh-TW" sz="2400" b="1" dirty="0">
                <a:latin typeface="Microsoft JhengHei" pitchFamily="34" charset="0"/>
                <a:ea typeface="Microsoft JhengHei" pitchFamily="34" charset="-122"/>
              </a:rPr>
              <a:t>-</a:t>
            </a:r>
          </a:p>
          <a:p>
            <a:pPr marL="0" indent="0" algn="l">
              <a:buNone/>
            </a:pP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非列管設備與耗材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65B6B8-B9B6-E7D2-2CF8-B77870094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027676"/>
              </p:ext>
            </p:extLst>
          </p:nvPr>
        </p:nvGraphicFramePr>
        <p:xfrm>
          <a:off x="330788" y="3734803"/>
          <a:ext cx="11216215" cy="2868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349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2458349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2458349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3841168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可重複使用的非列管設備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規格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不可為空，需描述設備規格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647957795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可重複使用的非列管設備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必須為整數，且大於等於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699151037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可重複使用的非列管設備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可借用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是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否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639279449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可重複使用的非列管設備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需歸還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是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否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157933078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庫存量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必須為整數，且大於等於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207462683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最低庫存量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必須為整數，且大於等於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584559642"/>
                  </a:ext>
                </a:extLst>
              </a:tr>
              <a:tr h="3586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單位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不可為空，例如：包、盒、支、張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023961715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39CB2E08-29A5-E116-D15D-45F047E86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60" y="179986"/>
            <a:ext cx="3343742" cy="3381847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DA93638D-9835-F08F-D0C6-26E1147BF821}"/>
              </a:ext>
            </a:extLst>
          </p:cNvPr>
          <p:cNvSpPr/>
          <p:nvPr/>
        </p:nvSpPr>
        <p:spPr>
          <a:xfrm>
            <a:off x="3215742" y="116702"/>
            <a:ext cx="124065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89C29BC-BE6E-C79F-04F9-971EA555C375}"/>
              </a:ext>
            </a:extLst>
          </p:cNvPr>
          <p:cNvSpPr/>
          <p:nvPr/>
        </p:nvSpPr>
        <p:spPr>
          <a:xfrm>
            <a:off x="1666981" y="116702"/>
            <a:ext cx="124065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C9B1AB0-514C-C697-2450-2CF83F45A8F3}"/>
              </a:ext>
            </a:extLst>
          </p:cNvPr>
          <p:cNvSpPr/>
          <p:nvPr/>
        </p:nvSpPr>
        <p:spPr>
          <a:xfrm>
            <a:off x="2701089" y="835772"/>
            <a:ext cx="1285374" cy="166077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C173AF8-C495-93BA-0F42-C0472000A308}"/>
              </a:ext>
            </a:extLst>
          </p:cNvPr>
          <p:cNvSpPr/>
          <p:nvPr/>
        </p:nvSpPr>
        <p:spPr>
          <a:xfrm>
            <a:off x="1124953" y="1461823"/>
            <a:ext cx="1371600" cy="205139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Text 27">
            <a:extLst>
              <a:ext uri="{FF2B5EF4-FFF2-40B4-BE49-F238E27FC236}">
                <a16:creationId xmlns:a16="http://schemas.microsoft.com/office/drawing/2014/main" id="{20ADBAB1-D0C4-95A2-6315-C0B6CA7F5D90}"/>
              </a:ext>
            </a:extLst>
          </p:cNvPr>
          <p:cNvSpPr/>
          <p:nvPr/>
        </p:nvSpPr>
        <p:spPr>
          <a:xfrm>
            <a:off x="11385184" y="6564198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</a:t>
            </a:r>
            <a:r>
              <a:rPr lang="en-US" altLang="zh-TW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44120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B18AAF3-9B0F-93BB-535F-EF69ACCB6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443432"/>
              </p:ext>
            </p:extLst>
          </p:nvPr>
        </p:nvGraphicFramePr>
        <p:xfrm>
          <a:off x="346130" y="3961564"/>
          <a:ext cx="11078633" cy="2578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373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1954373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1954373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5215514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使用者編號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使用者姓名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聯絡方式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應記錄有效聯絡方式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系所管理員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無額外屬性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繼承使用者之使用者編號、使用者姓名、聯絡方式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全系師生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無額外屬性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繼承使用者之使用者編號、使用者姓名、聯絡方式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設備負責人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無額外屬性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繼承使用者之使用者編號、使用者姓名、聯絡方式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707187146"/>
                  </a:ext>
                </a:extLst>
              </a:tr>
            </a:tbl>
          </a:graphicData>
        </a:graphic>
      </p:graphicFrame>
      <p:grpSp>
        <p:nvGrpSpPr>
          <p:cNvPr id="19" name="群組 18">
            <a:extLst>
              <a:ext uri="{FF2B5EF4-FFF2-40B4-BE49-F238E27FC236}">
                <a16:creationId xmlns:a16="http://schemas.microsoft.com/office/drawing/2014/main" id="{402F194C-1124-24D3-A265-412A1756BC07}"/>
              </a:ext>
            </a:extLst>
          </p:cNvPr>
          <p:cNvGrpSpPr/>
          <p:nvPr/>
        </p:nvGrpSpPr>
        <p:grpSpPr>
          <a:xfrm>
            <a:off x="615146" y="841404"/>
            <a:ext cx="5607184" cy="2923063"/>
            <a:chOff x="615146" y="841404"/>
            <a:chExt cx="5607184" cy="2923063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637A67DC-4FC7-E3E7-079C-B8FE5F985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5146" y="841404"/>
              <a:ext cx="5607184" cy="2923063"/>
            </a:xfrm>
            <a:prstGeom prst="rect">
              <a:avLst/>
            </a:prstGeom>
          </p:spPr>
        </p:pic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6F5322ED-D4BE-7975-45F1-BD6E88D92BD4}"/>
                </a:ext>
              </a:extLst>
            </p:cNvPr>
            <p:cNvSpPr/>
            <p:nvPr/>
          </p:nvSpPr>
          <p:spPr>
            <a:xfrm>
              <a:off x="4987401" y="903367"/>
              <a:ext cx="1036410" cy="151815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AE4DDBE0-9C2E-094B-5332-0D12D91719A1}"/>
                </a:ext>
              </a:extLst>
            </p:cNvPr>
            <p:cNvSpPr/>
            <p:nvPr/>
          </p:nvSpPr>
          <p:spPr>
            <a:xfrm>
              <a:off x="1978805" y="1377299"/>
              <a:ext cx="1240650" cy="5461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5A3446B1-03A1-3EF3-FD02-8912B09949C0}"/>
                </a:ext>
              </a:extLst>
            </p:cNvPr>
            <p:cNvSpPr/>
            <p:nvPr/>
          </p:nvSpPr>
          <p:spPr>
            <a:xfrm>
              <a:off x="615146" y="3218367"/>
              <a:ext cx="1240650" cy="5461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72CD03B-9E33-257C-8B77-46D51B5F12E8}"/>
                </a:ext>
              </a:extLst>
            </p:cNvPr>
            <p:cNvSpPr/>
            <p:nvPr/>
          </p:nvSpPr>
          <p:spPr>
            <a:xfrm>
              <a:off x="1978805" y="3218367"/>
              <a:ext cx="1240650" cy="5461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2A36E7AC-2AD1-CA41-6987-5B419FE0D73C}"/>
                </a:ext>
              </a:extLst>
            </p:cNvPr>
            <p:cNvSpPr/>
            <p:nvPr/>
          </p:nvSpPr>
          <p:spPr>
            <a:xfrm>
              <a:off x="3418738" y="3218367"/>
              <a:ext cx="1240650" cy="5461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Text 4">
            <a:extLst>
              <a:ext uri="{FF2B5EF4-FFF2-40B4-BE49-F238E27FC236}">
                <a16:creationId xmlns:a16="http://schemas.microsoft.com/office/drawing/2014/main" id="{3B52EE1C-C685-1B0A-5B96-E2C1E2C8EC13}"/>
              </a:ext>
            </a:extLst>
          </p:cNvPr>
          <p:cNvSpPr/>
          <p:nvPr/>
        </p:nvSpPr>
        <p:spPr>
          <a:xfrm>
            <a:off x="6912694" y="1923399"/>
            <a:ext cx="2399749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使用者與角色</a:t>
            </a:r>
            <a:endParaRPr lang="en-US" altLang="zh-TW" sz="2400" b="1" dirty="0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E6E134FB-FF01-F098-2D87-11F8DE2F7C3B}"/>
              </a:ext>
            </a:extLst>
          </p:cNvPr>
          <p:cNvSpPr/>
          <p:nvPr/>
        </p:nvSpPr>
        <p:spPr>
          <a:xfrm>
            <a:off x="11385184" y="6564198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</a:t>
            </a:r>
            <a:r>
              <a:rPr lang="en-US" altLang="zh-TW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87946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4FCC2E3-6682-C8C0-BCA0-69A943492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3" y="1369446"/>
            <a:ext cx="6687483" cy="2133898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5590B73-E0BA-BA54-48DC-B2AAC2DC0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655331"/>
              </p:ext>
            </p:extLst>
          </p:nvPr>
        </p:nvGraphicFramePr>
        <p:xfrm>
          <a:off x="658763" y="4090959"/>
          <a:ext cx="11078633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373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1954373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2188312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4981575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異動編號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舊狀態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必須為物品狀態的合法值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必須為物品狀態的合法值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異動時間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不可為空，必須為合法時間格式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異動原因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狀態變更時應記錄異動原因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D9883B85-2F21-303E-247B-FEF64A85A64C}"/>
              </a:ext>
            </a:extLst>
          </p:cNvPr>
          <p:cNvSpPr/>
          <p:nvPr/>
        </p:nvSpPr>
        <p:spPr>
          <a:xfrm>
            <a:off x="1932373" y="2721723"/>
            <a:ext cx="1364279" cy="7253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D2BD820-6D33-FD32-9026-5E73A1922B4C}"/>
              </a:ext>
            </a:extLst>
          </p:cNvPr>
          <p:cNvSpPr/>
          <p:nvPr/>
        </p:nvSpPr>
        <p:spPr>
          <a:xfrm>
            <a:off x="595564" y="1540042"/>
            <a:ext cx="6750682" cy="63767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3951B88-4004-2E70-1C36-F7DBC9EF0C29}"/>
              </a:ext>
            </a:extLst>
          </p:cNvPr>
          <p:cNvSpPr/>
          <p:nvPr/>
        </p:nvSpPr>
        <p:spPr>
          <a:xfrm>
            <a:off x="8112568" y="2336187"/>
            <a:ext cx="2399749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狀態異動紀錄</a:t>
            </a:r>
            <a:endParaRPr lang="en-US" altLang="zh-TW" sz="2400" b="1" dirty="0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2" name="Text 27">
            <a:extLst>
              <a:ext uri="{FF2B5EF4-FFF2-40B4-BE49-F238E27FC236}">
                <a16:creationId xmlns:a16="http://schemas.microsoft.com/office/drawing/2014/main" id="{47D83885-D280-546F-7930-15D77F9C9B51}"/>
              </a:ext>
            </a:extLst>
          </p:cNvPr>
          <p:cNvSpPr/>
          <p:nvPr/>
        </p:nvSpPr>
        <p:spPr>
          <a:xfrm>
            <a:off x="11385184" y="6564198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1</a:t>
            </a:r>
            <a:r>
              <a:rPr lang="en-US" altLang="zh-TW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2064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881624F-98DB-537D-8875-7C15BFDC8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83" y="85403"/>
            <a:ext cx="4264581" cy="2979127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5417BD-D24E-D89C-CEF4-67A1C3207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391247"/>
              </p:ext>
            </p:extLst>
          </p:nvPr>
        </p:nvGraphicFramePr>
        <p:xfrm>
          <a:off x="324852" y="2859137"/>
          <a:ext cx="11186751" cy="3913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891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2451891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2451891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3831078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319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319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借用紀錄單號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319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借用時間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不可為空，且必須早於實際歸還時間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319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預計歸還時間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應晚於借用時間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319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實際歸還時間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若已歸還，不得早於借用時間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58007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借用狀態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借用中、已歸還、逾期、取消 等狀態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  <a:tr h="319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領用紀錄單號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839740043"/>
                  </a:ext>
                </a:extLst>
              </a:tr>
              <a:tr h="319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用途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領用時應記錄用途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647957795"/>
                  </a:ext>
                </a:extLst>
              </a:tr>
              <a:tr h="58007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必須為正整數，且不可大於對應耗材庫存量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2699151037"/>
                  </a:ext>
                </a:extLst>
              </a:tr>
              <a:tr h="319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領用時間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不可為空，必須為合法時間格式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3639279449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B2EE28FA-D652-3778-4E6F-38C03DD03199}"/>
              </a:ext>
            </a:extLst>
          </p:cNvPr>
          <p:cNvSpPr/>
          <p:nvPr/>
        </p:nvSpPr>
        <p:spPr>
          <a:xfrm>
            <a:off x="1481189" y="33484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EF9AFB0-C086-3325-4C79-9BDF3E5114F6}"/>
              </a:ext>
            </a:extLst>
          </p:cNvPr>
          <p:cNvSpPr/>
          <p:nvPr/>
        </p:nvSpPr>
        <p:spPr>
          <a:xfrm>
            <a:off x="2939015" y="33484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9DAE42A-452B-28D7-C710-E42F373D5B72}"/>
              </a:ext>
            </a:extLst>
          </p:cNvPr>
          <p:cNvSpPr/>
          <p:nvPr/>
        </p:nvSpPr>
        <p:spPr>
          <a:xfrm>
            <a:off x="639678" y="631503"/>
            <a:ext cx="1058778" cy="222763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53BE086-B787-BE93-908A-FFAB543F8822}"/>
              </a:ext>
            </a:extLst>
          </p:cNvPr>
          <p:cNvSpPr/>
          <p:nvPr/>
        </p:nvSpPr>
        <p:spPr>
          <a:xfrm>
            <a:off x="2468479" y="716276"/>
            <a:ext cx="1058778" cy="19667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B98805A-AC1B-4964-A5EA-5BE4243BE1A5}"/>
              </a:ext>
            </a:extLst>
          </p:cNvPr>
          <p:cNvSpPr/>
          <p:nvPr/>
        </p:nvSpPr>
        <p:spPr>
          <a:xfrm>
            <a:off x="6574530" y="1878987"/>
            <a:ext cx="3148991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借用紀錄與領用紀錄</a:t>
            </a:r>
            <a:endParaRPr lang="en-US" altLang="zh-TW" sz="2400" b="1" dirty="0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804EF9F2-2A57-3C21-B3BE-28BCB5811D36}"/>
              </a:ext>
            </a:extLst>
          </p:cNvPr>
          <p:cNvSpPr/>
          <p:nvPr/>
        </p:nvSpPr>
        <p:spPr>
          <a:xfrm>
            <a:off x="11385184" y="6564198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20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58873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8304E02-F1D6-A5C6-E308-CC8163581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77" y="1124092"/>
            <a:ext cx="3799927" cy="5240613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52CE8F4-F9F7-ADF4-5329-9D61BDB9B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662734"/>
              </p:ext>
            </p:extLst>
          </p:nvPr>
        </p:nvGraphicFramePr>
        <p:xfrm>
          <a:off x="4253162" y="169325"/>
          <a:ext cx="7396804" cy="6519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218">
                  <a:extLst>
                    <a:ext uri="{9D8B030D-6E8A-4147-A177-3AD203B41FA5}">
                      <a16:colId xmlns:a16="http://schemas.microsoft.com/office/drawing/2014/main" val="448544113"/>
                    </a:ext>
                  </a:extLst>
                </a:gridCol>
                <a:gridCol w="1621218">
                  <a:extLst>
                    <a:ext uri="{9D8B030D-6E8A-4147-A177-3AD203B41FA5}">
                      <a16:colId xmlns:a16="http://schemas.microsoft.com/office/drawing/2014/main" val="886864725"/>
                    </a:ext>
                  </a:extLst>
                </a:gridCol>
                <a:gridCol w="1621218">
                  <a:extLst>
                    <a:ext uri="{9D8B030D-6E8A-4147-A177-3AD203B41FA5}">
                      <a16:colId xmlns:a16="http://schemas.microsoft.com/office/drawing/2014/main" val="1707460985"/>
                    </a:ext>
                  </a:extLst>
                </a:gridCol>
                <a:gridCol w="2533150">
                  <a:extLst>
                    <a:ext uri="{9D8B030D-6E8A-4147-A177-3AD203B41FA5}">
                      <a16:colId xmlns:a16="http://schemas.microsoft.com/office/drawing/2014/main" val="3087382891"/>
                    </a:ext>
                  </a:extLst>
                </a:gridCol>
              </a:tblGrid>
              <a:tr h="66525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488620795"/>
                  </a:ext>
                </a:extLst>
              </a:tr>
              <a:tr h="5848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維修工單編號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806136263"/>
                  </a:ext>
                </a:extLst>
              </a:tr>
              <a:tr h="66525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報修日期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不可為空，必須為合法日期格式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1174069519"/>
                  </a:ext>
                </a:extLst>
              </a:tr>
              <a:tr h="66525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故障描述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報修時應填寫故障內容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596876882"/>
                  </a:ext>
                </a:extLst>
              </a:tr>
              <a:tr h="66525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維修狀態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待處理、處理中、已完成、取消 等狀態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1391732477"/>
                  </a:ext>
                </a:extLst>
              </a:tr>
              <a:tr h="37453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維修費用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必須大於等於 </a:t>
                      </a:r>
                      <a:r>
                        <a:rPr lang="en-US" altLang="zh-TW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1370777812"/>
                  </a:ext>
                </a:extLst>
              </a:tr>
              <a:tr h="37453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完成日期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不得早於報修日期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167254431"/>
                  </a:ext>
                </a:extLst>
              </a:tr>
              <a:tr h="66525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更換零件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若有更換零件，應記錄零件內容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739580300"/>
                  </a:ext>
                </a:extLst>
              </a:tr>
              <a:tr h="5867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下次保養日期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應晚於完成日期或報修日期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492486805"/>
                  </a:ext>
                </a:extLst>
              </a:tr>
              <a:tr h="85271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維護廠商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廠商名稱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不可為空；若以廠商名稱作為識別，則應避免重複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406185067"/>
                  </a:ext>
                </a:extLst>
              </a:tr>
              <a:tr h="37453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維護廠商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廠商聯繫方式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應記錄有效聯絡方式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44698265"/>
                  </a:ext>
                </a:extLst>
              </a:tr>
            </a:tbl>
          </a:graphicData>
        </a:graphic>
      </p:graphicFrame>
      <p:sp>
        <p:nvSpPr>
          <p:cNvPr id="5" name="Text 4">
            <a:extLst>
              <a:ext uri="{FF2B5EF4-FFF2-40B4-BE49-F238E27FC236}">
                <a16:creationId xmlns:a16="http://schemas.microsoft.com/office/drawing/2014/main" id="{1143A9CD-8D7B-D18A-7597-EB6878E1329B}"/>
              </a:ext>
            </a:extLst>
          </p:cNvPr>
          <p:cNvSpPr/>
          <p:nvPr/>
        </p:nvSpPr>
        <p:spPr>
          <a:xfrm>
            <a:off x="853514" y="314881"/>
            <a:ext cx="3148991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 dirty="0">
                <a:latin typeface="Microsoft JhengHei" pitchFamily="34" charset="0"/>
                <a:ea typeface="Microsoft JhengHei" pitchFamily="34" charset="-122"/>
              </a:rPr>
              <a:t>維修工單與維護廠商</a:t>
            </a:r>
            <a:endParaRPr lang="en-US" altLang="zh-TW" sz="2400" b="1" dirty="0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AEE0291-A247-7733-0830-6C890D91E89B}"/>
              </a:ext>
            </a:extLst>
          </p:cNvPr>
          <p:cNvSpPr/>
          <p:nvPr/>
        </p:nvSpPr>
        <p:spPr>
          <a:xfrm>
            <a:off x="428426" y="2776684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25024B2-51DB-D70D-95E4-577A5255BD71}"/>
              </a:ext>
            </a:extLst>
          </p:cNvPr>
          <p:cNvSpPr/>
          <p:nvPr/>
        </p:nvSpPr>
        <p:spPr>
          <a:xfrm>
            <a:off x="951800" y="4702326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4267FAB-D1DA-395B-F922-28C775289607}"/>
              </a:ext>
            </a:extLst>
          </p:cNvPr>
          <p:cNvSpPr/>
          <p:nvPr/>
        </p:nvSpPr>
        <p:spPr>
          <a:xfrm>
            <a:off x="2727156" y="1281208"/>
            <a:ext cx="1326047" cy="396721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6DCA783B-3724-7B31-3360-3F470CD4E669}"/>
              </a:ext>
            </a:extLst>
          </p:cNvPr>
          <p:cNvSpPr/>
          <p:nvPr/>
        </p:nvSpPr>
        <p:spPr>
          <a:xfrm>
            <a:off x="11385184" y="6564198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37169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B2903-8E36-5F30-ED1B-20456E4C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E4F16D47-7067-E53D-634A-16C098EFCC77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33FADDC-C623-C320-F27E-C6CE602D34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293" y="0"/>
            <a:ext cx="11869413" cy="6858000"/>
          </a:xfrm>
          <a:prstGeom prst="rect">
            <a:avLst/>
          </a:prstGeom>
        </p:spPr>
      </p:pic>
      <p:sp>
        <p:nvSpPr>
          <p:cNvPr id="10" name="Text 27">
            <a:extLst>
              <a:ext uri="{FF2B5EF4-FFF2-40B4-BE49-F238E27FC236}">
                <a16:creationId xmlns:a16="http://schemas.microsoft.com/office/drawing/2014/main" id="{82FE4238-6CAE-1876-74E2-1DEC2064339C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92468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AA7356A-0982-4480-994E-46A0F4180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07" y="1045282"/>
            <a:ext cx="4748708" cy="141416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3A87E7D-0A7F-40A6-A266-62C389F8A558}"/>
              </a:ext>
            </a:extLst>
          </p:cNvPr>
          <p:cNvSpPr/>
          <p:nvPr/>
        </p:nvSpPr>
        <p:spPr>
          <a:xfrm>
            <a:off x="5833533" y="1186019"/>
            <a:ext cx="6096000" cy="124938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D2A8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space_name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100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location_type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100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7A8DA6-FF51-4EFF-85AB-53D0847DD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7" y="2870446"/>
            <a:ext cx="4748708" cy="10755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425D6B5-6FBA-4730-8E76-C6BFB69A6A12}"/>
              </a:ext>
            </a:extLst>
          </p:cNvPr>
          <p:cNvSpPr/>
          <p:nvPr/>
        </p:nvSpPr>
        <p:spPr>
          <a:xfrm>
            <a:off x="5833533" y="2927610"/>
            <a:ext cx="6096000" cy="101854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D2A8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INT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role_name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6EC23DF-8F71-4958-98D8-22A375C81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8" y="4248138"/>
            <a:ext cx="4748708" cy="141400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3CDE4FF-85C0-4BE0-89ED-AE9F163BE74E}"/>
              </a:ext>
            </a:extLst>
          </p:cNvPr>
          <p:cNvSpPr/>
          <p:nvPr/>
        </p:nvSpPr>
        <p:spPr>
          <a:xfrm>
            <a:off x="5833533" y="4412764"/>
            <a:ext cx="6096000" cy="124938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D2A8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VENDOR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vendor_id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INT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vendor_name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100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contact_contact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255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EDE394EA-C676-4792-8D57-13283365F86C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23</a:t>
            </a:r>
            <a:endParaRPr lang="en-US" sz="9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C1852B-6F9E-49EC-88B6-C454F05A9289}"/>
              </a:ext>
            </a:extLst>
          </p:cNvPr>
          <p:cNvSpPr/>
          <p:nvPr/>
        </p:nvSpPr>
        <p:spPr>
          <a:xfrm>
            <a:off x="2278714" y="67595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存放空間資料表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3CE22C-5742-4678-AE20-8B69806BDAD1}"/>
              </a:ext>
            </a:extLst>
          </p:cNvPr>
          <p:cNvSpPr/>
          <p:nvPr/>
        </p:nvSpPr>
        <p:spPr>
          <a:xfrm>
            <a:off x="2163297" y="250111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使用者角色資料表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82FCD4-26B5-4D9F-B969-D47E466EF3F4}"/>
              </a:ext>
            </a:extLst>
          </p:cNvPr>
          <p:cNvSpPr/>
          <p:nvPr/>
        </p:nvSpPr>
        <p:spPr>
          <a:xfrm>
            <a:off x="2278714" y="387880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維護廠商資料表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D283734-0850-C6BD-B4E8-E30B5D36375B}"/>
              </a:ext>
            </a:extLst>
          </p:cNvPr>
          <p:cNvSpPr/>
          <p:nvPr/>
        </p:nvSpPr>
        <p:spPr>
          <a:xfrm>
            <a:off x="502919" y="53729"/>
            <a:ext cx="6595713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3600" b="1" dirty="0">
                <a:latin typeface="Microsoft JhengHei" pitchFamily="34" charset="0"/>
                <a:ea typeface="Microsoft JhengHei" pitchFamily="34" charset="-122"/>
              </a:rPr>
              <a:t>Database Schema ERD</a:t>
            </a:r>
            <a:r>
              <a:rPr lang="zh-TW" altLang="en-US" sz="3600" b="1" dirty="0">
                <a:latin typeface="Microsoft JhengHei" pitchFamily="34" charset="0"/>
                <a:ea typeface="Microsoft JhengHei" pitchFamily="34" charset="-122"/>
              </a:rPr>
              <a:t>：</a:t>
            </a:r>
            <a:r>
              <a:rPr lang="en-US" altLang="zh-TW" sz="3600" b="1" dirty="0">
                <a:latin typeface="Microsoft JhengHei" pitchFamily="34" charset="0"/>
                <a:ea typeface="Microsoft JhengHei" pitchFamily="34" charset="-122"/>
              </a:rPr>
              <a:t>SQL</a:t>
            </a:r>
            <a:endParaRPr lang="zh-TW" altLang="en-US" sz="3600" b="1" dirty="0">
              <a:latin typeface="Microsoft JhengHei" pitchFamily="34" charset="0"/>
              <a:ea typeface="Microsoft Jheng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339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1E25496-217D-4280-BAD8-EC3C6AD5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08" y="873861"/>
            <a:ext cx="4748708" cy="17484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A3E643-EFF0-4BB1-9103-12D37756231E}"/>
              </a:ext>
            </a:extLst>
          </p:cNvPr>
          <p:cNvSpPr/>
          <p:nvPr/>
        </p:nvSpPr>
        <p:spPr>
          <a:xfrm>
            <a:off x="6053889" y="680482"/>
            <a:ext cx="5935133" cy="19418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"</a:t>
            </a:r>
            <a:r>
              <a:rPr lang="en-US" altLang="zh-TW" kern="0" dirty="0">
                <a:solidFill>
                  <a:srgbClr val="D2A8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USER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" (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user_id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user_name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100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email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255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UNIQUE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INT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FOREIGN KEY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REFERENCES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5953868-6E2A-4F06-87EB-7A9B4356C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77" y="3272610"/>
            <a:ext cx="4752239" cy="276412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6279888-3A68-475A-AFCF-E51BBE779D90}"/>
              </a:ext>
            </a:extLst>
          </p:cNvPr>
          <p:cNvSpPr/>
          <p:nvPr/>
        </p:nvSpPr>
        <p:spPr>
          <a:xfrm>
            <a:off x="6024255" y="3148226"/>
            <a:ext cx="5994400" cy="309604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D2A8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ITEM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internal_id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item_name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255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manage_type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current_status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warranty_expiry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DATE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created_by_user_id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), 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FOREIGN KEY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REFERENCES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DCDCAA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),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FOREIGN KEY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created_by_user_id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 dirty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REFERENCES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 dirty="0">
                <a:solidFill>
                  <a:srgbClr val="A5D6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"USER"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dirty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user_id</a:t>
            </a: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 dirty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27">
            <a:extLst>
              <a:ext uri="{FF2B5EF4-FFF2-40B4-BE49-F238E27FC236}">
                <a16:creationId xmlns:a16="http://schemas.microsoft.com/office/drawing/2014/main" id="{59E49D14-E0D9-4E55-BA4B-58E761C953B6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8B141F-F538-47D0-9C5D-3AD21AB51D33}"/>
              </a:ext>
            </a:extLst>
          </p:cNvPr>
          <p:cNvSpPr/>
          <p:nvPr/>
        </p:nvSpPr>
        <p:spPr>
          <a:xfrm>
            <a:off x="2161533" y="50452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系統使用者資料表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651F0B-0D46-41D8-9E60-4CEE72269289}"/>
              </a:ext>
            </a:extLst>
          </p:cNvPr>
          <p:cNvSpPr/>
          <p:nvPr/>
        </p:nvSpPr>
        <p:spPr>
          <a:xfrm>
            <a:off x="2276948" y="282235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物品基本資料表</a:t>
            </a:r>
          </a:p>
        </p:txBody>
      </p:sp>
    </p:spTree>
    <p:extLst>
      <p:ext uri="{BB962C8B-B14F-4D97-AF65-F5344CB8AC3E}">
        <p14:creationId xmlns:p14="http://schemas.microsoft.com/office/powerpoint/2010/main" val="2464599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8D1540C-31EA-47A9-A90C-4BDDBD5A8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09" y="702729"/>
            <a:ext cx="4744548" cy="276412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2F3A61D-4F54-4780-9112-1487D9952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9" y="3858949"/>
            <a:ext cx="4744548" cy="2089294"/>
          </a:xfrm>
          <a:prstGeom prst="rect">
            <a:avLst/>
          </a:prstGeom>
        </p:spPr>
      </p:pic>
      <p:sp>
        <p:nvSpPr>
          <p:cNvPr id="8" name="Text 27">
            <a:extLst>
              <a:ext uri="{FF2B5EF4-FFF2-40B4-BE49-F238E27FC236}">
                <a16:creationId xmlns:a16="http://schemas.microsoft.com/office/drawing/2014/main" id="{8E6D7085-9759-442D-92BB-EA4B9A8E7318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25</a:t>
            </a:r>
            <a:endParaRPr lang="en-US" sz="9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68C862-5656-4553-ADEF-AFA4C0A53767}"/>
              </a:ext>
            </a:extLst>
          </p:cNvPr>
          <p:cNvSpPr/>
          <p:nvPr/>
        </p:nvSpPr>
        <p:spPr>
          <a:xfrm>
            <a:off x="2276636" y="33339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財產設備明細表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99FDF3-BE64-4967-BD2B-26CB4C3E0D62}"/>
              </a:ext>
            </a:extLst>
          </p:cNvPr>
          <p:cNvSpPr/>
          <p:nvPr/>
        </p:nvSpPr>
        <p:spPr>
          <a:xfrm>
            <a:off x="2161219" y="348961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可借用設備明細表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967964-1767-43F6-8479-383CDCEEFB2F}"/>
              </a:ext>
            </a:extLst>
          </p:cNvPr>
          <p:cNvSpPr/>
          <p:nvPr/>
        </p:nvSpPr>
        <p:spPr>
          <a:xfrm>
            <a:off x="5892800" y="494489"/>
            <a:ext cx="6096000" cy="3094822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2A8FF"/>
                </a:solidFill>
                <a:latin typeface="Consolas" panose="020B0609020204030204" pitchFamily="49" charset="0"/>
              </a:rPr>
              <a:t>ASSET_DETAIL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asset_id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UNIQUE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fund_source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acquired_date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DATE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acquired_cost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lifespan_years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custodian_id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ON DELETE CASCADE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custodian_id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A5D6FF"/>
                </a:solidFill>
                <a:latin typeface="Consolas" panose="020B0609020204030204" pitchFamily="49" charset="0"/>
              </a:rPr>
              <a:t>"USER"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25F707-8EFF-4BC3-9691-BE96FC53A18F}"/>
              </a:ext>
            </a:extLst>
          </p:cNvPr>
          <p:cNvSpPr/>
          <p:nvPr/>
        </p:nvSpPr>
        <p:spPr>
          <a:xfrm>
            <a:off x="5892800" y="3963067"/>
            <a:ext cx="6096000" cy="2171492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2A8FF"/>
                </a:solidFill>
                <a:latin typeface="Consolas" panose="020B0609020204030204" pitchFamily="49" charset="0"/>
              </a:rPr>
              <a:t>REUSABLE_EQUIPMENT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specification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255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quantity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is_borrowable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BOOLEAN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TRUE,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need_return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BOOLEAN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TRUE,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ON DELETE CASCADE</a:t>
            </a:r>
            <a:endParaRPr lang="en-US" altLang="zh-TW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073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EC0FDD4-3614-4728-819B-574976DF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09" y="739448"/>
            <a:ext cx="4747643" cy="17591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43ECABD-F768-441A-AB79-8EEEB35C3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8" y="3440901"/>
            <a:ext cx="4747643" cy="2429645"/>
          </a:xfrm>
          <a:prstGeom prst="rect">
            <a:avLst/>
          </a:prstGeom>
        </p:spPr>
      </p:pic>
      <p:sp>
        <p:nvSpPr>
          <p:cNvPr id="8" name="Text 27">
            <a:extLst>
              <a:ext uri="{FF2B5EF4-FFF2-40B4-BE49-F238E27FC236}">
                <a16:creationId xmlns:a16="http://schemas.microsoft.com/office/drawing/2014/main" id="{E74847D6-D37D-4435-8D04-D419B3E63758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26</a:t>
            </a:r>
            <a:endParaRPr lang="en-US" sz="9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83979A-D853-4F80-8029-0F32D36CE627}"/>
              </a:ext>
            </a:extLst>
          </p:cNvPr>
          <p:cNvSpPr/>
          <p:nvPr/>
        </p:nvSpPr>
        <p:spPr>
          <a:xfrm>
            <a:off x="2278182" y="39391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耗材明細資料表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018566-2C84-47AF-B56E-C3B9CD00B6FD}"/>
              </a:ext>
            </a:extLst>
          </p:cNvPr>
          <p:cNvSpPr/>
          <p:nvPr/>
        </p:nvSpPr>
        <p:spPr>
          <a:xfrm>
            <a:off x="2278181" y="305967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耗材領用紀錄表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7744CD-58D8-4765-9A22-A788A01531D3}"/>
              </a:ext>
            </a:extLst>
          </p:cNvPr>
          <p:cNvSpPr/>
          <p:nvPr/>
        </p:nvSpPr>
        <p:spPr>
          <a:xfrm>
            <a:off x="5994401" y="557118"/>
            <a:ext cx="6096000" cy="194065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2A8FF"/>
                </a:solidFill>
                <a:latin typeface="Consolas" panose="020B0609020204030204" pitchFamily="49" charset="0"/>
              </a:rPr>
              <a:t>CONSUMABLE_DETAIL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stock_quantity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min_stock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unit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ON DELETE CASCADE</a:t>
            </a:r>
            <a:endParaRPr lang="en-US" altLang="zh-TW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AB9415-122A-49B5-AD55-5069E0C6B29C}"/>
              </a:ext>
            </a:extLst>
          </p:cNvPr>
          <p:cNvSpPr/>
          <p:nvPr/>
        </p:nvSpPr>
        <p:spPr>
          <a:xfrm>
            <a:off x="5994401" y="3136247"/>
            <a:ext cx="6096000" cy="286398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2A8FF"/>
                </a:solidFill>
                <a:latin typeface="Consolas" panose="020B0609020204030204" pitchFamily="49" charset="0"/>
              </a:rPr>
              <a:t>CONSUME_RECORD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record_id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consume_time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amount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purpose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255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A5D6FF"/>
                </a:solidFill>
                <a:latin typeface="Consolas" panose="020B0609020204030204" pitchFamily="49" charset="0"/>
              </a:rPr>
              <a:t>"USER"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574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C8D02CC-58F0-439E-ACA2-FDEF3AE0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73" y="2034846"/>
            <a:ext cx="4747643" cy="2774264"/>
          </a:xfrm>
          <a:prstGeom prst="rect">
            <a:avLst/>
          </a:prstGeom>
        </p:spPr>
      </p:pic>
      <p:sp>
        <p:nvSpPr>
          <p:cNvPr id="7" name="Text 27">
            <a:extLst>
              <a:ext uri="{FF2B5EF4-FFF2-40B4-BE49-F238E27FC236}">
                <a16:creationId xmlns:a16="http://schemas.microsoft.com/office/drawing/2014/main" id="{AA16E369-8907-42B7-BB78-108B8458B0BF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27</a:t>
            </a:r>
            <a:endParaRPr lang="en-US" sz="9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2339A1-916A-4F6C-B58E-B9557EB6F712}"/>
              </a:ext>
            </a:extLst>
          </p:cNvPr>
          <p:cNvSpPr/>
          <p:nvPr/>
        </p:nvSpPr>
        <p:spPr>
          <a:xfrm>
            <a:off x="2007247" y="166391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設備借用紀錄表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7F86D5-5E5E-4938-8087-E5DFD77CA310}"/>
              </a:ext>
            </a:extLst>
          </p:cNvPr>
          <p:cNvSpPr/>
          <p:nvPr/>
        </p:nvSpPr>
        <p:spPr>
          <a:xfrm>
            <a:off x="5562327" y="1990871"/>
            <a:ext cx="6096000" cy="3094822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2A8FF"/>
                </a:solidFill>
                <a:latin typeface="Consolas" panose="020B0609020204030204" pitchFamily="49" charset="0"/>
              </a:rPr>
              <a:t>BORROW_RECORD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record_id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borrow_time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expected_return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actual_return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status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A5D6FF"/>
                </a:solidFill>
                <a:latin typeface="Consolas" panose="020B0609020204030204" pitchFamily="49" charset="0"/>
              </a:rPr>
              <a:t>"USER"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556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7187AB-0E0A-4F63-BA7E-310B165F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02" y="793335"/>
            <a:ext cx="4743518" cy="4803132"/>
          </a:xfrm>
          <a:prstGeom prst="rect">
            <a:avLst/>
          </a:prstGeom>
        </p:spPr>
      </p:pic>
      <p:sp>
        <p:nvSpPr>
          <p:cNvPr id="6" name="Text 27">
            <a:extLst>
              <a:ext uri="{FF2B5EF4-FFF2-40B4-BE49-F238E27FC236}">
                <a16:creationId xmlns:a16="http://schemas.microsoft.com/office/drawing/2014/main" id="{7C06551E-8D57-4F25-8D25-4D7D3A8FDFC4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28</a:t>
            </a:r>
            <a:endParaRPr lang="en-US" sz="9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830433-BE5B-4512-8C7B-801299051FC8}"/>
              </a:ext>
            </a:extLst>
          </p:cNvPr>
          <p:cNvSpPr/>
          <p:nvPr/>
        </p:nvSpPr>
        <p:spPr>
          <a:xfrm>
            <a:off x="2072914" y="42400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設備維修工單表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52DFBE-6D9F-4473-BE2C-FBA25A9E91B5}"/>
              </a:ext>
            </a:extLst>
          </p:cNvPr>
          <p:cNvSpPr/>
          <p:nvPr/>
        </p:nvSpPr>
        <p:spPr>
          <a:xfrm>
            <a:off x="5851358" y="521268"/>
            <a:ext cx="6096000" cy="5633978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2A8FF"/>
                </a:solidFill>
                <a:latin typeface="Consolas" panose="020B0609020204030204" pitchFamily="49" charset="0"/>
              </a:rPr>
              <a:t>MAINTENANCE_TICKET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ticket_id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reporter_id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handler_id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vendor_id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repair_time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CURRENT_TIMESTAMP,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issue_desc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maint_status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repair_cost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resolved_time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replaced_parts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255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next_maint_date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DATE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result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reporter_id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A5D6FF"/>
                </a:solidFill>
                <a:latin typeface="Consolas" panose="020B0609020204030204" pitchFamily="49" charset="0"/>
              </a:rPr>
              <a:t>"USER"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handler_id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A5D6FF"/>
                </a:solidFill>
                <a:latin typeface="Consolas" panose="020B0609020204030204" pitchFamily="49" charset="0"/>
              </a:rPr>
              <a:t>"USER"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vendor_id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VENDOR(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vendor_id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979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E151D21-8D4E-4F5C-91B4-077D9821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68" y="1656827"/>
            <a:ext cx="4747401" cy="2754306"/>
          </a:xfrm>
          <a:prstGeom prst="rect">
            <a:avLst/>
          </a:prstGeom>
        </p:spPr>
      </p:pic>
      <p:sp>
        <p:nvSpPr>
          <p:cNvPr id="5" name="Text 27">
            <a:extLst>
              <a:ext uri="{FF2B5EF4-FFF2-40B4-BE49-F238E27FC236}">
                <a16:creationId xmlns:a16="http://schemas.microsoft.com/office/drawing/2014/main" id="{CA46CF9A-2E0A-4928-B599-52963E81FA7D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altLang="zh-TW" sz="900" dirty="0"/>
              <a:t>29</a:t>
            </a:r>
            <a:endParaRPr lang="en-US" sz="9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61C471-D5DB-4D79-B1F5-F548FDCF3F55}"/>
              </a:ext>
            </a:extLst>
          </p:cNvPr>
          <p:cNvSpPr/>
          <p:nvPr/>
        </p:nvSpPr>
        <p:spPr>
          <a:xfrm>
            <a:off x="1827089" y="128589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物品狀態異動紀錄表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AB22CF-E58A-427A-9BFA-75CFFF9CC608}"/>
              </a:ext>
            </a:extLst>
          </p:cNvPr>
          <p:cNvSpPr/>
          <p:nvPr/>
        </p:nvSpPr>
        <p:spPr>
          <a:xfrm>
            <a:off x="5718048" y="1470560"/>
            <a:ext cx="6096000" cy="332565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2A8FF"/>
                </a:solidFill>
                <a:latin typeface="Consolas" panose="020B0609020204030204" pitchFamily="49" charset="0"/>
              </a:rPr>
              <a:t>STATUS_HISTORY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log_id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operator_id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change_time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CURRENT_TIMESTAMP,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old_status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new_status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reason </a:t>
            </a:r>
            <a:r>
              <a:rPr lang="en-US" altLang="zh-TW" dirty="0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B5CEA8"/>
                </a:solidFill>
                <a:latin typeface="Consolas" panose="020B0609020204030204" pitchFamily="49" charset="0"/>
              </a:rPr>
              <a:t>255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operator_id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A5D6FF"/>
                </a:solidFill>
                <a:latin typeface="Consolas" panose="020B0609020204030204" pitchFamily="49" charset="0"/>
              </a:rPr>
              <a:t>"USER"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 dirty="0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38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51C8D54-7314-4FAC-8392-6353FE37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50"/>
            <a:ext cx="12192000" cy="5905500"/>
          </a:xfrm>
          <a:prstGeom prst="rect">
            <a:avLst/>
          </a:prstGeom>
        </p:spPr>
      </p:pic>
      <p:sp>
        <p:nvSpPr>
          <p:cNvPr id="4" name="Text 27">
            <a:extLst>
              <a:ext uri="{FF2B5EF4-FFF2-40B4-BE49-F238E27FC236}">
                <a16:creationId xmlns:a16="http://schemas.microsoft.com/office/drawing/2014/main" id="{8E8E54CA-22B3-4E4F-8DC9-A5FAE3895134}"/>
              </a:ext>
            </a:extLst>
          </p:cNvPr>
          <p:cNvSpPr/>
          <p:nvPr/>
        </p:nvSpPr>
        <p:spPr>
          <a:xfrm>
            <a:off x="11265408" y="6506919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75765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AEF3B69-9042-188C-DE22-6CF21A0EF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31</a:t>
            </a:fld>
            <a:endParaRPr lang="zh-TW" altLang="en-US" dirty="0"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F185D73-B43A-A83D-86CD-149356D7BDBD}"/>
              </a:ext>
            </a:extLst>
          </p:cNvPr>
          <p:cNvSpPr txBox="1"/>
          <p:nvPr/>
        </p:nvSpPr>
        <p:spPr>
          <a:xfrm>
            <a:off x="342899" y="252664"/>
            <a:ext cx="79889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參考資料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r>
              <a:rPr lang="zh-TW" altLang="en-US" dirty="0"/>
              <a:t>虎科大學務處器材借用系統</a:t>
            </a:r>
          </a:p>
          <a:p>
            <a:r>
              <a:rPr lang="en-US" altLang="zh-TW" dirty="0">
                <a:hlinkClick r:id="rId2"/>
              </a:rPr>
              <a:t>https://eqapp.nfu.edu.tw/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虎科大資工系教室借用系統</a:t>
            </a:r>
            <a:endParaRPr lang="en-US" altLang="zh-TW" dirty="0"/>
          </a:p>
          <a:p>
            <a:r>
              <a:rPr lang="en-US" altLang="zh-TW" dirty="0"/>
              <a:t>https://csieoffice1.nfu.edu.tw/RoomManager/index.php/Home</a:t>
            </a:r>
          </a:p>
          <a:p>
            <a:endParaRPr lang="en-US" altLang="zh-TW" dirty="0"/>
          </a:p>
          <a:p>
            <a:r>
              <a:rPr lang="zh-TW" altLang="en-US" dirty="0"/>
              <a:t>虎科大學務處活動場地借用系統</a:t>
            </a:r>
          </a:p>
          <a:p>
            <a:r>
              <a:rPr lang="en-US" altLang="zh-TW" dirty="0">
                <a:hlinkClick r:id="rId3"/>
              </a:rPr>
              <a:t>https://placeapp.nfu.edu.tw/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9249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98555">
            <a:off x="6906477" y="1056580"/>
            <a:ext cx="7499966" cy="5536338"/>
          </a:xfrm>
          <a:custGeom>
            <a:avLst/>
            <a:gdLst/>
            <a:ahLst/>
            <a:cxnLst/>
            <a:rect l="l" t="t" r="r" b="b"/>
            <a:pathLst>
              <a:path w="12791303" h="9442307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Freeform 3"/>
          <p:cNvSpPr/>
          <p:nvPr/>
        </p:nvSpPr>
        <p:spPr>
          <a:xfrm rot="-10659522">
            <a:off x="-771064" y="-836626"/>
            <a:ext cx="4011843" cy="2399811"/>
          </a:xfrm>
          <a:custGeom>
            <a:avLst/>
            <a:gdLst/>
            <a:ahLst/>
            <a:cxnLst/>
            <a:rect l="l" t="t" r="r" b="b"/>
            <a:pathLst>
              <a:path w="6017764" h="3599717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616014" y="3459308"/>
            <a:ext cx="3144654" cy="4167613"/>
          </a:xfrm>
          <a:custGeom>
            <a:avLst/>
            <a:gdLst/>
            <a:ahLst/>
            <a:cxnLst/>
            <a:rect l="l" t="t" r="r" b="b"/>
            <a:pathLst>
              <a:path w="4716981" h="6251420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577637" y="1644130"/>
            <a:ext cx="6448591" cy="3949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97"/>
              </a:lnSpc>
            </a:pPr>
            <a:r>
              <a:rPr lang="en-US" sz="13700" b="1" spc="-769" dirty="0">
                <a:solidFill>
                  <a:srgbClr val="424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 Bold"/>
                <a:sym typeface="Noto Sans T Chinese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92679" y="4414426"/>
            <a:ext cx="2333549" cy="82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4"/>
              </a:lnSpc>
            </a:pPr>
            <a:r>
              <a:rPr lang="en-US" sz="2400" spc="-146">
                <a:solidFill>
                  <a:srgbClr val="424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912</TotalTime>
  <Words>3053</Words>
  <Application>Microsoft Office PowerPoint</Application>
  <PresentationFormat>寬螢幕</PresentationFormat>
  <Paragraphs>563</Paragraphs>
  <Slides>32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8" baseType="lpstr">
      <vt:lpstr>微軟正黑體</vt:lpstr>
      <vt:lpstr>微軟正黑體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G05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設備管理與維護系統（以實驗室為例）</dc:title>
  <dc:subject>資料庫系統 期末專題 Part I</dc:subject>
  <dc:creator>OpenAI</dc:creator>
  <cp:lastModifiedBy>MIC_LAB NFU</cp:lastModifiedBy>
  <cp:revision>200</cp:revision>
  <dcterms:created xsi:type="dcterms:W3CDTF">2026-04-26T08:24:12Z</dcterms:created>
  <dcterms:modified xsi:type="dcterms:W3CDTF">2026-06-02T15:49:15Z</dcterms:modified>
</cp:coreProperties>
</file>