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286" r:id="rId5"/>
    <p:sldId id="287" r:id="rId6"/>
    <p:sldId id="258" r:id="rId7"/>
    <p:sldId id="290" r:id="rId8"/>
    <p:sldId id="292" r:id="rId9"/>
    <p:sldId id="293" r:id="rId10"/>
    <p:sldId id="294" r:id="rId11"/>
    <p:sldId id="295" r:id="rId12"/>
    <p:sldId id="296" r:id="rId13"/>
    <p:sldId id="297" r:id="rId14"/>
    <p:sldId id="306" r:id="rId15"/>
    <p:sldId id="299" r:id="rId16"/>
    <p:sldId id="300" r:id="rId17"/>
    <p:sldId id="302" r:id="rId18"/>
    <p:sldId id="307" r:id="rId19"/>
    <p:sldId id="309" r:id="rId20"/>
    <p:sldId id="314" r:id="rId21"/>
    <p:sldId id="310" r:id="rId22"/>
    <p:sldId id="327" r:id="rId23"/>
    <p:sldId id="311" r:id="rId24"/>
    <p:sldId id="312" r:id="rId25"/>
    <p:sldId id="326" r:id="rId26"/>
    <p:sldId id="313" r:id="rId27"/>
    <p:sldId id="325" r:id="rId28"/>
    <p:sldId id="328" r:id="rId29"/>
    <p:sldId id="335" r:id="rId30"/>
    <p:sldId id="336" r:id="rId31"/>
    <p:sldId id="30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15" r:id="rId40"/>
    <p:sldId id="332" r:id="rId41"/>
    <p:sldId id="334" r:id="rId42"/>
    <p:sldId id="331" r:id="rId43"/>
    <p:sldId id="330" r:id="rId44"/>
    <p:sldId id="337" r:id="rId45"/>
    <p:sldId id="333" r:id="rId46"/>
    <p:sldId id="338" r:id="rId47"/>
    <p:sldId id="340" r:id="rId48"/>
    <p:sldId id="341" r:id="rId49"/>
    <p:sldId id="342" r:id="rId50"/>
    <p:sldId id="343" r:id="rId51"/>
    <p:sldId id="344" r:id="rId52"/>
    <p:sldId id="345" r:id="rId53"/>
    <p:sldId id="348" r:id="rId54"/>
    <p:sldId id="349" r:id="rId55"/>
    <p:sldId id="350" r:id="rId56"/>
    <p:sldId id="351" r:id="rId57"/>
    <p:sldId id="352" r:id="rId58"/>
    <p:sldId id="353" r:id="rId59"/>
    <p:sldId id="323" r:id="rId60"/>
    <p:sldId id="288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55F"/>
    <a:srgbClr val="776B61"/>
    <a:srgbClr val="FFFFFF"/>
    <a:srgbClr val="E6DDEF"/>
    <a:srgbClr val="EDE6DF"/>
    <a:srgbClr val="B76251"/>
    <a:srgbClr val="DDE7D8"/>
    <a:srgbClr val="9AB78B"/>
    <a:srgbClr val="89AEC9"/>
    <a:srgbClr val="A0B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FD318-3E85-49F0-AFBB-AF0079971FA7}" v="192" dt="2026-06-09T17:50:59.944"/>
    <p1510:client id="{946D3B96-7B4E-4119-9DE3-8D8AD4E79425}" v="1081" dt="2026-06-09T20:48:48.230"/>
    <p1510:client id="{9DA125A7-AF56-466A-A6BB-E50948A12936}" v="1364" dt="2026-06-09T21:46:56.918"/>
    <p1510:client id="{A5032063-8433-4DD7-9693-437FDE21209C}" v="2244" dt="2026-06-09T21:18:27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BE6297E-9269-40CC-82A3-4071A20778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C10915-2D7E-47F7-B825-B02946BA54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A448-9036-4014-BC64-AC9466AAC4A4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D48D28-1C69-4BFB-A8AC-AC4AFAEFFD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549B96-D402-4C29-B08B-5FB7E98E93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4EB42-A537-4A89-979B-55DC3571A6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979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80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17BC-1733-0E9E-F710-4888FA8F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14A03-A06D-8146-52E0-D8015155D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2CCD9-0067-B383-D5C0-0CF07472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C1027-6647-5F9C-8C45-057A37CAB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15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9EE7-0A47-8CFD-2215-F8EA4BC8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6E240-3E21-7EC0-796B-EA9891F91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68319-3FC7-1E44-B873-52D8E24CC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3D9E-2495-FBC0-7FD9-B22790C98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58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EBE9-0185-22C8-1362-E487B60C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B711F-CD3E-6DB0-182B-0DABAE8DC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039BC-F969-6459-143D-000E205AD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90B-F0CC-210F-3412-D8D999946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1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CCD1-F291-2DCE-7760-AC6D4955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974B0-734C-CB67-D91C-CE6BD0323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13F5E-47B9-C11C-85BA-7ABFC5B02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27892-28E2-DB32-C88E-52AE44B54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1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EB24-5002-3F14-9618-3CD360171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5A4E8-0EB6-D923-C534-0309BE080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7FC91-533B-9D81-D5CF-33D9CE646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4FD01-775F-C831-3605-3FAC8B275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23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459F-72A9-0896-71F4-3AD9EEE3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26237-333E-9381-F08B-FB91DE76F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D34F6-E118-6E40-877B-FAE4128D9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F5683-C887-B5E4-FDA3-E30885297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38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D27CE-E175-7766-CA9C-7E9BA93F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7B026-4323-C688-9CE8-3D1EC2E61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D7E6F-7D17-DD57-97A3-9947BA560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46F8A-DCCB-B912-F316-1AA13070F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62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F19B-B85F-1984-40EA-4FD8F377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ACA81-6140-4F9E-9733-0A29564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FD2CB-837D-BC68-9D85-A42252DD6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C6C4-90A9-3478-3441-FCC1E015A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12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73D2A-A4E2-9BB7-691E-7F2BD915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43469-1AB3-1DC4-D7D6-30F1EDB7E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63C73-8CD2-8CC8-C60B-F53E02F2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487AC-E4C1-B912-11D0-28740192F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84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E413-3328-557E-0F1A-BC8013C4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9D466-FAB2-C837-4258-0A1787636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271A4-7BBC-425A-4EF3-CFE397254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93827-B747-BEEF-9B01-58C2B6CD0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6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58B4-11DA-F5CC-CB7A-2E586EED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CC91C-A3BD-BD2F-36E0-F1A20C388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A093C-C9F9-CB27-BF18-2FBF891C1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5E9C3-1DE4-50A4-D6FD-7C170AD2A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60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923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923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142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C861-A55B-E526-D148-BE96255E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9A881F-24E8-A586-EF3C-ED4BF849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B25124-3F25-86FB-C1A0-2C3A21AEC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34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72AB-4FAF-C554-2033-0F363D7A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C08030B-8D87-D46F-208E-69933578A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5ACF131-36D7-68BB-282F-F27285D1E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548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F22D-9886-64C5-9F9D-CDB6D6B9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93A4AA-4BCD-F74F-AF18-778AA7FA5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C963047-CC80-96A4-9559-F24D00B8C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972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5562-53EB-ABC0-1853-94C80B21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C90B8-BA51-1AE4-6B37-62EB5237D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5950-0D50-157E-1AFF-D01287E8E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9330-FFE3-3342-B4CB-6C8FD91C0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44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724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改了：</a:t>
            </a:r>
            <a:r>
              <a:rPr lang="zh-TW" altLang="zh-TW"/>
              <a:t>acquired_cost INT CHECK (acquired_cost &gt;= 3000),</a:t>
            </a:r>
            <a:br>
              <a:rPr lang="zh-TW" altLang="zh-TW"/>
            </a:br>
            <a:r>
              <a:rPr lang="zh-TW" altLang="zh-TW"/>
              <a:t>lifespan_years INT CHECK (lifespan_years &gt; 0),</a:t>
            </a:r>
            <a:br>
              <a:rPr lang="zh-TW" altLang="zh-TW"/>
            </a:br>
            <a:r>
              <a:rPr lang="zh-TW" altLang="zh-TW"/>
              <a:t>custodian_id VARCHAR(50) NOT NULL,</a:t>
            </a:r>
            <a:endParaRPr lang="en-US" altLang="zh-TW"/>
          </a:p>
          <a:p>
            <a:endParaRPr lang="en-US" altLang="zh-TW"/>
          </a:p>
          <a:p>
            <a:r>
              <a:rPr lang="en-US" altLang="zh-TW"/>
              <a:t>specification VARCHAR(255) NOT NULL,</a:t>
            </a:r>
          </a:p>
          <a:p>
            <a:r>
              <a:rPr lang="en-US" altLang="zh-TW"/>
              <a:t>quantity INT DEFAULT 0 CHECK (quantity &gt;= 0),</a:t>
            </a:r>
          </a:p>
          <a:p>
            <a:r>
              <a:rPr lang="en-US" altLang="zh-TW" err="1"/>
              <a:t>is_borrowable</a:t>
            </a:r>
            <a:r>
              <a:rPr lang="en-US" altLang="zh-TW"/>
              <a:t> BOOLEAN NOT NULL DEFAULT TRUE,</a:t>
            </a:r>
          </a:p>
          <a:p>
            <a:r>
              <a:rPr lang="en-US" altLang="zh-TW" err="1"/>
              <a:t>need_return</a:t>
            </a:r>
            <a:r>
              <a:rPr lang="en-US" altLang="zh-TW"/>
              <a:t> BOOLEAN NOT NULL DEFAULT TRUE,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21720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改了：</a:t>
            </a:r>
            <a:r>
              <a:rPr lang="en-US" altLang="zh-TW" err="1"/>
              <a:t>stock_quantity</a:t>
            </a:r>
            <a:r>
              <a:rPr lang="en-US" altLang="zh-TW"/>
              <a:t> INT DEFAULT 0 CHECK (</a:t>
            </a:r>
            <a:r>
              <a:rPr lang="en-US" altLang="zh-TW" err="1"/>
              <a:t>stock_quantity</a:t>
            </a:r>
            <a:r>
              <a:rPr lang="en-US" altLang="zh-TW"/>
              <a:t> &gt;= 0),</a:t>
            </a:r>
          </a:p>
          <a:p>
            <a:r>
              <a:rPr lang="en-US" altLang="zh-TW" err="1"/>
              <a:t>min_stock</a:t>
            </a:r>
            <a:r>
              <a:rPr lang="en-US" altLang="zh-TW"/>
              <a:t> INT DEFAULT 0 CHECK (</a:t>
            </a:r>
            <a:r>
              <a:rPr lang="en-US" altLang="zh-TW" err="1"/>
              <a:t>min_stock</a:t>
            </a:r>
            <a:r>
              <a:rPr lang="en-US" altLang="zh-TW"/>
              <a:t> &gt;= 0),</a:t>
            </a:r>
          </a:p>
          <a:p>
            <a:r>
              <a:rPr lang="en-US" altLang="zh-TW"/>
              <a:t>unit VARCHAR(20) NOT NULL,</a:t>
            </a:r>
          </a:p>
          <a:p>
            <a:endParaRPr lang="en-US" altLang="zh-TW"/>
          </a:p>
          <a:p>
            <a:r>
              <a:rPr lang="en-US" altLang="zh-TW"/>
              <a:t>FOREIGN KEY (</a:t>
            </a:r>
            <a:r>
              <a:rPr lang="en-US" altLang="zh-TW" err="1"/>
              <a:t>internal_id</a:t>
            </a:r>
            <a:r>
              <a:rPr lang="en-US" altLang="zh-TW"/>
              <a:t>) REFERENCES CONSUMABLE_DETAIL(</a:t>
            </a:r>
            <a:r>
              <a:rPr lang="en-US" altLang="zh-TW" err="1"/>
              <a:t>internal_id</a:t>
            </a:r>
            <a:r>
              <a:rPr lang="en-US" altLang="zh-TW"/>
              <a:t>)</a:t>
            </a:r>
          </a:p>
          <a:p>
            <a:r>
              <a:rPr lang="zh-TW" altLang="en-US"/>
              <a:t>「最後還是會找回 </a:t>
            </a:r>
            <a:r>
              <a:rPr lang="en-US" altLang="zh-TW"/>
              <a:t>ITEM </a:t>
            </a:r>
            <a:r>
              <a:rPr lang="zh-TW" altLang="en-US"/>
              <a:t>表」是對的，但外鍵寫到哪一張表，會決定資料庫能不能阻止錯的資料進來。</a:t>
            </a:r>
          </a:p>
        </p:txBody>
      </p:sp>
    </p:spTree>
    <p:extLst>
      <p:ext uri="{BB962C8B-B14F-4D97-AF65-F5344CB8AC3E}">
        <p14:creationId xmlns:p14="http://schemas.microsoft.com/office/powerpoint/2010/main" val="12261185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改了：</a:t>
            </a:r>
            <a:r>
              <a:rPr lang="zh-TW" altLang="zh-TW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 VARCHAR(50) NOT NULL CHECK (status IN ('借用中', '已歸還', '逾期', '取消')),</a:t>
            </a:r>
          </a:p>
          <a:p>
            <a:r>
              <a:rPr lang="zh-TW" altLang="zh-TW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(expected_return IS NULL OR expected_return &gt; borrow_time),</a:t>
            </a:r>
          </a:p>
          <a:p>
            <a:r>
              <a:rPr lang="zh-TW" altLang="zh-TW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(actual_return IS NULL OR actual_return &gt;= borrow_time),</a:t>
            </a:r>
            <a:endParaRPr lang="en-US" altLang="zh-TW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/>
              <a:t>符合第 20 頁的時序限制</a:t>
            </a:r>
            <a:r>
              <a:rPr lang="zh-TW" altLang="en-US"/>
              <a:t>。</a:t>
            </a:r>
            <a:endParaRPr lang="zh-TW" altLang="zh-TW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721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改了：</a:t>
            </a:r>
            <a:r>
              <a:rPr lang="en-US" altLang="zh-TW" err="1"/>
              <a:t>issue_desc</a:t>
            </a:r>
            <a:r>
              <a:rPr lang="en-US" altLang="zh-TW"/>
              <a:t> TEXT NOT NULL,</a:t>
            </a:r>
          </a:p>
          <a:p>
            <a:r>
              <a:rPr lang="en-US" altLang="zh-TW" err="1"/>
              <a:t>maint_status</a:t>
            </a:r>
            <a:r>
              <a:rPr lang="en-US" altLang="zh-TW"/>
              <a:t> VARCHAR(50) NOT NULL</a:t>
            </a:r>
          </a:p>
          <a:p>
            <a:r>
              <a:rPr lang="en-US" altLang="zh-TW"/>
              <a:t>    CHECK (</a:t>
            </a:r>
            <a:r>
              <a:rPr lang="en-US" altLang="zh-TW" err="1"/>
              <a:t>maint_status</a:t>
            </a:r>
            <a:r>
              <a:rPr lang="en-US" altLang="zh-TW"/>
              <a:t> IN ('</a:t>
            </a:r>
            <a:r>
              <a:rPr lang="zh-TW" altLang="en-US"/>
              <a:t>待處理</a:t>
            </a:r>
            <a:r>
              <a:rPr lang="en-US" altLang="zh-TW"/>
              <a:t>', '</a:t>
            </a:r>
            <a:r>
              <a:rPr lang="zh-TW" altLang="en-US"/>
              <a:t>處理中</a:t>
            </a:r>
            <a:r>
              <a:rPr lang="en-US" altLang="zh-TW"/>
              <a:t>', '</a:t>
            </a:r>
            <a:r>
              <a:rPr lang="zh-TW" altLang="en-US"/>
              <a:t>已完成</a:t>
            </a:r>
            <a:r>
              <a:rPr lang="en-US" altLang="zh-TW"/>
              <a:t>', '</a:t>
            </a:r>
            <a:r>
              <a:rPr lang="zh-TW" altLang="en-US"/>
              <a:t>取消</a:t>
            </a:r>
            <a:r>
              <a:rPr lang="en-US" altLang="zh-TW"/>
              <a:t>')),</a:t>
            </a:r>
          </a:p>
          <a:p>
            <a:r>
              <a:rPr lang="en-US" altLang="zh-TW" err="1"/>
              <a:t>repair_cost</a:t>
            </a:r>
            <a:r>
              <a:rPr lang="en-US" altLang="zh-TW"/>
              <a:t> INT CHECK (</a:t>
            </a:r>
            <a:r>
              <a:rPr lang="en-US" altLang="zh-TW" err="1"/>
              <a:t>repair_cost</a:t>
            </a:r>
            <a:r>
              <a:rPr lang="en-US" altLang="zh-TW"/>
              <a:t> &gt;= 0),</a:t>
            </a:r>
          </a:p>
          <a:p>
            <a:r>
              <a:rPr lang="en-US" altLang="zh-TW"/>
              <a:t>CHECK (</a:t>
            </a:r>
            <a:r>
              <a:rPr lang="en-US" altLang="zh-TW" err="1"/>
              <a:t>resolved_time</a:t>
            </a:r>
            <a:r>
              <a:rPr lang="en-US" altLang="zh-TW"/>
              <a:t> IS NULL OR </a:t>
            </a:r>
            <a:r>
              <a:rPr lang="en-US" altLang="zh-TW" err="1"/>
              <a:t>resolved_time</a:t>
            </a:r>
            <a:r>
              <a:rPr lang="en-US" altLang="zh-TW"/>
              <a:t> &gt;= </a:t>
            </a:r>
            <a:r>
              <a:rPr lang="en-US" altLang="zh-TW" err="1"/>
              <a:t>repair_time</a:t>
            </a:r>
            <a:r>
              <a:rPr lang="en-US" altLang="zh-TW"/>
              <a:t>),</a:t>
            </a:r>
          </a:p>
          <a:p>
            <a:r>
              <a:rPr lang="en-US" altLang="zh-TW"/>
              <a:t>CHECK (</a:t>
            </a:r>
          </a:p>
          <a:p>
            <a:r>
              <a:rPr lang="en-US" altLang="zh-TW"/>
              <a:t>    </a:t>
            </a:r>
            <a:r>
              <a:rPr lang="en-US" altLang="zh-TW" err="1"/>
              <a:t>next_maint_date</a:t>
            </a:r>
            <a:r>
              <a:rPr lang="en-US" altLang="zh-TW"/>
              <a:t> IS NULL</a:t>
            </a:r>
          </a:p>
          <a:p>
            <a:r>
              <a:rPr lang="en-US" altLang="zh-TW"/>
              <a:t>    OR </a:t>
            </a:r>
            <a:r>
              <a:rPr lang="en-US" altLang="zh-TW" err="1"/>
              <a:t>resolved_time</a:t>
            </a:r>
            <a:r>
              <a:rPr lang="en-US" altLang="zh-TW"/>
              <a:t> IS NULL</a:t>
            </a:r>
          </a:p>
          <a:p>
            <a:r>
              <a:rPr lang="en-US" altLang="zh-TW"/>
              <a:t>    OR </a:t>
            </a:r>
            <a:r>
              <a:rPr lang="en-US" altLang="zh-TW" err="1"/>
              <a:t>next_maint_date</a:t>
            </a:r>
            <a:r>
              <a:rPr lang="en-US" altLang="zh-TW"/>
              <a:t> &gt; DATE(</a:t>
            </a:r>
            <a:r>
              <a:rPr lang="en-US" altLang="zh-TW" err="1"/>
              <a:t>resolved_time</a:t>
            </a:r>
            <a:r>
              <a:rPr lang="en-US" altLang="zh-TW"/>
              <a:t>)</a:t>
            </a:r>
          </a:p>
          <a:p>
            <a:r>
              <a:rPr lang="en-US" altLang="zh-TW"/>
              <a:t>)</a:t>
            </a:r>
          </a:p>
          <a:p>
            <a:r>
              <a:rPr lang="zh-TW" altLang="zh-TW"/>
              <a:t>維修狀態、費用、日期限制</a:t>
            </a:r>
            <a:r>
              <a:rPr lang="zh-TW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382070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改了：</a:t>
            </a:r>
            <a:r>
              <a:rPr lang="en-US" altLang="zh-TW" err="1"/>
              <a:t>change_time</a:t>
            </a:r>
            <a:r>
              <a:rPr lang="en-US" altLang="zh-TW"/>
              <a:t> TIMESTAMP NOT NULL DEFAULT CURRENT_TIMESTAMP,</a:t>
            </a:r>
          </a:p>
          <a:p>
            <a:r>
              <a:rPr lang="en-US" altLang="zh-TW" err="1"/>
              <a:t>old_status</a:t>
            </a:r>
            <a:r>
              <a:rPr lang="en-US" altLang="zh-TW"/>
              <a:t> VARCHAR(50) CHECK (</a:t>
            </a:r>
            <a:r>
              <a:rPr lang="en-US" altLang="zh-TW" err="1"/>
              <a:t>old_status</a:t>
            </a:r>
            <a:r>
              <a:rPr lang="en-US" altLang="zh-TW"/>
              <a:t> IN ('</a:t>
            </a:r>
            <a:r>
              <a:rPr lang="zh-TW" altLang="en-US"/>
              <a:t>可用</a:t>
            </a:r>
            <a:r>
              <a:rPr lang="en-US" altLang="zh-TW"/>
              <a:t>', '</a:t>
            </a:r>
            <a:r>
              <a:rPr lang="zh-TW" altLang="en-US"/>
              <a:t>借出中</a:t>
            </a:r>
            <a:r>
              <a:rPr lang="en-US" altLang="zh-TW"/>
              <a:t>', '</a:t>
            </a:r>
            <a:r>
              <a:rPr lang="zh-TW" altLang="en-US"/>
              <a:t>維修中</a:t>
            </a:r>
            <a:r>
              <a:rPr lang="en-US" altLang="zh-TW"/>
              <a:t>', '</a:t>
            </a:r>
            <a:r>
              <a:rPr lang="zh-TW" altLang="en-US"/>
              <a:t>停用</a:t>
            </a:r>
            <a:r>
              <a:rPr lang="en-US" altLang="zh-TW"/>
              <a:t>', '</a:t>
            </a:r>
            <a:r>
              <a:rPr lang="zh-TW" altLang="en-US"/>
              <a:t>報廢</a:t>
            </a:r>
            <a:r>
              <a:rPr lang="en-US" altLang="zh-TW"/>
              <a:t>', '</a:t>
            </a:r>
            <a:r>
              <a:rPr lang="zh-TW" altLang="en-US"/>
              <a:t>遺失</a:t>
            </a:r>
            <a:r>
              <a:rPr lang="en-US" altLang="zh-TW"/>
              <a:t>')),</a:t>
            </a:r>
          </a:p>
          <a:p>
            <a:r>
              <a:rPr lang="en-US" altLang="zh-TW" err="1"/>
              <a:t>new_status</a:t>
            </a:r>
            <a:r>
              <a:rPr lang="en-US" altLang="zh-TW"/>
              <a:t> VARCHAR(50) NOT NULL CHECK (</a:t>
            </a:r>
            <a:r>
              <a:rPr lang="en-US" altLang="zh-TW" err="1"/>
              <a:t>new_status</a:t>
            </a:r>
            <a:r>
              <a:rPr lang="en-US" altLang="zh-TW"/>
              <a:t> IN ('</a:t>
            </a:r>
            <a:r>
              <a:rPr lang="zh-TW" altLang="en-US"/>
              <a:t>可用</a:t>
            </a:r>
            <a:r>
              <a:rPr lang="en-US" altLang="zh-TW"/>
              <a:t>', '</a:t>
            </a:r>
            <a:r>
              <a:rPr lang="zh-TW" altLang="en-US"/>
              <a:t>借出中</a:t>
            </a:r>
            <a:r>
              <a:rPr lang="en-US" altLang="zh-TW"/>
              <a:t>', '</a:t>
            </a:r>
            <a:r>
              <a:rPr lang="zh-TW" altLang="en-US"/>
              <a:t>維修中</a:t>
            </a:r>
            <a:r>
              <a:rPr lang="en-US" altLang="zh-TW"/>
              <a:t>', '</a:t>
            </a:r>
            <a:r>
              <a:rPr lang="zh-TW" altLang="en-US"/>
              <a:t>停用</a:t>
            </a:r>
            <a:r>
              <a:rPr lang="en-US" altLang="zh-TW"/>
              <a:t>', '</a:t>
            </a:r>
            <a:r>
              <a:rPr lang="zh-TW" altLang="en-US"/>
              <a:t>報廢</a:t>
            </a:r>
            <a:r>
              <a:rPr lang="en-US" altLang="zh-TW"/>
              <a:t>', '</a:t>
            </a:r>
            <a:r>
              <a:rPr lang="zh-TW" altLang="en-US"/>
              <a:t>遺失</a:t>
            </a:r>
            <a:r>
              <a:rPr lang="en-US" altLang="zh-TW"/>
              <a:t>')),</a:t>
            </a:r>
          </a:p>
          <a:p>
            <a:r>
              <a:rPr lang="en-US" altLang="zh-TW"/>
              <a:t>reason VARCHAR(255) NOT NULL</a:t>
            </a:r>
          </a:p>
          <a:p>
            <a:r>
              <a:rPr lang="zh-TW" altLang="zh-TW"/>
              <a:t>狀態值與原因限制</a:t>
            </a:r>
            <a:r>
              <a:rPr lang="zh-TW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43923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D5E17E35-82AE-8B6F-6AF7-9D5A17FDC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6428" y="62774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FA32C4C-0BC4-4C0B-B515-D3E7B997DA3C}" type="slidenum">
              <a:rPr lang="zh-TW" altLang="en-US" smtClean="0"/>
              <a:pPr/>
              <a:t>‹#›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1A4827F3-A2C5-1508-73E7-DEAEDF9B1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6428" y="62774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FA32C4C-0BC4-4C0B-B515-D3E7B997DA3C}" type="slidenum">
              <a:rPr lang="zh-TW" altLang="en-US" smtClean="0"/>
              <a:pPr/>
              <a:t>‹#›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D6873905-18EC-BCF3-3E98-BF70D2048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6428" y="62774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FA32C4C-0BC4-4C0B-B515-D3E7B997DA3C}" type="slidenum">
              <a:rPr lang="zh-TW" altLang="en-US" smtClean="0"/>
              <a:pPr/>
              <a:t>‹#›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sieoffice1.nfu.edu.tw/RoomManager/index.php/Home" TargetMode="External"/><Relationship Id="rId2" Type="http://schemas.openxmlformats.org/officeDocument/2006/relationships/hyperlink" Target="https://eqapp.nfu.edu.tw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ceapp.nfu.edu.tw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7753968" y="-1059881"/>
            <a:ext cx="8572563" cy="3288747"/>
          </a:xfrm>
          <a:custGeom>
            <a:avLst/>
            <a:gdLst/>
            <a:ahLst/>
            <a:cxnLst/>
            <a:rect l="l" t="t" r="r" b="b"/>
            <a:pathLst>
              <a:path w="12858845" h="4933121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Freeform 7"/>
          <p:cNvSpPr/>
          <p:nvPr/>
        </p:nvSpPr>
        <p:spPr>
          <a:xfrm rot="1925852">
            <a:off x="-2020475" y="2402771"/>
            <a:ext cx="6257785" cy="7038409"/>
          </a:xfrm>
          <a:custGeom>
            <a:avLst/>
            <a:gdLst/>
            <a:ahLst/>
            <a:cxnLst/>
            <a:rect l="l" t="t" r="r" b="b"/>
            <a:pathLst>
              <a:path w="9386678" h="10557613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567324" y="3248949"/>
            <a:ext cx="10938877" cy="0"/>
          </a:xfrm>
          <a:prstGeom prst="line">
            <a:avLst/>
          </a:prstGeom>
          <a:ln w="9525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6555" y="2140673"/>
            <a:ext cx="10938888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86"/>
              </a:lnSpc>
            </a:pPr>
            <a:r>
              <a:rPr lang="zh-TW" altLang="en-US" sz="7200" b="1" spc="43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設備管理與維護系統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6555" y="4855323"/>
            <a:ext cx="5167755" cy="1116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zh-TW" alt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組別</a:t>
            </a:r>
            <a:r>
              <a:rPr 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：</a:t>
            </a:r>
            <a:r>
              <a:rPr lang="en-US" altLang="zh-TW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G</a:t>
            </a:r>
            <a:r>
              <a:rPr 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05</a:t>
            </a:r>
          </a:p>
          <a:p>
            <a:pPr>
              <a:lnSpc>
                <a:spcPts val="2999"/>
              </a:lnSpc>
            </a:pPr>
            <a:r>
              <a:rPr 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組員：41141205 </a:t>
            </a:r>
            <a:r>
              <a:rPr lang="zh-TW" alt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楊鈞婷  </a:t>
            </a:r>
            <a:r>
              <a:rPr 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41243158</a:t>
            </a:r>
            <a:r>
              <a:rPr lang="zh-TW" alt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葉啓源</a:t>
            </a:r>
            <a:endParaRPr lang="en-US" sz="1999" b="1"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>
              <a:lnSpc>
                <a:spcPts val="2999"/>
              </a:lnSpc>
            </a:pPr>
            <a:r>
              <a:rPr lang="zh-TW" alt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           </a:t>
            </a:r>
            <a:r>
              <a:rPr 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41243165 陳紋誼</a:t>
            </a:r>
            <a:r>
              <a:rPr lang="zh-TW" alt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r>
              <a:rPr 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41243170 </a:t>
            </a:r>
            <a:r>
              <a:rPr lang="zh-TW" altLang="en-US" sz="1999" b="1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陳冠瑜</a:t>
            </a:r>
            <a:endParaRPr lang="en-US" sz="1999" b="1"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3377905"/>
            <a:ext cx="10820400" cy="43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33"/>
              </a:lnSpc>
              <a:spcBef>
                <a:spcPct val="0"/>
              </a:spcBef>
            </a:pPr>
            <a:r>
              <a:rPr lang="zh-TW" altLang="en-US" sz="2666" spc="605"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以系所為例</a:t>
            </a:r>
            <a:endParaRPr lang="en-US" sz="2666" spc="605"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09229" y="292474"/>
            <a:ext cx="3573542" cy="328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zh-TW" altLang="en-US" b="1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資料庫系統  期末專題 </a:t>
            </a:r>
            <a:r>
              <a:rPr lang="en-US" altLang="zh-TW" b="1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Part III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FB3554DD-A5C8-DFF0-7AB2-51D105B81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">
            <a:extLst>
              <a:ext uri="{FF2B5EF4-FFF2-40B4-BE49-F238E27FC236}">
                <a16:creationId xmlns:a16="http://schemas.microsoft.com/office/drawing/2014/main" id="{5E36AFC7-2FA5-CF05-A8F1-0D45EA8A108E}"/>
              </a:ext>
            </a:extLst>
          </p:cNvPr>
          <p:cNvSpPr/>
          <p:nvPr/>
        </p:nvSpPr>
        <p:spPr>
          <a:xfrm rot="1701013">
            <a:off x="8932976" y="-313979"/>
            <a:ext cx="5579263" cy="7347879"/>
          </a:xfrm>
          <a:custGeom>
            <a:avLst/>
            <a:gdLst/>
            <a:ahLst/>
            <a:cxnLst/>
            <a:rect l="l" t="t" r="r" b="b"/>
            <a:pathLst>
              <a:path w="9386678" h="10557613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621DE42-FC3B-226D-F03F-2DCC161CF4DC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DE11A68-CBC7-C5FF-0BBB-6BD929F5A01F}"/>
              </a:ext>
            </a:extLst>
          </p:cNvPr>
          <p:cNvSpPr/>
          <p:nvPr/>
        </p:nvSpPr>
        <p:spPr>
          <a:xfrm>
            <a:off x="777240" y="54864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大綱</a:t>
            </a:r>
            <a:endParaRPr lang="en-US" sz="400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0BF90DF-0D70-A096-4CCE-08E7B0D6C677}"/>
              </a:ext>
            </a:extLst>
          </p:cNvPr>
          <p:cNvSpPr/>
          <p:nvPr/>
        </p:nvSpPr>
        <p:spPr>
          <a:xfrm>
            <a:off x="1105852" y="2057607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0741A6F-4CF4-FBBF-C62A-D792EEE7F067}"/>
              </a:ext>
            </a:extLst>
          </p:cNvPr>
          <p:cNvSpPr/>
          <p:nvPr/>
        </p:nvSpPr>
        <p:spPr>
          <a:xfrm>
            <a:off x="1803225" y="2249631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275A2B-464E-6769-02FC-FA64FB2EE94F}"/>
              </a:ext>
            </a:extLst>
          </p:cNvPr>
          <p:cNvSpPr/>
          <p:nvPr/>
        </p:nvSpPr>
        <p:spPr>
          <a:xfrm>
            <a:off x="2858143" y="2039319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應用情境</a:t>
            </a:r>
            <a:endParaRPr lang="en-US" sz="280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904ED6FA-2BEB-A41D-143D-FE201D52CDA8}"/>
              </a:ext>
            </a:extLst>
          </p:cNvPr>
          <p:cNvSpPr/>
          <p:nvPr/>
        </p:nvSpPr>
        <p:spPr>
          <a:xfrm>
            <a:off x="1105852" y="2843991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0791919-522F-1BAD-47A9-66CA93DA0F56}"/>
              </a:ext>
            </a:extLst>
          </p:cNvPr>
          <p:cNvSpPr/>
          <p:nvPr/>
        </p:nvSpPr>
        <p:spPr>
          <a:xfrm>
            <a:off x="1803225" y="3036015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342E431-A53D-289D-7B08-0A12207B0863}"/>
              </a:ext>
            </a:extLst>
          </p:cNvPr>
          <p:cNvSpPr/>
          <p:nvPr/>
        </p:nvSpPr>
        <p:spPr>
          <a:xfrm>
            <a:off x="2858143" y="2853696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使用案例</a:t>
            </a:r>
            <a:endParaRPr lang="en-US" sz="280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0B967B68-5802-90D5-ABAF-A8FC94AE6F47}"/>
              </a:ext>
            </a:extLst>
          </p:cNvPr>
          <p:cNvSpPr/>
          <p:nvPr/>
        </p:nvSpPr>
        <p:spPr>
          <a:xfrm>
            <a:off x="1105852" y="3630375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978276A3-001E-C916-1B95-CFF14C48BDF1}"/>
              </a:ext>
            </a:extLst>
          </p:cNvPr>
          <p:cNvSpPr/>
          <p:nvPr/>
        </p:nvSpPr>
        <p:spPr>
          <a:xfrm>
            <a:off x="1803225" y="3822399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5969058-9C29-CCC0-134F-70D1E18BA767}"/>
              </a:ext>
            </a:extLst>
          </p:cNvPr>
          <p:cNvSpPr/>
          <p:nvPr/>
        </p:nvSpPr>
        <p:spPr>
          <a:xfrm>
            <a:off x="2858143" y="3640080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系統需求說明</a:t>
            </a:r>
            <a:endParaRPr lang="en-US" sz="280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1241FAE-4DAD-4047-2035-BDDC1CC4C3B7}"/>
              </a:ext>
            </a:extLst>
          </p:cNvPr>
          <p:cNvSpPr/>
          <p:nvPr/>
        </p:nvSpPr>
        <p:spPr>
          <a:xfrm>
            <a:off x="1105852" y="4416759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38C53A42-50F0-2279-D08F-C36F3376B7D9}"/>
              </a:ext>
            </a:extLst>
          </p:cNvPr>
          <p:cNvSpPr/>
          <p:nvPr/>
        </p:nvSpPr>
        <p:spPr>
          <a:xfrm>
            <a:off x="1803225" y="4608783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809E252-B88D-A26A-2500-11F5F538DFAA}"/>
              </a:ext>
            </a:extLst>
          </p:cNvPr>
          <p:cNvSpPr/>
          <p:nvPr/>
        </p:nvSpPr>
        <p:spPr>
          <a:xfrm>
            <a:off x="2858143" y="4426464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完整性限制</a:t>
            </a:r>
            <a:endParaRPr lang="en-US" sz="280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DD2EC9F-AAE8-D392-72F4-71DCF42149E1}"/>
              </a:ext>
            </a:extLst>
          </p:cNvPr>
          <p:cNvSpPr/>
          <p:nvPr/>
        </p:nvSpPr>
        <p:spPr>
          <a:xfrm>
            <a:off x="5837944" y="2050401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43B3B2AA-B5EC-63C0-D1CC-720C82A99979}"/>
              </a:ext>
            </a:extLst>
          </p:cNvPr>
          <p:cNvSpPr/>
          <p:nvPr/>
        </p:nvSpPr>
        <p:spPr>
          <a:xfrm>
            <a:off x="6535317" y="2242425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1FADDED4-0A30-021A-6ADC-8FF51BD253E4}"/>
              </a:ext>
            </a:extLst>
          </p:cNvPr>
          <p:cNvSpPr/>
          <p:nvPr/>
        </p:nvSpPr>
        <p:spPr>
          <a:xfrm>
            <a:off x="7590235" y="2060106"/>
            <a:ext cx="2926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Diagram</a:t>
            </a:r>
            <a:endParaRPr lang="en-US" sz="2800"/>
          </a:p>
        </p:txBody>
      </p:sp>
      <p:sp>
        <p:nvSpPr>
          <p:cNvPr id="26" name="投影片編號版面配置區 25">
            <a:extLst>
              <a:ext uri="{FF2B5EF4-FFF2-40B4-BE49-F238E27FC236}">
                <a16:creationId xmlns:a16="http://schemas.microsoft.com/office/drawing/2014/main" id="{5AFF6135-8BE3-7765-BB22-4683B6C2D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2B00F230-C156-2801-4A37-BFB9C7928906}"/>
              </a:ext>
            </a:extLst>
          </p:cNvPr>
          <p:cNvSpPr/>
          <p:nvPr/>
        </p:nvSpPr>
        <p:spPr>
          <a:xfrm>
            <a:off x="5842397" y="2804420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3AF52FF5-184F-38F6-83EC-DD455A0CBB16}"/>
              </a:ext>
            </a:extLst>
          </p:cNvPr>
          <p:cNvSpPr/>
          <p:nvPr/>
        </p:nvSpPr>
        <p:spPr>
          <a:xfrm>
            <a:off x="6539770" y="2996444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86451223-EC8D-A6F7-D98E-2C91FABD9E3C}"/>
              </a:ext>
            </a:extLst>
          </p:cNvPr>
          <p:cNvSpPr/>
          <p:nvPr/>
        </p:nvSpPr>
        <p:spPr>
          <a:xfrm>
            <a:off x="7594687" y="2814125"/>
            <a:ext cx="398926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 Schema ERD</a:t>
            </a:r>
            <a:endParaRPr lang="en-US" sz="280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2C38FE4B-5C87-9486-C663-B5F1835EAA31}"/>
              </a:ext>
            </a:extLst>
          </p:cNvPr>
          <p:cNvSpPr/>
          <p:nvPr/>
        </p:nvSpPr>
        <p:spPr>
          <a:xfrm>
            <a:off x="5842397" y="3594284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263DF59F-3210-D1A1-893B-DA80206A389E}"/>
              </a:ext>
            </a:extLst>
          </p:cNvPr>
          <p:cNvSpPr/>
          <p:nvPr/>
        </p:nvSpPr>
        <p:spPr>
          <a:xfrm>
            <a:off x="6539770" y="3786308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6E01792D-0D96-5AF8-9B8F-196C96DA31BF}"/>
              </a:ext>
            </a:extLst>
          </p:cNvPr>
          <p:cNvSpPr/>
          <p:nvPr/>
        </p:nvSpPr>
        <p:spPr>
          <a:xfrm>
            <a:off x="7594687" y="3603989"/>
            <a:ext cx="225473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 Schema</a:t>
            </a:r>
            <a:endParaRPr lang="en-US" sz="280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68BA5E9C-AF7B-BC40-D3C4-09C7615D62AF}"/>
              </a:ext>
            </a:extLst>
          </p:cNvPr>
          <p:cNvSpPr/>
          <p:nvPr/>
        </p:nvSpPr>
        <p:spPr>
          <a:xfrm>
            <a:off x="5837944" y="4378530"/>
            <a:ext cx="566928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2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74BD34D8-BF25-D749-0431-90ECEE00B105}"/>
              </a:ext>
            </a:extLst>
          </p:cNvPr>
          <p:cNvSpPr/>
          <p:nvPr/>
        </p:nvSpPr>
        <p:spPr>
          <a:xfrm>
            <a:off x="6535317" y="4570554"/>
            <a:ext cx="731520" cy="0"/>
          </a:xfrm>
          <a:prstGeom prst="line">
            <a:avLst/>
          </a:prstGeom>
          <a:noFill/>
          <a:ln w="1651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TW" altLang="en-US" sz="2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5B4A782D-53C3-785B-9B67-13EE1929D9FA}"/>
              </a:ext>
            </a:extLst>
          </p:cNvPr>
          <p:cNvSpPr/>
          <p:nvPr/>
        </p:nvSpPr>
        <p:spPr>
          <a:xfrm>
            <a:off x="7590234" y="4388235"/>
            <a:ext cx="272571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8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完整性限制實作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1332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4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應用情境</a:t>
            </a:r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6858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500">
                <a:latin typeface="微軟正黑體" panose="020B0604030504040204" pitchFamily="34" charset="-120"/>
                <a:ea typeface="微軟正黑體" panose="020B0604030504040204" pitchFamily="34" charset="-120"/>
              </a:rPr>
              <a:t>系所物品依管理方式分成三類：</a:t>
            </a:r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154680" cy="2743200"/>
          </a:xfrm>
          <a:prstGeom prst="roundRect">
            <a:avLst>
              <a:gd name="adj" fmla="val 2000"/>
            </a:avLst>
          </a:prstGeom>
          <a:solidFill>
            <a:srgbClr val="EEDAD6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2C19A9B-B41B-61DE-C812-8ED5A1C7FE77}"/>
              </a:ext>
            </a:extLst>
          </p:cNvPr>
          <p:cNvGrpSpPr/>
          <p:nvPr/>
        </p:nvGrpSpPr>
        <p:grpSpPr>
          <a:xfrm>
            <a:off x="1107708" y="2620465"/>
            <a:ext cx="523037" cy="362102"/>
            <a:chOff x="1005840" y="2620465"/>
            <a:chExt cx="523037" cy="362102"/>
          </a:xfrm>
        </p:grpSpPr>
        <p:sp>
          <p:nvSpPr>
            <p:cNvPr id="11" name="Shape 9"/>
            <p:cNvSpPr/>
            <p:nvPr/>
          </p:nvSpPr>
          <p:spPr>
            <a:xfrm>
              <a:off x="1005840" y="2620465"/>
              <a:ext cx="523037" cy="362102"/>
            </a:xfrm>
            <a:prstGeom prst="chevron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1369227" y="2763851"/>
              <a:ext cx="52304" cy="52304"/>
            </a:xfrm>
            <a:prstGeom prst="ellipse">
              <a:avLst/>
            </a:prstGeom>
            <a:solidFill>
              <a:srgbClr val="F6F1E8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" name="Text 11"/>
          <p:cNvSpPr/>
          <p:nvPr/>
        </p:nvSpPr>
        <p:spPr>
          <a:xfrm>
            <a:off x="1528877" y="2654559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財產設備</a:t>
            </a:r>
            <a:endParaRPr lang="en-US" sz="2100"/>
          </a:p>
        </p:txBody>
      </p:sp>
      <p:sp>
        <p:nvSpPr>
          <p:cNvPr id="14" name="Text 12"/>
          <p:cNvSpPr/>
          <p:nvPr/>
        </p:nvSpPr>
        <p:spPr>
          <a:xfrm>
            <a:off x="1051560" y="345410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貼有財產標籤列管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051560" y="3787856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伺服器、高階儀器、投影機</a:t>
            </a:r>
          </a:p>
        </p:txBody>
      </p:sp>
      <p:sp>
        <p:nvSpPr>
          <p:cNvPr id="16" name="Shape 14"/>
          <p:cNvSpPr/>
          <p:nvPr/>
        </p:nvSpPr>
        <p:spPr>
          <a:xfrm>
            <a:off x="4480560" y="2148840"/>
            <a:ext cx="3154680" cy="2743200"/>
          </a:xfrm>
          <a:prstGeom prst="roundRect">
            <a:avLst>
              <a:gd name="adj" fmla="val 2000"/>
            </a:avLst>
          </a:prstGeom>
          <a:solidFill>
            <a:srgbClr val="DCE7EF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226939" y="2654559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非列管設備</a:t>
            </a:r>
            <a:endParaRPr lang="en-US" sz="2100"/>
          </a:p>
        </p:txBody>
      </p:sp>
      <p:sp>
        <p:nvSpPr>
          <p:cNvPr id="20" name="Text 18"/>
          <p:cNvSpPr/>
          <p:nvPr/>
        </p:nvSpPr>
        <p:spPr>
          <a:xfrm>
            <a:off x="4754880" y="345410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可重複使用但無財產標籤</a:t>
            </a:r>
            <a:endParaRPr lang="en-US" sz="1700"/>
          </a:p>
        </p:txBody>
      </p:sp>
      <p:sp>
        <p:nvSpPr>
          <p:cNvPr id="21" name="Text 19"/>
          <p:cNvSpPr/>
          <p:nvPr/>
        </p:nvSpPr>
        <p:spPr>
          <a:xfrm>
            <a:off x="4777740" y="3787856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簡報筆、轉接頭、開發板、</a:t>
            </a:r>
            <a:endParaRPr lang="en-US" altLang="zh-TW" sz="145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系辦推車</a:t>
            </a:r>
            <a:endParaRPr lang="en-US" sz="145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154680" cy="2743200"/>
          </a:xfrm>
          <a:prstGeom prst="roundRect">
            <a:avLst>
              <a:gd name="adj" fmla="val 2000"/>
            </a:avLst>
          </a:prstGeom>
          <a:solidFill>
            <a:srgbClr val="DDE7D8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474202" y="2568718"/>
            <a:ext cx="402336" cy="442570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938260" y="2655087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日常耗材</a:t>
            </a:r>
            <a:endParaRPr lang="en-US" sz="2100"/>
          </a:p>
        </p:txBody>
      </p:sp>
      <p:sp>
        <p:nvSpPr>
          <p:cNvPr id="26" name="Text 24"/>
          <p:cNvSpPr/>
          <p:nvPr/>
        </p:nvSpPr>
        <p:spPr>
          <a:xfrm>
            <a:off x="8458199" y="3787856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白板筆、影印紙、</a:t>
            </a:r>
            <a:endParaRPr lang="en-US" altLang="zh-TW" sz="145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14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教學用電子零件</a:t>
            </a:r>
            <a:endParaRPr lang="en-US" sz="145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35055D6-45F7-13D1-5574-185219CDA9CF}"/>
              </a:ext>
            </a:extLst>
          </p:cNvPr>
          <p:cNvGrpSpPr/>
          <p:nvPr/>
        </p:nvGrpSpPr>
        <p:grpSpPr>
          <a:xfrm>
            <a:off x="4735659" y="2655736"/>
            <a:ext cx="402336" cy="281635"/>
            <a:chOff x="4709160" y="2487168"/>
            <a:chExt cx="402336" cy="28163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7" name="Shape 15"/>
            <p:cNvSpPr/>
            <p:nvPr/>
          </p:nvSpPr>
          <p:spPr>
            <a:xfrm>
              <a:off x="4709160" y="2487168"/>
              <a:ext cx="402336" cy="281635"/>
            </a:xfrm>
            <a:prstGeom prst="rect">
              <a:avLst/>
            </a:prstGeom>
            <a:grpFill/>
            <a:ln w="190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4709160" y="2583729"/>
              <a:ext cx="402336" cy="0"/>
            </a:xfrm>
            <a:prstGeom prst="line">
              <a:avLst/>
            </a:prstGeom>
            <a:grpFill/>
            <a:ln w="1397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Shape 16">
              <a:extLst>
                <a:ext uri="{FF2B5EF4-FFF2-40B4-BE49-F238E27FC236}">
                  <a16:creationId xmlns:a16="http://schemas.microsoft.com/office/drawing/2014/main" id="{C1D3779F-58F5-F7E9-3E88-106F0CD64F23}"/>
                </a:ext>
              </a:extLst>
            </p:cNvPr>
            <p:cNvSpPr/>
            <p:nvPr/>
          </p:nvSpPr>
          <p:spPr>
            <a:xfrm>
              <a:off x="4709160" y="2670887"/>
              <a:ext cx="402336" cy="0"/>
            </a:xfrm>
            <a:prstGeom prst="line">
              <a:avLst/>
            </a:prstGeom>
            <a:grpFill/>
            <a:ln w="1397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0F7594-FC74-2CC9-E494-52435D8ABA3C}"/>
              </a:ext>
            </a:extLst>
          </p:cNvPr>
          <p:cNvSpPr txBox="1"/>
          <p:nvPr/>
        </p:nvSpPr>
        <p:spPr>
          <a:xfrm>
            <a:off x="8255725" y="3433913"/>
            <a:ext cx="301098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7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單價較低、會被消耗的耗材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CE87156-B54F-2083-D56C-161CBBE6E716}"/>
              </a:ext>
            </a:extLst>
          </p:cNvPr>
          <p:cNvSpPr txBox="1"/>
          <p:nvPr/>
        </p:nvSpPr>
        <p:spPr>
          <a:xfrm>
            <a:off x="1562606" y="5546836"/>
            <a:ext cx="9066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共同核心：以「內部唯一編號」作為追蹤、借用、領用與維修管理的主要識別依據。</a:t>
            </a:r>
          </a:p>
        </p:txBody>
      </p:sp>
      <p:sp>
        <p:nvSpPr>
          <p:cNvPr id="33" name="投影片編號版面配置區 32">
            <a:extLst>
              <a:ext uri="{FF2B5EF4-FFF2-40B4-BE49-F238E27FC236}">
                <a16:creationId xmlns:a16="http://schemas.microsoft.com/office/drawing/2014/main" id="{DF3EE858-0CD2-0186-8197-7F0EFE1C3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9358-9FB8-CD85-6342-5E3AF0D4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01D198E-094F-1226-9554-A817D8D97DAB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7A192D-278B-13F7-4008-CC44085D846B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痛點與解決方案</a:t>
            </a:r>
            <a:endParaRPr lang="en-US" sz="400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57D1689F-9CB8-6B90-01F3-683682969140}"/>
              </a:ext>
            </a:extLst>
          </p:cNvPr>
          <p:cNvSpPr/>
          <p:nvPr/>
        </p:nvSpPr>
        <p:spPr>
          <a:xfrm>
            <a:off x="731520" y="1383357"/>
            <a:ext cx="5120640" cy="2223857"/>
          </a:xfrm>
          <a:prstGeom prst="roundRect">
            <a:avLst>
              <a:gd name="adj" fmla="val 6400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F9C729EB-7439-61DB-6232-689A04BA697D}"/>
              </a:ext>
            </a:extLst>
          </p:cNvPr>
          <p:cNvSpPr/>
          <p:nvPr/>
        </p:nvSpPr>
        <p:spPr>
          <a:xfrm>
            <a:off x="932688" y="1642002"/>
            <a:ext cx="4773168" cy="43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資產流向不明與跨空間調度困難</a:t>
            </a: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BB049351-2C15-E7AF-5FE2-7F498668B214}"/>
              </a:ext>
            </a:extLst>
          </p:cNvPr>
          <p:cNvSpPr/>
          <p:nvPr/>
        </p:nvSpPr>
        <p:spPr>
          <a:xfrm>
            <a:off x="932688" y="2127752"/>
            <a:ext cx="4773168" cy="130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僅靠紙本或人工記憶管理，教職員離職、學生畢業或設備在不同教室間借用而導致流向不明。</a:t>
            </a:r>
          </a:p>
          <a:p>
            <a:pPr>
              <a:lnSpc>
                <a:spcPct val="150000"/>
              </a:lnSpc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當設備損壞時，缺乏跨空間「使用歷程追蹤」，無法追溯上一個借用者。</a:t>
            </a: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A0B764F1-5506-F05D-E80E-DBCF4EFFC781}"/>
              </a:ext>
            </a:extLst>
          </p:cNvPr>
          <p:cNvSpPr/>
          <p:nvPr/>
        </p:nvSpPr>
        <p:spPr>
          <a:xfrm>
            <a:off x="731520" y="3845146"/>
            <a:ext cx="5120640" cy="2223855"/>
          </a:xfrm>
          <a:prstGeom prst="roundRect">
            <a:avLst>
              <a:gd name="adj" fmla="val 6400"/>
            </a:avLst>
          </a:prstGeom>
          <a:solidFill>
            <a:srgbClr val="DCE7EF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ABF6BD2-F2FD-78B0-9582-519E644C41E8}"/>
              </a:ext>
            </a:extLst>
          </p:cNvPr>
          <p:cNvSpPr/>
          <p:nvPr/>
        </p:nvSpPr>
        <p:spPr>
          <a:xfrm>
            <a:off x="932688" y="4103791"/>
            <a:ext cx="4773168" cy="43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耗材領用成行政瓶頸</a:t>
            </a: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0D6A89E-A33B-B978-609D-1633B8C31567}"/>
              </a:ext>
            </a:extLst>
          </p:cNvPr>
          <p:cNvSpPr/>
          <p:nvPr/>
        </p:nvSpPr>
        <p:spPr>
          <a:xfrm>
            <a:off x="932688" y="4589541"/>
            <a:ext cx="4773168" cy="8619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系上耗材的領用極度依賴系助教或行政人員人工登記。全系師生頻繁的領用需求嚴重消耗行政時間，且常發生「先拿了再說、事後忘記補登記」的狀況，導致系辦系統帳面庫存與實際數量嚴重脫節，影響採購編列。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C3200130-F6ED-F43F-F5C8-181749DE462F}"/>
              </a:ext>
            </a:extLst>
          </p:cNvPr>
          <p:cNvSpPr/>
          <p:nvPr/>
        </p:nvSpPr>
        <p:spPr>
          <a:xfrm>
            <a:off x="6172200" y="1920239"/>
            <a:ext cx="0" cy="3641551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DB716B44-D55A-0BE1-595C-9A31756D0718}"/>
              </a:ext>
            </a:extLst>
          </p:cNvPr>
          <p:cNvSpPr/>
          <p:nvPr/>
        </p:nvSpPr>
        <p:spPr>
          <a:xfrm>
            <a:off x="662940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</a:t>
            </a:r>
            <a:endParaRPr lang="en-US" sz="280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10903047-C1E7-DA2A-9695-B82432019A59}"/>
              </a:ext>
            </a:extLst>
          </p:cNvPr>
          <p:cNvSpPr/>
          <p:nvPr/>
        </p:nvSpPr>
        <p:spPr>
          <a:xfrm>
            <a:off x="6629399" y="2121408"/>
            <a:ext cx="4809931" cy="2420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針對具名資產與共同設備：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建立完整的「使用歷程追蹤（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Audit Trail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）」機制，精準記錄每次在全系不同空間的借還時間與經手人員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借用歷程記錄：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系管人員可一鍵查詢該設備的歷史流向，釐清責任歸屬</a:t>
            </a:r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578FE726-F6FD-61E5-F905-C968ADC6C919}"/>
              </a:ext>
            </a:extLst>
          </p:cNvPr>
          <p:cNvSpPr/>
          <p:nvPr/>
        </p:nvSpPr>
        <p:spPr>
          <a:xfrm>
            <a:off x="6629400" y="4883920"/>
            <a:ext cx="4629908" cy="8481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目標：降低行政負擔，提升資料即時性與管理透明度。</a:t>
            </a:r>
            <a:endParaRPr lang="en-US" sz="18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C86D1FCB-C3C0-B502-11B2-C8CFCAB4A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038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42BF-345D-5548-6639-BE8DD1C9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2738124-5355-2EC5-2387-5B535091A856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0BE8B5-3528-6D6D-AA57-760A3E2A5F8E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使用案例角色</a:t>
            </a:r>
            <a:endParaRPr lang="en-US" sz="400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E1BF86FB-A8E1-B29B-0906-195BD1CC3F7F}"/>
              </a:ext>
            </a:extLst>
          </p:cNvPr>
          <p:cNvSpPr/>
          <p:nvPr/>
        </p:nvSpPr>
        <p:spPr>
          <a:xfrm>
            <a:off x="1176590" y="1554480"/>
            <a:ext cx="56692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rgbClr val="B762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500">
              <a:solidFill>
                <a:srgbClr val="B76251"/>
              </a:solidFill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BA093AD2-C47C-270D-A1FD-3D397AAC6218}"/>
              </a:ext>
            </a:extLst>
          </p:cNvPr>
          <p:cNvSpPr/>
          <p:nvPr/>
        </p:nvSpPr>
        <p:spPr>
          <a:xfrm>
            <a:off x="2058336" y="1783080"/>
            <a:ext cx="1005840" cy="0"/>
          </a:xfrm>
          <a:prstGeom prst="line">
            <a:avLst/>
          </a:prstGeom>
          <a:noFill/>
          <a:ln w="20320">
            <a:solidFill>
              <a:srgbClr val="8B1617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625F547-7AE9-B57D-7A47-9AC885F17D2E}"/>
              </a:ext>
            </a:extLst>
          </p:cNvPr>
          <p:cNvSpPr/>
          <p:nvPr/>
        </p:nvSpPr>
        <p:spPr>
          <a:xfrm>
            <a:off x="3424341" y="1527048"/>
            <a:ext cx="3017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系所</a:t>
            </a:r>
            <a:r>
              <a:rPr 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220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F53A357-1943-5349-2812-52C1F41BE83E}"/>
              </a:ext>
            </a:extLst>
          </p:cNvPr>
          <p:cNvSpPr/>
          <p:nvPr/>
        </p:nvSpPr>
        <p:spPr>
          <a:xfrm>
            <a:off x="5306629" y="1621941"/>
            <a:ext cx="3017519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altLang="zh-TW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Department Administrator / </a:t>
            </a:r>
            <a:r>
              <a:rPr lang="zh-TW" altLang="en-US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系助教</a:t>
            </a:r>
            <a:endParaRPr lang="en-US" sz="140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4AEBB3B-5BF1-407D-AAA4-F2BB5BA30FA4}"/>
              </a:ext>
            </a:extLst>
          </p:cNvPr>
          <p:cNvSpPr/>
          <p:nvPr/>
        </p:nvSpPr>
        <p:spPr>
          <a:xfrm>
            <a:off x="3424341" y="1984248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資產基本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資料、耗材庫存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停用與報廢狀態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</a:t>
            </a:r>
            <a:endParaRPr lang="en-US" sz="165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A0A0456-2B5C-C25A-5F32-EB7B0B45873D}"/>
              </a:ext>
            </a:extLst>
          </p:cNvPr>
          <p:cNvSpPr/>
          <p:nvPr/>
        </p:nvSpPr>
        <p:spPr>
          <a:xfrm>
            <a:off x="1176590" y="2971800"/>
            <a:ext cx="56692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chemeClr val="accent1">
                    <a:lumMod val="60000"/>
                    <a:lumOff val="4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5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E1980C2-0AA9-0DF3-E43F-A397F30E1B3E}"/>
              </a:ext>
            </a:extLst>
          </p:cNvPr>
          <p:cNvSpPr/>
          <p:nvPr/>
        </p:nvSpPr>
        <p:spPr>
          <a:xfrm>
            <a:off x="2058336" y="3200400"/>
            <a:ext cx="1005840" cy="0"/>
          </a:xfrm>
          <a:prstGeom prst="line">
            <a:avLst/>
          </a:prstGeom>
          <a:noFill/>
          <a:ln w="2032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331299A-5CA0-BF7F-E0FA-8D386EBFC12B}"/>
              </a:ext>
            </a:extLst>
          </p:cNvPr>
          <p:cNvSpPr/>
          <p:nvPr/>
        </p:nvSpPr>
        <p:spPr>
          <a:xfrm>
            <a:off x="3424341" y="2944368"/>
            <a:ext cx="3017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全系師生</a:t>
            </a:r>
            <a:endParaRPr lang="en-US" sz="22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E77A0D2-8F98-3939-1B9D-8C1A5619EFC8}"/>
              </a:ext>
            </a:extLst>
          </p:cNvPr>
          <p:cNvSpPr/>
          <p:nvPr/>
        </p:nvSpPr>
        <p:spPr>
          <a:xfrm>
            <a:off x="5344581" y="3032252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altLang="zh-TW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Faculty and Students</a:t>
            </a:r>
            <a:endParaRPr lang="en-US" sz="140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4D305120-397A-6C0A-4D02-98E9230447D8}"/>
              </a:ext>
            </a:extLst>
          </p:cNvPr>
          <p:cNvSpPr/>
          <p:nvPr/>
        </p:nvSpPr>
        <p:spPr>
          <a:xfrm>
            <a:off x="3424341" y="3401568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設備借用與歸還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故障異常報修</a:t>
            </a:r>
            <a:endParaRPr lang="en-US" sz="165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3E0CD2D8-87F0-570F-A957-A39E7939F991}"/>
              </a:ext>
            </a:extLst>
          </p:cNvPr>
          <p:cNvSpPr/>
          <p:nvPr/>
        </p:nvSpPr>
        <p:spPr>
          <a:xfrm>
            <a:off x="1176590" y="4389120"/>
            <a:ext cx="566928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chemeClr val="accent6">
                    <a:lumMod val="7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5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ACCC674-356B-07DA-034F-20950E02415E}"/>
              </a:ext>
            </a:extLst>
          </p:cNvPr>
          <p:cNvSpPr/>
          <p:nvPr/>
        </p:nvSpPr>
        <p:spPr>
          <a:xfrm>
            <a:off x="2058336" y="4617720"/>
            <a:ext cx="1005840" cy="0"/>
          </a:xfrm>
          <a:prstGeom prst="line">
            <a:avLst/>
          </a:prstGeom>
          <a:noFill/>
          <a:ln w="2032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D3C46F3-9A78-ACBF-898D-55D947C936F7}"/>
              </a:ext>
            </a:extLst>
          </p:cNvPr>
          <p:cNvSpPr/>
          <p:nvPr/>
        </p:nvSpPr>
        <p:spPr>
          <a:xfrm>
            <a:off x="3424341" y="4361688"/>
            <a:ext cx="3017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空間</a:t>
            </a:r>
            <a:r>
              <a:rPr lang="en-US" altLang="zh-TW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22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設備負責人</a:t>
            </a:r>
            <a:endParaRPr lang="en-US" sz="220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60C3FC98-11FA-8841-A836-DE14861FEC89}"/>
              </a:ext>
            </a:extLst>
          </p:cNvPr>
          <p:cNvSpPr/>
          <p:nvPr/>
        </p:nvSpPr>
        <p:spPr>
          <a:xfrm>
            <a:off x="5971123" y="4448388"/>
            <a:ext cx="3017519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altLang="zh-TW" sz="140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</a:rPr>
              <a:t>Space/Equipment Supervisor</a:t>
            </a:r>
            <a:endParaRPr lang="en-US" sz="1400">
              <a:solidFill>
                <a:srgbClr val="776B61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7591976-9915-C1F0-EA30-7CDE291C2F36}"/>
              </a:ext>
            </a:extLst>
          </p:cNvPr>
          <p:cNvSpPr/>
          <p:nvPr/>
        </p:nvSpPr>
        <p:spPr>
          <a:xfrm>
            <a:off x="3424341" y="4818888"/>
            <a:ext cx="71323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維修結案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與回報</a:t>
            </a: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、預防性維護</a:t>
            </a:r>
            <a:r>
              <a:rPr lang="zh-TW" alt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</a:t>
            </a:r>
            <a:endParaRPr lang="en-US" sz="165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EA34DBB-F500-7C06-8533-40AF7C10DDEA}"/>
              </a:ext>
            </a:extLst>
          </p:cNvPr>
          <p:cNvSpPr/>
          <p:nvPr/>
        </p:nvSpPr>
        <p:spPr>
          <a:xfrm>
            <a:off x="929640" y="5705688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角色設計重點：廠商不作為登入角色，而是維修工單中的外部關聯資料。</a:t>
            </a:r>
            <a:endParaRPr 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5FDF6B-368C-6EC9-9FA2-D599077AD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235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DE0D7-448E-753D-225A-1A61B293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F495F2A-559A-6738-8646-69F49902C9DD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096B4E-97B1-0853-186A-A38CDECF287F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使用案例｜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系助教</a:t>
            </a:r>
            <a:endParaRPr lang="zh-TW" altLang="en-US" sz="4000" b="1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C64D8FD9-16EB-B3DC-BD2F-24F3EA84DCE0}"/>
              </a:ext>
            </a:extLst>
          </p:cNvPr>
          <p:cNvSpPr/>
          <p:nvPr/>
        </p:nvSpPr>
        <p:spPr>
          <a:xfrm>
            <a:off x="850017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B76251"/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1213C75-8E08-9E44-A84E-18D8B1119045}"/>
              </a:ext>
            </a:extLst>
          </p:cNvPr>
          <p:cNvSpPr/>
          <p:nvPr/>
        </p:nvSpPr>
        <p:spPr>
          <a:xfrm>
            <a:off x="1014984" y="1955143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UC1  建立資產基本資訊</a:t>
            </a:r>
            <a:endParaRPr lang="en-US" sz="200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8D676CEE-F85F-C281-EB8D-D525A4783132}"/>
              </a:ext>
            </a:extLst>
          </p:cNvPr>
          <p:cNvSpPr/>
          <p:nvPr/>
        </p:nvSpPr>
        <p:spPr>
          <a:xfrm>
            <a:off x="8500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建立設備的獨立性內部唯一編號；若屬財產設備，額外登錄學校財產編號、經費來源、保管人、取得日期、金額與耐用年限。</a:t>
            </a: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5B5AC5E9-125F-47B0-BB19-323BC9811364}"/>
              </a:ext>
            </a:extLst>
          </p:cNvPr>
          <p:cNvSpPr/>
          <p:nvPr/>
        </p:nvSpPr>
        <p:spPr>
          <a:xfrm>
            <a:off x="6336418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89AEC9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AE9E712C-C833-8C92-BC8D-764C8D046169}"/>
              </a:ext>
            </a:extLst>
          </p:cNvPr>
          <p:cNvSpPr/>
          <p:nvPr/>
        </p:nvSpPr>
        <p:spPr>
          <a:xfrm>
            <a:off x="6501384" y="1942633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UC2  耗材庫存管理</a:t>
            </a:r>
            <a:endParaRPr lang="en-US" sz="200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0CF547AA-9170-1A49-E10E-EEB2206AE5BD}"/>
              </a:ext>
            </a:extLst>
          </p:cNvPr>
          <p:cNvSpPr/>
          <p:nvPr/>
        </p:nvSpPr>
        <p:spPr>
          <a:xfrm>
            <a:off x="63364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建立耗材資料，記錄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庫存量、最低庫存量與單位。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師生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領用後扣除庫存；低於最低庫存時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，系統提醒系辦</a:t>
            </a:r>
            <a:r>
              <a:rPr 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補貨。</a:t>
            </a:r>
            <a:endParaRPr lang="en-US" sz="200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AE86E3A-9BE0-AFCE-AF82-1531113C4796}"/>
              </a:ext>
            </a:extLst>
          </p:cNvPr>
          <p:cNvSpPr/>
          <p:nvPr/>
        </p:nvSpPr>
        <p:spPr>
          <a:xfrm>
            <a:off x="850016" y="480442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關鍵規則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47A903C-BA68-C5FE-1DF4-0984FE182B70}"/>
              </a:ext>
            </a:extLst>
          </p:cNvPr>
          <p:cNvSpPr/>
          <p:nvPr/>
        </p:nvSpPr>
        <p:spPr>
          <a:xfrm>
            <a:off x="850016" y="5266755"/>
            <a:ext cx="10757783" cy="771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內部唯一編號不可重複；財產設備的財產編號不得為空且不可重複；耗材領用數量不可大於目前庫存。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7610C436-32F8-BDEE-F592-6C80A9525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6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734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22C1-2CDB-83F6-2A2E-E967B3B8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C2C5504-9637-7523-58F1-7E9A31B68B04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17B745-A93A-0595-7101-F124D97EF001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使用案例｜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系助教</a:t>
            </a:r>
            <a:endParaRPr lang="zh-TW" altLang="en-US" sz="4000" b="1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819772D-3043-11CA-9264-9131340914C6}"/>
              </a:ext>
            </a:extLst>
          </p:cNvPr>
          <p:cNvSpPr/>
          <p:nvPr/>
        </p:nvSpPr>
        <p:spPr>
          <a:xfrm>
            <a:off x="2359714" y="254040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判斷條件</a:t>
            </a:r>
            <a:endParaRPr lang="en-US" sz="170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40CC276-ED0D-7D45-6FC8-669CF9E4B7C5}"/>
              </a:ext>
            </a:extLst>
          </p:cNvPr>
          <p:cNvSpPr/>
          <p:nvPr/>
        </p:nvSpPr>
        <p:spPr>
          <a:xfrm>
            <a:off x="4279954" y="2540400"/>
            <a:ext cx="5989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超過耐用年限、維修成本過高或不堪使用。</a:t>
            </a:r>
            <a:endParaRPr lang="en-US" sz="165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955C7B4-988F-97B8-E337-5970717CF2FA}"/>
              </a:ext>
            </a:extLst>
          </p:cNvPr>
          <p:cNvSpPr/>
          <p:nvPr/>
        </p:nvSpPr>
        <p:spPr>
          <a:xfrm>
            <a:off x="2359714" y="350052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狀態更新</a:t>
            </a:r>
            <a:endParaRPr lang="en-US" sz="170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1ABA69F-09BA-14A2-7FF4-2B76C7B8FA99}"/>
              </a:ext>
            </a:extLst>
          </p:cNvPr>
          <p:cNvSpPr/>
          <p:nvPr/>
        </p:nvSpPr>
        <p:spPr>
          <a:xfrm>
            <a:off x="4279954" y="3500520"/>
            <a:ext cx="5989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管理員可將設備狀態更新為「停用」或「報廢」。</a:t>
            </a:r>
            <a:endParaRPr lang="en-US" sz="165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94A78256-E7E7-4F8B-30E1-5D5563526246}"/>
              </a:ext>
            </a:extLst>
          </p:cNvPr>
          <p:cNvSpPr/>
          <p:nvPr/>
        </p:nvSpPr>
        <p:spPr>
          <a:xfrm>
            <a:off x="2359714" y="4460640"/>
            <a:ext cx="1508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留存紀錄</a:t>
            </a:r>
            <a:endParaRPr lang="en-US" sz="170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D7D35F7-0C45-0657-D462-96211D2181E9}"/>
              </a:ext>
            </a:extLst>
          </p:cNvPr>
          <p:cNvSpPr/>
          <p:nvPr/>
        </p:nvSpPr>
        <p:spPr>
          <a:xfrm>
            <a:off x="4279954" y="4460640"/>
            <a:ext cx="5989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776B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狀態異動紀錄需包含時間、操作者與異動原因。</a:t>
            </a:r>
            <a:endParaRPr lang="en-US" sz="165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DBF8438-5AD9-E12B-38F2-519F623AD84E}"/>
              </a:ext>
            </a:extLst>
          </p:cNvPr>
          <p:cNvSpPr/>
          <p:nvPr/>
        </p:nvSpPr>
        <p:spPr>
          <a:xfrm>
            <a:off x="1650028" y="1684106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9AB78B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E22BDF2-78B1-08B8-865C-4BC95E19B036}"/>
              </a:ext>
            </a:extLst>
          </p:cNvPr>
          <p:cNvSpPr/>
          <p:nvPr/>
        </p:nvSpPr>
        <p:spPr>
          <a:xfrm>
            <a:off x="1814994" y="1840113"/>
            <a:ext cx="3715636" cy="260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UC3 </a:t>
            </a:r>
            <a:r>
              <a:rPr lang="zh-TW" alt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設備停用與報廢狀態更新</a:t>
            </a: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627D87E-1223-4EB6-261C-F64FB5BA7BA6}"/>
              </a:ext>
            </a:extLst>
          </p:cNvPr>
          <p:cNvSpPr/>
          <p:nvPr/>
        </p:nvSpPr>
        <p:spPr>
          <a:xfrm>
            <a:off x="850015" y="520951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B212FCDF-4E35-DBFB-987B-455F29B68E7C}"/>
              </a:ext>
            </a:extLst>
          </p:cNvPr>
          <p:cNvSpPr/>
          <p:nvPr/>
        </p:nvSpPr>
        <p:spPr>
          <a:xfrm>
            <a:off x="850016" y="5671846"/>
            <a:ext cx="10122782" cy="4612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已報廢物品不得再被借用或建立新的維修工單。</a:t>
            </a: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EE7B5967-A965-BD64-DD4C-7E6C08CD8C3F}"/>
              </a:ext>
            </a:extLst>
          </p:cNvPr>
          <p:cNvSpPr/>
          <p:nvPr/>
        </p:nvSpPr>
        <p:spPr>
          <a:xfrm>
            <a:off x="1960176" y="2731116"/>
            <a:ext cx="0" cy="1920241"/>
          </a:xfrm>
          <a:prstGeom prst="line">
            <a:avLst/>
          </a:prstGeom>
          <a:noFill/>
          <a:ln w="20320">
            <a:solidFill>
              <a:srgbClr val="DDE7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75E08D3A-F4D2-99ED-A58D-B4DC9D5832B8}"/>
              </a:ext>
            </a:extLst>
          </p:cNvPr>
          <p:cNvSpPr/>
          <p:nvPr/>
        </p:nvSpPr>
        <p:spPr>
          <a:xfrm>
            <a:off x="1890592" y="2607976"/>
            <a:ext cx="139167" cy="1391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0D5A7DF1-B88E-4B21-AD7C-F0581F20B2CE}"/>
              </a:ext>
            </a:extLst>
          </p:cNvPr>
          <p:cNvSpPr/>
          <p:nvPr/>
        </p:nvSpPr>
        <p:spPr>
          <a:xfrm>
            <a:off x="1890590" y="3568096"/>
            <a:ext cx="139167" cy="1391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09F8F1D8-B61D-8A39-3E45-C3D01C98FA69}"/>
              </a:ext>
            </a:extLst>
          </p:cNvPr>
          <p:cNvSpPr/>
          <p:nvPr/>
        </p:nvSpPr>
        <p:spPr>
          <a:xfrm>
            <a:off x="1890592" y="4528216"/>
            <a:ext cx="139167" cy="1391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DFE43B-DA0B-A433-35D1-BCA612E15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7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453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FB7E-82FB-3FE0-4A47-EE9EF1C8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76E7639-5459-FBDB-B4DC-CC9433B06AAA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447D92-F6AE-7D33-E4B2-3BB583359CD5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使用案例｜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全系師生</a:t>
            </a:r>
            <a:endParaRPr lang="zh-TW" altLang="en-US" sz="4000" b="1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0A53F7E2-1DB5-C86A-65A0-4985F1D8EF69}"/>
              </a:ext>
            </a:extLst>
          </p:cNvPr>
          <p:cNvSpPr/>
          <p:nvPr/>
        </p:nvSpPr>
        <p:spPr>
          <a:xfrm>
            <a:off x="850017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B76251"/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B7D1A676-ABED-3FCC-D044-59F29E80179D}"/>
              </a:ext>
            </a:extLst>
          </p:cNvPr>
          <p:cNvSpPr/>
          <p:nvPr/>
        </p:nvSpPr>
        <p:spPr>
          <a:xfrm>
            <a:off x="1014984" y="1955143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UC4  </a:t>
            </a:r>
            <a:r>
              <a:rPr lang="zh-TW" alt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設備借用與歸還</a:t>
            </a: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6FC2397E-8EFF-38A6-1648-891A2F929A13}"/>
              </a:ext>
            </a:extLst>
          </p:cNvPr>
          <p:cNvSpPr/>
          <p:nvPr/>
        </p:nvSpPr>
        <p:spPr>
          <a:xfrm>
            <a:off x="8500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師生查詢可借用設備後提出申請，系統記錄借用時間、預計歸還時間、實際歸還時間與借用狀態。</a:t>
            </a: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950B0538-FAA3-590A-C798-3C8ED609A437}"/>
              </a:ext>
            </a:extLst>
          </p:cNvPr>
          <p:cNvSpPr/>
          <p:nvPr/>
        </p:nvSpPr>
        <p:spPr>
          <a:xfrm>
            <a:off x="6336418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89AEC9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DF69A7F3-A45F-B0FD-3C9B-D7C27D806FC6}"/>
              </a:ext>
            </a:extLst>
          </p:cNvPr>
          <p:cNvSpPr/>
          <p:nvPr/>
        </p:nvSpPr>
        <p:spPr>
          <a:xfrm>
            <a:off x="6501384" y="1942633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UC5  </a:t>
            </a:r>
            <a:r>
              <a:rPr lang="zh-TW" alt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故障異常報修</a:t>
            </a: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9A600A5-D96F-4A06-37D1-26C4B5B0F9F5}"/>
              </a:ext>
            </a:extLst>
          </p:cNvPr>
          <p:cNvSpPr/>
          <p:nvPr/>
        </p:nvSpPr>
        <p:spPr>
          <a:xfrm>
            <a:off x="63364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師生於教室或實驗室發現設備異常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建立維修工單並描述故障現象，讓設備負責人或管理員追蹤處理。</a:t>
            </a: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EBA7C8CE-29F5-A021-4A3A-C3677D98A85A}"/>
              </a:ext>
            </a:extLst>
          </p:cNvPr>
          <p:cNvSpPr/>
          <p:nvPr/>
        </p:nvSpPr>
        <p:spPr>
          <a:xfrm>
            <a:off x="850016" y="480442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關鍵規則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21B7692A-3D53-10B3-CE32-0E10116E9C45}"/>
              </a:ext>
            </a:extLst>
          </p:cNvPr>
          <p:cNvSpPr/>
          <p:nvPr/>
        </p:nvSpPr>
        <p:spPr>
          <a:xfrm>
            <a:off x="850017" y="5266755"/>
            <a:ext cx="10122782" cy="771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耗材不進入借用流程；耗材僅透過「領用紀錄」進行管理。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B2ED08E5-A749-E638-9040-84C49C549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8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58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DF8D-72A6-3E59-8389-E583C91C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3CB07C1-A034-4F9F-4A01-1B7AC62EC17C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7654E8-E328-E9CB-65AB-40B3798FFA0C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使用案例｜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空間</a:t>
            </a:r>
            <a:r>
              <a:rPr lang="en-US" altLang="zh-TW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24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設備負責人</a:t>
            </a:r>
            <a:endParaRPr lang="zh-TW" altLang="en-US" sz="4000" b="1">
              <a:solidFill>
                <a:schemeClr val="accent3">
                  <a:lumMod val="50000"/>
                </a:schemeClr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C8A133A5-FDC8-6324-E9D1-AD54E7C6C0AF}"/>
              </a:ext>
            </a:extLst>
          </p:cNvPr>
          <p:cNvSpPr/>
          <p:nvPr/>
        </p:nvSpPr>
        <p:spPr>
          <a:xfrm>
            <a:off x="850017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B76251"/>
          </a:solidFill>
          <a:ln w="12700">
            <a:solidFill>
              <a:srgbClr val="8B16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B76251"/>
              </a:solidFill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CB758FF2-F82A-F092-C156-47148C891D1D}"/>
              </a:ext>
            </a:extLst>
          </p:cNvPr>
          <p:cNvSpPr/>
          <p:nvPr/>
        </p:nvSpPr>
        <p:spPr>
          <a:xfrm>
            <a:off x="1014984" y="1955143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UC6 </a:t>
            </a:r>
            <a:r>
              <a:rPr lang="zh-TW" alt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維修結案與回報</a:t>
            </a: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0A7A0410-1179-10F7-7746-5413237E7BAD}"/>
              </a:ext>
            </a:extLst>
          </p:cNvPr>
          <p:cNvSpPr/>
          <p:nvPr/>
        </p:nvSpPr>
        <p:spPr>
          <a:xfrm>
            <a:off x="8500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設備完成維護後，負責人回填維修金額、廠商資訊與更換紀錄。</a:t>
            </a: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87D2788A-4B5C-37C3-8E59-D9E63F2E09ED}"/>
              </a:ext>
            </a:extLst>
          </p:cNvPr>
          <p:cNvSpPr/>
          <p:nvPr/>
        </p:nvSpPr>
        <p:spPr>
          <a:xfrm>
            <a:off x="6336418" y="1800808"/>
            <a:ext cx="4261635" cy="557971"/>
          </a:xfrm>
          <a:prstGeom prst="roundRect">
            <a:avLst>
              <a:gd name="adj" fmla="val 13462"/>
            </a:avLst>
          </a:prstGeom>
          <a:solidFill>
            <a:srgbClr val="89AEC9"/>
          </a:solidFill>
          <a:ln w="12700">
            <a:solidFill>
              <a:srgbClr val="B987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7859E791-3C60-7CD8-1DA4-A78328BBFDAD}"/>
              </a:ext>
            </a:extLst>
          </p:cNvPr>
          <p:cNvSpPr/>
          <p:nvPr/>
        </p:nvSpPr>
        <p:spPr>
          <a:xfrm>
            <a:off x="6501384" y="1942633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UC7 </a:t>
            </a:r>
            <a:r>
              <a:rPr lang="zh-TW" altLang="en-US" sz="20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預防性維護排程</a:t>
            </a: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AEB6FB4-EB49-4FE8-70F7-09826DC8546C}"/>
              </a:ext>
            </a:extLst>
          </p:cNvPr>
          <p:cNvSpPr/>
          <p:nvPr/>
        </p:nvSpPr>
        <p:spPr>
          <a:xfrm>
            <a:off x="6336418" y="2614997"/>
            <a:ext cx="438912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系統依據保養週期自動通知該空間</a:t>
            </a:r>
            <a:r>
              <a:rPr lang="en-US" altLang="zh-TW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zh-TW" altLang="en-US" sz="20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設備負責人進行檢修。</a:t>
            </a: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7CB4927-DDBE-950E-4F83-BB22D853459C}"/>
              </a:ext>
            </a:extLst>
          </p:cNvPr>
          <p:cNvSpPr/>
          <p:nvPr/>
        </p:nvSpPr>
        <p:spPr>
          <a:xfrm>
            <a:off x="850016" y="4804423"/>
            <a:ext cx="10122782" cy="37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關鍵規則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786E4176-D47A-DE34-FD6A-888FE36E2201}"/>
              </a:ext>
            </a:extLst>
          </p:cNvPr>
          <p:cNvSpPr/>
          <p:nvPr/>
        </p:nvSpPr>
        <p:spPr>
          <a:xfrm>
            <a:off x="850017" y="5266755"/>
            <a:ext cx="10122782" cy="7717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zh-TW" altLang="en-US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設備負責人是維修流程與設備狀態追蹤的關鍵節點。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CE5753CD-56A7-2C6C-3DEF-3523F321B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9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9798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9C16-09B4-2DEB-6FB1-5A575699D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8">
            <a:extLst>
              <a:ext uri="{FF2B5EF4-FFF2-40B4-BE49-F238E27FC236}">
                <a16:creationId xmlns:a16="http://schemas.microsoft.com/office/drawing/2014/main" id="{1434922D-D5E5-8135-AF4D-2BD28C27D3E4}"/>
              </a:ext>
            </a:extLst>
          </p:cNvPr>
          <p:cNvSpPr/>
          <p:nvPr/>
        </p:nvSpPr>
        <p:spPr>
          <a:xfrm>
            <a:off x="6452586" y="1710859"/>
            <a:ext cx="3956179" cy="2834267"/>
          </a:xfrm>
          <a:prstGeom prst="roundRect">
            <a:avLst>
              <a:gd name="adj" fmla="val 2000"/>
            </a:avLst>
          </a:prstGeom>
          <a:solidFill>
            <a:srgbClr val="B76251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07FA9F-5A29-D17D-E857-23C3A703D0EB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C9E30C-EA00-D70C-A226-592F2C379E21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系統需求說明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B9BBE486-9F29-7A77-4125-8E8B103654B1}"/>
              </a:ext>
            </a:extLst>
          </p:cNvPr>
          <p:cNvSpPr/>
          <p:nvPr/>
        </p:nvSpPr>
        <p:spPr>
          <a:xfrm>
            <a:off x="929640" y="1780655"/>
            <a:ext cx="5669280" cy="259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需求規劃聚焦在四個問題：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設備流向不明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維修責任難追蹤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耗材庫存不即時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人工管理負擔過重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5246B3-EA41-6F04-89E4-DAF629422201}"/>
              </a:ext>
            </a:extLst>
          </p:cNvPr>
          <p:cNvSpPr/>
          <p:nvPr/>
        </p:nvSpPr>
        <p:spPr>
          <a:xfrm>
            <a:off x="6653661" y="2295702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三種管理類型</a:t>
            </a:r>
            <a:endParaRPr lang="en-US" sz="2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F5A70-FE69-E832-C23C-A5D1C179DD4C}"/>
              </a:ext>
            </a:extLst>
          </p:cNvPr>
          <p:cNvSpPr/>
          <p:nvPr/>
        </p:nvSpPr>
        <p:spPr>
          <a:xfrm>
            <a:off x="6699381" y="3009307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err="1">
                <a:solidFill>
                  <a:srgbClr val="FFF5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財產設備</a:t>
            </a: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err="1">
                <a:solidFill>
                  <a:srgbClr val="FFF5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可重複使用的非列管設備</a:t>
            </a: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err="1">
                <a:solidFill>
                  <a:srgbClr val="FFF5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</a:t>
            </a:r>
            <a:endParaRPr lang="en-US" sz="2200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24661825-5754-6E28-D052-BBA40AACEA2F}"/>
              </a:ext>
            </a:extLst>
          </p:cNvPr>
          <p:cNvSpPr/>
          <p:nvPr/>
        </p:nvSpPr>
        <p:spPr>
          <a:xfrm>
            <a:off x="929640" y="5751576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</a:t>
            </a: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</a:rPr>
              <a:t>內部唯一編號</a:t>
            </a: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作為辨識、查詢與追蹤各類物品的主要依據。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6098C0-9F61-EA72-A89F-1AEB3A876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10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9191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6BF6-306D-E70F-62D4-86F8AD50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F04916C-32AD-CBE8-5DD1-D3B6956971C7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6B743E-9E32-D751-117C-9C5E818C24F3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功能性需求</a:t>
            </a: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ECFFD701-71FC-1241-5A6F-0E5CEE11BFEF}"/>
              </a:ext>
            </a:extLst>
          </p:cNvPr>
          <p:cNvSpPr/>
          <p:nvPr/>
        </p:nvSpPr>
        <p:spPr>
          <a:xfrm>
            <a:off x="929640" y="5751576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對應「登錄 → 使用 → 維護 → 生命週期結束」。</a:t>
            </a: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1C52FCD9-5248-6E96-A10F-0BBD9E6EEDE1}"/>
              </a:ext>
            </a:extLst>
          </p:cNvPr>
          <p:cNvSpPr/>
          <p:nvPr/>
        </p:nvSpPr>
        <p:spPr>
          <a:xfrm>
            <a:off x="777240" y="1667383"/>
            <a:ext cx="5074920" cy="1117335"/>
          </a:xfrm>
          <a:prstGeom prst="roundRect">
            <a:avLst>
              <a:gd name="adj" fmla="val 5161"/>
            </a:avLst>
          </a:prstGeom>
          <a:solidFill>
            <a:srgbClr val="EEDAD6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C8F91AD-E0D0-B52C-69E8-B3B10E89E931}"/>
              </a:ext>
            </a:extLst>
          </p:cNvPr>
          <p:cNvSpPr/>
          <p:nvPr/>
        </p:nvSpPr>
        <p:spPr>
          <a:xfrm>
            <a:off x="1005840" y="183197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A.</a:t>
            </a:r>
            <a:r>
              <a:rPr lang="zh-TW" altLang="en-US" sz="2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物品分類與內部識別資訊管理</a:t>
            </a: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3C510944-243F-88EA-E8D7-B51714BD608C}"/>
              </a:ext>
            </a:extLst>
          </p:cNvPr>
          <p:cNvSpPr/>
          <p:nvPr/>
        </p:nvSpPr>
        <p:spPr>
          <a:xfrm>
            <a:off x="1005840" y="2234312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物品分類管理、系所內部唯一資訊建立、基本資料管理、規格與多實體管理</a:t>
            </a:r>
            <a:endParaRPr lang="en-US" sz="140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EE7EFC86-C758-2A49-DBA3-EE32ADCA67B5}"/>
              </a:ext>
            </a:extLst>
          </p:cNvPr>
          <p:cNvSpPr/>
          <p:nvPr/>
        </p:nvSpPr>
        <p:spPr>
          <a:xfrm>
            <a:off x="6355080" y="1667383"/>
            <a:ext cx="5074920" cy="1116494"/>
          </a:xfrm>
          <a:prstGeom prst="roundRect">
            <a:avLst>
              <a:gd name="adj" fmla="val 516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FF14A0A-7B80-1C7F-E371-9ED6D7C9D2C5}"/>
              </a:ext>
            </a:extLst>
          </p:cNvPr>
          <p:cNvSpPr/>
          <p:nvPr/>
        </p:nvSpPr>
        <p:spPr>
          <a:xfrm>
            <a:off x="6583680" y="183197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耗材庫存與自助領用</a:t>
            </a:r>
            <a:endParaRPr lang="en-US" sz="2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5DFA05-AD88-29D8-EF6A-7DB3C4EFEF60}"/>
              </a:ext>
            </a:extLst>
          </p:cNvPr>
          <p:cNvSpPr/>
          <p:nvPr/>
        </p:nvSpPr>
        <p:spPr>
          <a:xfrm>
            <a:off x="6583680" y="2234312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耗材資料管理、自助領用登記、低庫存預警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B650032-FD32-B68D-2800-40329982EBB2}"/>
              </a:ext>
            </a:extLst>
          </p:cNvPr>
          <p:cNvSpPr/>
          <p:nvPr/>
        </p:nvSpPr>
        <p:spPr>
          <a:xfrm>
            <a:off x="777240" y="2947482"/>
            <a:ext cx="5074920" cy="1116494"/>
          </a:xfrm>
          <a:prstGeom prst="roundRect">
            <a:avLst>
              <a:gd name="adj" fmla="val 516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82A7F71-9A7C-5A7D-FF38-402378A69EC0}"/>
              </a:ext>
            </a:extLst>
          </p:cNvPr>
          <p:cNvSpPr/>
          <p:nvPr/>
        </p:nvSpPr>
        <p:spPr>
          <a:xfrm>
            <a:off x="1005840" y="3112075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財產設備管理</a:t>
            </a:r>
            <a:endParaRPr lang="en-US" sz="2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ACD85BD-0E1F-350A-BBFD-A8DE007DD5C5}"/>
              </a:ext>
            </a:extLst>
          </p:cNvPr>
          <p:cNvSpPr/>
          <p:nvPr/>
        </p:nvSpPr>
        <p:spPr>
          <a:xfrm>
            <a:off x="1005840" y="3514411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財產標籤資料登錄、保管人與設備負責人區分、報廢評估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D6C91B8-F4DC-9EA1-0D25-AA45B1D15AA5}"/>
              </a:ext>
            </a:extLst>
          </p:cNvPr>
          <p:cNvSpPr/>
          <p:nvPr/>
        </p:nvSpPr>
        <p:spPr>
          <a:xfrm>
            <a:off x="6355080" y="2944962"/>
            <a:ext cx="5074920" cy="1116494"/>
          </a:xfrm>
          <a:prstGeom prst="roundRect">
            <a:avLst>
              <a:gd name="adj" fmla="val 5161"/>
            </a:avLst>
          </a:prstGeom>
          <a:solidFill>
            <a:srgbClr val="DCE7EF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162E6C-342F-036B-B2F3-D56FD4543EBB}"/>
              </a:ext>
            </a:extLst>
          </p:cNvPr>
          <p:cNvSpPr/>
          <p:nvPr/>
        </p:nvSpPr>
        <p:spPr>
          <a:xfrm>
            <a:off x="6583680" y="3109555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使用歷程與審計追蹤</a:t>
            </a:r>
            <a:endParaRPr lang="en-US" sz="2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631262-57D1-DBAB-964D-99B8DE373D5A}"/>
              </a:ext>
            </a:extLst>
          </p:cNvPr>
          <p:cNvSpPr/>
          <p:nvPr/>
        </p:nvSpPr>
        <p:spPr>
          <a:xfrm>
            <a:off x="6583680" y="3514411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借還與責任溯源、狀態異動紀錄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91860F3D-9ECF-49E9-BC85-0F92DD80A1C8}"/>
              </a:ext>
            </a:extLst>
          </p:cNvPr>
          <p:cNvSpPr/>
          <p:nvPr/>
        </p:nvSpPr>
        <p:spPr>
          <a:xfrm>
            <a:off x="777240" y="4226925"/>
            <a:ext cx="5074920" cy="1116494"/>
          </a:xfrm>
          <a:prstGeom prst="roundRect">
            <a:avLst>
              <a:gd name="adj" fmla="val 5161"/>
            </a:avLst>
          </a:prstGeom>
          <a:solidFill>
            <a:schemeClr val="accent4">
              <a:lumMod val="20000"/>
              <a:lumOff val="80000"/>
            </a:schemeClr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3F41664-E689-407C-A2CF-5A1709CF0259}"/>
              </a:ext>
            </a:extLst>
          </p:cNvPr>
          <p:cNvSpPr/>
          <p:nvPr/>
        </p:nvSpPr>
        <p:spPr>
          <a:xfrm>
            <a:off x="1005840" y="4391518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可重複使用的非列管設備管理</a:t>
            </a:r>
            <a:endParaRPr lang="en-US" sz="200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23DAD1DC-65C0-4474-A4CD-4A5911AAE70A}"/>
              </a:ext>
            </a:extLst>
          </p:cNvPr>
          <p:cNvSpPr/>
          <p:nvPr/>
        </p:nvSpPr>
        <p:spPr>
          <a:xfrm>
            <a:off x="1005840" y="479842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無財產標籤設備管理、借用狀態管理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D1DB6099-77A8-4D62-9738-000D1F285536}"/>
              </a:ext>
            </a:extLst>
          </p:cNvPr>
          <p:cNvSpPr/>
          <p:nvPr/>
        </p:nvSpPr>
        <p:spPr>
          <a:xfrm>
            <a:off x="6355080" y="4230226"/>
            <a:ext cx="5074920" cy="1116494"/>
          </a:xfrm>
          <a:prstGeom prst="roundRect">
            <a:avLst>
              <a:gd name="adj" fmla="val 5161"/>
            </a:avLst>
          </a:prstGeom>
          <a:solidFill>
            <a:srgbClr val="E6DDEF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612A53C-3834-4B68-B8CE-B5C16B05D4ED}"/>
              </a:ext>
            </a:extLst>
          </p:cNvPr>
          <p:cNvSpPr/>
          <p:nvPr/>
        </p:nvSpPr>
        <p:spPr>
          <a:xfrm>
            <a:off x="6583680" y="4394819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altLang="zh-TW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F.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維修工單與維護管理</a:t>
            </a:r>
            <a:endParaRPr lang="en-US" sz="200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F3B152C-F96B-4349-99A3-4175B634058A}"/>
              </a:ext>
            </a:extLst>
          </p:cNvPr>
          <p:cNvSpPr/>
          <p:nvPr/>
        </p:nvSpPr>
        <p:spPr>
          <a:xfrm>
            <a:off x="6583680" y="4799675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跨空間故障回報、維修與成本統計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2685682D-197F-73C9-EE4D-72AC87278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11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861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4B23-2B99-567E-93C7-1AA6D502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D487D56-6998-0966-96ED-FDFDBC7737D5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FCC7F0-D241-3D45-798D-34BB0F9097EA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非功能性需求</a:t>
            </a: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A17CB5F4-8537-9953-4835-B40DC2602599}"/>
              </a:ext>
            </a:extLst>
          </p:cNvPr>
          <p:cNvSpPr/>
          <p:nvPr/>
        </p:nvSpPr>
        <p:spPr>
          <a:xfrm>
            <a:off x="1005840" y="1650600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78E9885E-1ACF-FFE1-BDE1-0104C17B65A2}"/>
              </a:ext>
            </a:extLst>
          </p:cNvPr>
          <p:cNvSpPr/>
          <p:nvPr/>
        </p:nvSpPr>
        <p:spPr>
          <a:xfrm>
            <a:off x="1234440" y="1966068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DDA9D7F-7E9F-D271-16A7-8D2C5D6F11A0}"/>
              </a:ext>
            </a:extLst>
          </p:cNvPr>
          <p:cNvSpPr/>
          <p:nvPr/>
        </p:nvSpPr>
        <p:spPr>
          <a:xfrm>
            <a:off x="1837267" y="1961496"/>
            <a:ext cx="2414693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一致性與完整性</a:t>
            </a:r>
            <a:endParaRPr lang="en-US" sz="200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5AAA6AA-265A-69CB-B5B2-3AD47C97CF44}"/>
              </a:ext>
            </a:extLst>
          </p:cNvPr>
          <p:cNvSpPr/>
          <p:nvPr/>
        </p:nvSpPr>
        <p:spPr>
          <a:xfrm>
            <a:off x="4351867" y="1790429"/>
            <a:ext cx="621792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系所內部唯一編號不可為空且不可重複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庫存不可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&lt;0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，領用量不可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&gt;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庫存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維修結案與歸還日期的時序邏輯必須正確</a:t>
            </a:r>
            <a:endParaRPr lang="en-US" sz="140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2A1FD78-A3EC-869F-C720-3F3C9A1CDF63}"/>
              </a:ext>
            </a:extLst>
          </p:cNvPr>
          <p:cNvSpPr/>
          <p:nvPr/>
        </p:nvSpPr>
        <p:spPr>
          <a:xfrm>
            <a:off x="1005840" y="3142596"/>
            <a:ext cx="9966960" cy="950976"/>
          </a:xfrm>
          <a:prstGeom prst="roundRect">
            <a:avLst>
              <a:gd name="adj" fmla="val 673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163745B-81CD-B0C2-E5F9-5F7CDECD8B1D}"/>
              </a:ext>
            </a:extLst>
          </p:cNvPr>
          <p:cNvSpPr/>
          <p:nvPr/>
        </p:nvSpPr>
        <p:spPr>
          <a:xfrm>
            <a:off x="1234440" y="3458064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B9E8B3E-8CA5-D825-DA05-3604EAE2E69F}"/>
              </a:ext>
            </a:extLst>
          </p:cNvPr>
          <p:cNvSpPr/>
          <p:nvPr/>
        </p:nvSpPr>
        <p:spPr>
          <a:xfrm>
            <a:off x="1837267" y="3448920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權限控管</a:t>
            </a:r>
            <a:endParaRPr lang="en-US" sz="200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9B7DBA7-8F5F-8CE7-3DB7-47FACEEBEF22}"/>
              </a:ext>
            </a:extLst>
          </p:cNvPr>
          <p:cNvSpPr/>
          <p:nvPr/>
        </p:nvSpPr>
        <p:spPr>
          <a:xfrm>
            <a:off x="4351867" y="3142596"/>
            <a:ext cx="6217920" cy="9509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全系師生：可查詢、借用、領用、報修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空間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/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設備負責人：管理轄下空間設備狀態、處理報修工單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系所管理員：擁有全系最高權限，可進行跨空間盤點、報廢審查、庫存採購　　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　　　　　　　　與帳號權限管理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C26AC156-41DB-5140-F9C5-091A21CCE110}"/>
              </a:ext>
            </a:extLst>
          </p:cNvPr>
          <p:cNvSpPr/>
          <p:nvPr/>
        </p:nvSpPr>
        <p:spPr>
          <a:xfrm>
            <a:off x="1005840" y="4634592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8A62AA6-3694-BE9F-B04A-CB01C5D4FE48}"/>
              </a:ext>
            </a:extLst>
          </p:cNvPr>
          <p:cNvSpPr/>
          <p:nvPr/>
        </p:nvSpPr>
        <p:spPr>
          <a:xfrm>
            <a:off x="1234440" y="4945955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26E86872-1612-3429-C2FA-5CCC300B91D8}"/>
              </a:ext>
            </a:extLst>
          </p:cNvPr>
          <p:cNvSpPr/>
          <p:nvPr/>
        </p:nvSpPr>
        <p:spPr>
          <a:xfrm>
            <a:off x="1837267" y="4809154"/>
            <a:ext cx="2286000" cy="59364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2000" b="1">
                <a:latin typeface="Microsoft JhengHei" pitchFamily="34" charset="0"/>
                <a:ea typeface="Microsoft JhengHei" pitchFamily="34" charset="-122"/>
              </a:rPr>
              <a:t>可追溯性／</a:t>
            </a:r>
            <a:endParaRPr lang="en-US" altLang="zh-TW" sz="2000" b="1"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2000" b="1">
                <a:latin typeface="Microsoft JhengHei" pitchFamily="34" charset="0"/>
                <a:ea typeface="Microsoft JhengHei" pitchFamily="34" charset="-122"/>
              </a:rPr>
              <a:t>庫存資料一致性</a:t>
            </a:r>
            <a:endParaRPr lang="en-US" sz="20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FCA5BFDF-748B-E18F-764F-88F6BB630224}"/>
              </a:ext>
            </a:extLst>
          </p:cNvPr>
          <p:cNvSpPr/>
          <p:nvPr/>
        </p:nvSpPr>
        <p:spPr>
          <a:xfrm>
            <a:off x="4351867" y="4913950"/>
            <a:ext cx="6217920" cy="4888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確保高並發下（如開學出大量領用耗材）的庫存扣減正確性</a:t>
            </a:r>
            <a:endParaRPr lang="en-US" altLang="zh-TW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歷史紀錄採封存（</a:t>
            </a:r>
            <a:r>
              <a:rPr lang="en-US" altLang="zh-TW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Archived</a:t>
            </a:r>
            <a:r>
              <a:rPr lang="zh-TW" altLang="en-US" sz="14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）而非物理刪除</a:t>
            </a:r>
            <a:endParaRPr lang="en-US" sz="14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D2738F2-70A3-41DC-8CA4-98371E669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12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74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B33B-E117-4402-1D37-54F24EAB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8493261-D935-8E1A-B577-45CFD15BAE66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250740-D6F6-B4F0-D4BF-C7ADFCA0CEA7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完整性限制</a:t>
            </a: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AD56BCAC-60F2-CBDC-D65C-5A5B112C224E}"/>
              </a:ext>
            </a:extLst>
          </p:cNvPr>
          <p:cNvSpPr/>
          <p:nvPr/>
        </p:nvSpPr>
        <p:spPr>
          <a:xfrm>
            <a:off x="984503" y="1685198"/>
            <a:ext cx="9814311" cy="48705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資料庫設計核心：不是只記錄資料，而是確保資料符合系所管理語意。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48921C7-7D8E-BD6C-7AE5-F8989112E37B}"/>
              </a:ext>
            </a:extLst>
          </p:cNvPr>
          <p:cNvSpPr/>
          <p:nvPr/>
        </p:nvSpPr>
        <p:spPr>
          <a:xfrm>
            <a:off x="7132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D4E93F9-5233-1A31-BDA1-9FE136F1F0DC}"/>
              </a:ext>
            </a:extLst>
          </p:cNvPr>
          <p:cNvSpPr/>
          <p:nvPr/>
        </p:nvSpPr>
        <p:spPr>
          <a:xfrm>
            <a:off x="9616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實體完整性</a:t>
            </a:r>
            <a:endParaRPr lang="en-US" sz="18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3E76AE-AB6F-1CD2-542B-E936CE5CB018}"/>
              </a:ext>
            </a:extLst>
          </p:cNvPr>
          <p:cNvSpPr/>
          <p:nvPr/>
        </p:nvSpPr>
        <p:spPr>
          <a:xfrm>
            <a:off x="912014" y="4051535"/>
            <a:ext cx="1973777" cy="6423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ctr"/>
            <a:r>
              <a:rPr lang="zh-TW" altLang="en-US" sz="1600">
                <a:solidFill>
                  <a:srgbClr val="6F655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每筆資料要能被唯一識別</a:t>
            </a:r>
            <a:endParaRPr lang="en-US" sz="1600">
              <a:solidFill>
                <a:srgbClr val="6F655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73D64CC-7CA0-AC39-7979-27C50114B047}"/>
              </a:ext>
            </a:extLst>
          </p:cNvPr>
          <p:cNvSpPr/>
          <p:nvPr/>
        </p:nvSpPr>
        <p:spPr>
          <a:xfrm>
            <a:off x="34564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DCE7EF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B087C6C-EC74-0C2F-4E30-5DF7D4E33696}"/>
              </a:ext>
            </a:extLst>
          </p:cNvPr>
          <p:cNvSpPr/>
          <p:nvPr/>
        </p:nvSpPr>
        <p:spPr>
          <a:xfrm>
            <a:off x="37048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參照完整性</a:t>
            </a:r>
            <a:endParaRPr lang="en-US" sz="18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467E066-6A51-A426-BDD1-B322094C92CD}"/>
              </a:ext>
            </a:extLst>
          </p:cNvPr>
          <p:cNvSpPr/>
          <p:nvPr/>
        </p:nvSpPr>
        <p:spPr>
          <a:xfrm>
            <a:off x="3704843" y="4043139"/>
            <a:ext cx="18745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紀錄要對應有效資料</a:t>
            </a:r>
            <a:endParaRPr lang="en-US" sz="16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F0DF7AD-E0C2-8469-5C28-5BD2C9CBCABB}"/>
              </a:ext>
            </a:extLst>
          </p:cNvPr>
          <p:cNvSpPr/>
          <p:nvPr/>
        </p:nvSpPr>
        <p:spPr>
          <a:xfrm>
            <a:off x="61996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91E74FD-665A-2123-5BF9-451834E506BD}"/>
              </a:ext>
            </a:extLst>
          </p:cNvPr>
          <p:cNvSpPr/>
          <p:nvPr/>
        </p:nvSpPr>
        <p:spPr>
          <a:xfrm>
            <a:off x="64480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值域完整性</a:t>
            </a:r>
            <a:endParaRPr lang="en-US" sz="180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72A6F7C2-2191-971D-A0B9-216AB4EA299A}"/>
              </a:ext>
            </a:extLst>
          </p:cNvPr>
          <p:cNvSpPr/>
          <p:nvPr/>
        </p:nvSpPr>
        <p:spPr>
          <a:xfrm>
            <a:off x="6470903" y="4061427"/>
            <a:ext cx="1828800" cy="62253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數值、狀態、日期要合理</a:t>
            </a:r>
            <a:endParaRPr lang="en-US" sz="160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EFC7ADA-6B20-5D24-8AEE-0746D94C7E57}"/>
              </a:ext>
            </a:extLst>
          </p:cNvPr>
          <p:cNvSpPr/>
          <p:nvPr/>
        </p:nvSpPr>
        <p:spPr>
          <a:xfrm>
            <a:off x="8942831" y="3090670"/>
            <a:ext cx="2371345" cy="1887397"/>
          </a:xfrm>
          <a:prstGeom prst="roundRect">
            <a:avLst>
              <a:gd name="adj" fmla="val 4103"/>
            </a:avLst>
          </a:prstGeom>
          <a:solidFill>
            <a:srgbClr val="FBF8F2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9EBCEA2-278F-FA50-E4BD-DE82B4956021}"/>
              </a:ext>
            </a:extLst>
          </p:cNvPr>
          <p:cNvSpPr/>
          <p:nvPr/>
        </p:nvSpPr>
        <p:spPr>
          <a:xfrm>
            <a:off x="9191243" y="3419855"/>
            <a:ext cx="1874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使用者自訂完整性</a:t>
            </a:r>
            <a:endParaRPr lang="en-US" sz="180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2D5E5E-3C30-D222-027F-FC54152A601C}"/>
              </a:ext>
            </a:extLst>
          </p:cNvPr>
          <p:cNvSpPr/>
          <p:nvPr/>
        </p:nvSpPr>
        <p:spPr>
          <a:xfrm>
            <a:off x="9236963" y="4034368"/>
            <a:ext cx="1828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6F65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符合本系統情境規則</a:t>
            </a:r>
            <a:endParaRPr lang="en-US" sz="160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27963325-2059-1AC8-6880-B97309EA3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13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9075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F0AD-B049-078F-F8D6-485949E1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D683EB1-C98A-2C92-F4BA-AE98B0234ACD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BFE975-8A6D-2FC5-CEF1-38CC1383107E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完整性限制：分類與代表規則</a:t>
            </a: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DC3B241F-F087-0414-073B-564784FF773D}"/>
              </a:ext>
            </a:extLst>
          </p:cNvPr>
          <p:cNvSpPr/>
          <p:nvPr/>
        </p:nvSpPr>
        <p:spPr>
          <a:xfrm>
            <a:off x="1005840" y="1509318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B8ACD0A-6A3E-B34F-A6EB-AA384DEA4458}"/>
              </a:ext>
            </a:extLst>
          </p:cNvPr>
          <p:cNvSpPr/>
          <p:nvPr/>
        </p:nvSpPr>
        <p:spPr>
          <a:xfrm>
            <a:off x="1478898" y="1820214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實體完整性</a:t>
            </a: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5851572-1810-5FAA-4655-0B0B5BB6D4E6}"/>
              </a:ext>
            </a:extLst>
          </p:cNvPr>
          <p:cNvSpPr/>
          <p:nvPr/>
        </p:nvSpPr>
        <p:spPr>
          <a:xfrm>
            <a:off x="3981364" y="1792782"/>
            <a:ext cx="7204795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設備具有獨立的系所內部唯一編號</a:t>
            </a:r>
            <a:r>
              <a:rPr lang="en-US" altLang="zh-TW" sz="160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(Primary Key)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，且不得缺失</a:t>
            </a:r>
            <a:r>
              <a:rPr lang="en-US" altLang="zh-TW" sz="160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(Not NULL)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altLang="zh-TW" sz="16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BF8EC46-410D-5C45-2FBA-3C6FB2A1A893}"/>
              </a:ext>
            </a:extLst>
          </p:cNvPr>
          <p:cNvSpPr/>
          <p:nvPr/>
        </p:nvSpPr>
        <p:spPr>
          <a:xfrm>
            <a:off x="1005840" y="2639069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DCE7EF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94D73EB-3747-E3C7-DC5C-BB5A49EB120D}"/>
              </a:ext>
            </a:extLst>
          </p:cNvPr>
          <p:cNvSpPr/>
          <p:nvPr/>
        </p:nvSpPr>
        <p:spPr>
          <a:xfrm>
            <a:off x="1478898" y="2945393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參照完整性</a:t>
            </a: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3F48D1C-FC4C-77C4-069B-614B5913DA47}"/>
              </a:ext>
            </a:extLst>
          </p:cNvPr>
          <p:cNvSpPr/>
          <p:nvPr/>
        </p:nvSpPr>
        <p:spPr>
          <a:xfrm>
            <a:off x="3981365" y="2917961"/>
            <a:ext cx="664430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歸屬之類別、存放地點及負責人</a:t>
            </a:r>
            <a:r>
              <a:rPr lang="en-US" altLang="zh-TW" sz="160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(Foreign Keys)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必須對應系統中有效實體。</a:t>
            </a: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D6593324-4844-162F-2E2A-5D1EEE2FFA7E}"/>
              </a:ext>
            </a:extLst>
          </p:cNvPr>
          <p:cNvSpPr/>
          <p:nvPr/>
        </p:nvSpPr>
        <p:spPr>
          <a:xfrm>
            <a:off x="1005840" y="3768820"/>
            <a:ext cx="9966960" cy="950976"/>
          </a:xfrm>
          <a:prstGeom prst="roundRect">
            <a:avLst>
              <a:gd name="adj" fmla="val 673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8A9D4555-BC21-C0E6-54D2-8F272B59A590}"/>
              </a:ext>
            </a:extLst>
          </p:cNvPr>
          <p:cNvSpPr/>
          <p:nvPr/>
        </p:nvSpPr>
        <p:spPr>
          <a:xfrm>
            <a:off x="1478898" y="4075611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值域完整性</a:t>
            </a: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5F149FE-ACCB-EA5F-630F-14EAF296EAAA}"/>
              </a:ext>
            </a:extLst>
          </p:cNvPr>
          <p:cNvSpPr/>
          <p:nvPr/>
        </p:nvSpPr>
        <p:spPr>
          <a:xfrm>
            <a:off x="3981365" y="3909075"/>
            <a:ext cx="6217920" cy="6716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狀態</a:t>
            </a:r>
            <a:r>
              <a:rPr lang="en-US" altLang="zh-TW" sz="160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</a:rPr>
              <a:t>(status)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：可用、借出中、維修中、停用、報廢或遺失。</a:t>
            </a:r>
            <a:endParaRPr lang="en-US" altLang="zh-TW" sz="16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數值</a:t>
            </a:r>
            <a:r>
              <a:rPr lang="en-US" altLang="zh-TW" sz="160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</a:rPr>
              <a:t>(Numeric)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：財務與庫存數據必須</a:t>
            </a:r>
            <a:r>
              <a:rPr lang="en-US" altLang="zh-TW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&gt;=0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。</a:t>
            </a:r>
            <a:endParaRPr lang="en-US" altLang="zh-TW" sz="1600">
              <a:solidFill>
                <a:srgbClr val="201C1A"/>
              </a:solidFill>
              <a:latin typeface="Microsoft JhengHei" pitchFamily="34" charset="0"/>
              <a:ea typeface="Microsoft JhengHei" pitchFamily="34" charset="-122"/>
            </a:endParaRPr>
          </a:p>
          <a:p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日期</a:t>
            </a:r>
            <a:r>
              <a:rPr lang="en-US" altLang="zh-TW" sz="160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</a:rPr>
              <a:t>(Date)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：須符合標準</a:t>
            </a:r>
            <a:r>
              <a:rPr lang="en-US" altLang="zh-TW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Timestamp</a:t>
            </a:r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格式。</a:t>
            </a:r>
          </a:p>
        </p:txBody>
      </p:sp>
      <p:sp>
        <p:nvSpPr>
          <p:cNvPr id="2" name="Shape 19">
            <a:extLst>
              <a:ext uri="{FF2B5EF4-FFF2-40B4-BE49-F238E27FC236}">
                <a16:creationId xmlns:a16="http://schemas.microsoft.com/office/drawing/2014/main" id="{E2933C0F-D5A5-9C54-24C1-A170DD6C6321}"/>
              </a:ext>
            </a:extLst>
          </p:cNvPr>
          <p:cNvSpPr/>
          <p:nvPr/>
        </p:nvSpPr>
        <p:spPr>
          <a:xfrm>
            <a:off x="1005840" y="4898571"/>
            <a:ext cx="9966960" cy="950976"/>
          </a:xfrm>
          <a:prstGeom prst="roundRect">
            <a:avLst>
              <a:gd name="adj" fmla="val 5161"/>
            </a:avLst>
          </a:prstGeom>
          <a:solidFill>
            <a:srgbClr val="FBF8F2"/>
          </a:solidFill>
          <a:ln w="762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DE93146A-CE8B-9696-3A24-93550A52D0AB}"/>
              </a:ext>
            </a:extLst>
          </p:cNvPr>
          <p:cNvSpPr/>
          <p:nvPr/>
        </p:nvSpPr>
        <p:spPr>
          <a:xfrm>
            <a:off x="1478898" y="5213011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zh-TW" altLang="en-US" sz="2000" b="1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使用者自訂完整性</a:t>
            </a: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F592207A-9ED3-E2C6-CFAB-9DEA37D97B40}"/>
              </a:ext>
            </a:extLst>
          </p:cNvPr>
          <p:cNvSpPr/>
          <p:nvPr/>
        </p:nvSpPr>
        <p:spPr>
          <a:xfrm>
            <a:off x="3981365" y="5185579"/>
            <a:ext cx="62179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1600">
                <a:solidFill>
                  <a:srgbClr val="201C1A"/>
                </a:solidFill>
                <a:latin typeface="Microsoft JhengHei" pitchFamily="34" charset="0"/>
                <a:ea typeface="Microsoft JhengHei" pitchFamily="34" charset="-122"/>
              </a:rPr>
              <a:t>財產資料與負責人限制、借用與領用限制、時序與歷程限制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1A2F9231-2828-BE9B-6D15-64359FE2C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14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93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群組 21">
            <a:extLst>
              <a:ext uri="{FF2B5EF4-FFF2-40B4-BE49-F238E27FC236}">
                <a16:creationId xmlns:a16="http://schemas.microsoft.com/office/drawing/2014/main" id="{5E3F6461-A28D-B799-9403-661E4EFA2898}"/>
              </a:ext>
            </a:extLst>
          </p:cNvPr>
          <p:cNvGrpSpPr/>
          <p:nvPr/>
        </p:nvGrpSpPr>
        <p:grpSpPr>
          <a:xfrm>
            <a:off x="549463" y="802235"/>
            <a:ext cx="5675563" cy="4681287"/>
            <a:chOff x="295561" y="1200246"/>
            <a:chExt cx="5675563" cy="4681287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86B30406-A76C-1B1B-CEA1-23D7C5CA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561" y="1200246"/>
              <a:ext cx="5675563" cy="4681287"/>
            </a:xfrm>
            <a:prstGeom prst="rect">
              <a:avLst/>
            </a:prstGeom>
          </p:spPr>
        </p:pic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1371835E-25F2-0AD4-794E-9D1412EAE226}"/>
                </a:ext>
              </a:extLst>
            </p:cNvPr>
            <p:cNvSpPr/>
            <p:nvPr/>
          </p:nvSpPr>
          <p:spPr>
            <a:xfrm>
              <a:off x="1013758" y="1277480"/>
              <a:ext cx="3792857" cy="43227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D850AC9F-659B-2F92-80D4-E73E918F5EF2}"/>
                </a:ext>
              </a:extLst>
            </p:cNvPr>
            <p:cNvSpPr/>
            <p:nvPr/>
          </p:nvSpPr>
          <p:spPr>
            <a:xfrm>
              <a:off x="582282" y="4370765"/>
              <a:ext cx="862952" cy="40271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5B304107-86B8-4C8E-237C-443A8FCC3AFA}"/>
                </a:ext>
              </a:extLst>
            </p:cNvPr>
            <p:cNvSpPr/>
            <p:nvPr/>
          </p:nvSpPr>
          <p:spPr>
            <a:xfrm>
              <a:off x="3825392" y="1929359"/>
              <a:ext cx="1148183" cy="50078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1D164710-7818-7AA7-E6A3-FF8F4A4DFAE7}"/>
                </a:ext>
              </a:extLst>
            </p:cNvPr>
            <p:cNvSpPr/>
            <p:nvPr/>
          </p:nvSpPr>
          <p:spPr>
            <a:xfrm>
              <a:off x="439667" y="3099799"/>
              <a:ext cx="1148183" cy="50078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+mj-lt"/>
              </a:endParaRPr>
            </a:p>
          </p:txBody>
        </p:sp>
      </p:grpSp>
      <p:sp>
        <p:nvSpPr>
          <p:cNvPr id="2" name="Text 4">
            <a:extLst>
              <a:ext uri="{FF2B5EF4-FFF2-40B4-BE49-F238E27FC236}">
                <a16:creationId xmlns:a16="http://schemas.microsoft.com/office/drawing/2014/main" id="{019145E3-D46E-E938-F313-1AD648A534DA}"/>
              </a:ext>
            </a:extLst>
          </p:cNvPr>
          <p:cNvSpPr/>
          <p:nvPr/>
        </p:nvSpPr>
        <p:spPr>
          <a:xfrm>
            <a:off x="502919" y="146944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3600" b="1">
                <a:latin typeface="Microsoft JhengHei" pitchFamily="34" charset="0"/>
                <a:ea typeface="Microsoft JhengHei" pitchFamily="34" charset="-122"/>
              </a:rPr>
              <a:t>完整性限制：實體屬性與限制對應表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0BDD77D-D04C-AC16-1126-D76DBA287A61}"/>
              </a:ext>
            </a:extLst>
          </p:cNvPr>
          <p:cNvSpPr/>
          <p:nvPr/>
        </p:nvSpPr>
        <p:spPr>
          <a:xfrm>
            <a:off x="6383304" y="1294986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物件與存放位置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F82124B-9A57-7AA6-529D-FCA2F249EB9F}"/>
              </a:ext>
            </a:extLst>
          </p:cNvPr>
          <p:cNvSpPr/>
          <p:nvPr/>
        </p:nvSpPr>
        <p:spPr>
          <a:xfrm>
            <a:off x="149877" y="5769693"/>
            <a:ext cx="540844" cy="2427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38BB52E-0DF7-122F-7560-66345E91DAA9}"/>
              </a:ext>
            </a:extLst>
          </p:cNvPr>
          <p:cNvSpPr txBox="1"/>
          <p:nvPr/>
        </p:nvSpPr>
        <p:spPr>
          <a:xfrm>
            <a:off x="720801" y="5702793"/>
            <a:ext cx="66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實體</a:t>
            </a:r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D3B3C84-8AF1-DE3F-FF17-AB72DF16A6AB}"/>
              </a:ext>
            </a:extLst>
          </p:cNvPr>
          <p:cNvSpPr/>
          <p:nvPr/>
        </p:nvSpPr>
        <p:spPr>
          <a:xfrm>
            <a:off x="178863" y="5365073"/>
            <a:ext cx="497528" cy="27443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A6A603C-7BE7-6160-C216-598135AE8FA7}"/>
              </a:ext>
            </a:extLst>
          </p:cNvPr>
          <p:cNvSpPr txBox="1"/>
          <p:nvPr/>
        </p:nvSpPr>
        <p:spPr>
          <a:xfrm>
            <a:off x="712986" y="5301819"/>
            <a:ext cx="66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</a:t>
            </a:r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9482A7-0E89-FBA3-CE41-B1B88FC1E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7" y="2327778"/>
            <a:ext cx="1791113" cy="2151520"/>
          </a:xfrm>
          <a:prstGeom prst="rect">
            <a:avLst/>
          </a:prstGeom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F165B35-072E-A7AA-E9D5-CE988208E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819325"/>
              </p:ext>
            </p:extLst>
          </p:nvPr>
        </p:nvGraphicFramePr>
        <p:xfrm>
          <a:off x="1871832" y="2001117"/>
          <a:ext cx="9800784" cy="4748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117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2148117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148117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3356433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2568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44357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內部唯一編號</a:t>
                      </a:r>
                      <a:r>
                        <a:rPr lang="en-US" altLang="zh-TW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600" b="1" u="sng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不可為空，且不可重複，作為物品主要識別依據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2568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443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可用、借出中、維修中、停用、報廢、遺失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2568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保固期限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必須為合法日期格式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443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空間編號</a:t>
                      </a:r>
                      <a:r>
                        <a:rPr lang="en-US" altLang="zh-TW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(FK)</a:t>
                      </a:r>
                      <a:endParaRPr lang="zh-TW" altLang="en-US" sz="1600" b="1" u="none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參照完整性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不可為空，且必須對應至已登錄的存放位置空間編號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053592"/>
                  </a:ext>
                </a:extLst>
              </a:tr>
              <a:tr h="3921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物品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建立者編號（</a:t>
                      </a:r>
                      <a:r>
                        <a:rPr kumimoji="0" lang="en-US" altLang="zh-TW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FK</a:t>
                      </a: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若有記錄建立者，必須對應至已登錄的使用者編號</a:t>
                      </a:r>
                      <a:endParaRPr lang="zh-TW" altLang="zh-TW" sz="160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2032400808"/>
                  </a:ext>
                </a:extLst>
              </a:tr>
              <a:tr h="443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存放位置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空間編號</a:t>
                      </a:r>
                      <a:r>
                        <a:rPr lang="en-US" altLang="zh-TW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600" b="1" u="sng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不可為空，且不可重複，且應能唯一識別存放位置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2568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存放位置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空間名稱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027161"/>
                  </a:ext>
                </a:extLst>
              </a:tr>
              <a:tr h="4435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存放位置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空間類型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教室、實驗室、儲藏室、辦公室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967742"/>
                  </a:ext>
                </a:extLst>
              </a:tr>
            </a:tbl>
          </a:graphicData>
        </a:graphic>
      </p:graphicFrame>
      <p:sp>
        <p:nvSpPr>
          <p:cNvPr id="9" name="橢圓 8">
            <a:extLst>
              <a:ext uri="{FF2B5EF4-FFF2-40B4-BE49-F238E27FC236}">
                <a16:creationId xmlns:a16="http://schemas.microsoft.com/office/drawing/2014/main" id="{FB82B27F-1F07-DE9A-5ED0-F7349DA54CF3}"/>
              </a:ext>
            </a:extLst>
          </p:cNvPr>
          <p:cNvSpPr/>
          <p:nvPr/>
        </p:nvSpPr>
        <p:spPr>
          <a:xfrm>
            <a:off x="712986" y="2431967"/>
            <a:ext cx="1024134" cy="4053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97E43B4-D3F2-5ED8-8B6E-D81FDF081A3F}"/>
              </a:ext>
            </a:extLst>
          </p:cNvPr>
          <p:cNvSpPr/>
          <p:nvPr/>
        </p:nvSpPr>
        <p:spPr>
          <a:xfrm>
            <a:off x="178863" y="3094524"/>
            <a:ext cx="1088797" cy="1440609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EE4F96D-7217-799B-171C-80BC84B8F026}"/>
              </a:ext>
            </a:extLst>
          </p:cNvPr>
          <p:cNvSpPr txBox="1"/>
          <p:nvPr/>
        </p:nvSpPr>
        <p:spPr>
          <a:xfrm>
            <a:off x="1394085" y="985436"/>
            <a:ext cx="9554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b="1" u="sng">
                <a:solidFill>
                  <a:schemeClr val="dk1"/>
                </a:solidFill>
                <a:highlight>
                  <a:srgbClr val="FFFFFF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內部唯一編號</a:t>
            </a: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F21E810C-C90A-5EC7-00FB-FB98242DD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15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419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165DE54-000D-2BB4-9680-0C1B04E15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14430"/>
              </p:ext>
            </p:extLst>
          </p:nvPr>
        </p:nvGraphicFramePr>
        <p:xfrm>
          <a:off x="3054285" y="829559"/>
          <a:ext cx="8769949" cy="5653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181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922181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1922181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3003406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財產編號</a:t>
                      </a:r>
                      <a:r>
                        <a:rPr lang="en-US" altLang="zh-TW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600" b="1" u="sng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保管人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財產設備必須記錄保管人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取得日期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必須為合法日期格式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經費來源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應記錄有效經費來源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取得金額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必須大於等於 </a:t>
                      </a:r>
                      <a:r>
                        <a:rPr lang="en-US" altLang="zh-TW" sz="160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3,000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56065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耐用年限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必須為正整數或大於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839740043"/>
                  </a:ext>
                </a:extLst>
              </a:tr>
              <a:tr h="84322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財產設備明細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內部唯一編號（</a:t>
                      </a:r>
                      <a:r>
                        <a:rPr lang="en-US" altLang="zh-TW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FK</a:t>
                      </a:r>
                      <a:r>
                        <a:rPr lang="zh-TW" altLang="en-US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參照完整性／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必須對應至已登錄的物品，且該物品類型必須為財產設備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710861009"/>
                  </a:ext>
                </a:extLst>
              </a:tr>
              <a:tr h="88574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財產設備明細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保管人編號（</a:t>
                      </a:r>
                      <a:r>
                        <a:rPr lang="en-US" altLang="zh-TW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FK</a:t>
                      </a:r>
                      <a:r>
                        <a:rPr lang="zh-TW" altLang="en-US" sz="16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參照完整性／使用者自訂完整性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不可為空，且必須對應至已登錄的使用者；財產設備必須記錄保管人</a:t>
                      </a:r>
                      <a:endParaRPr lang="en-US" altLang="zh-TW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059470471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60BB2F2A-C037-4DA7-B579-8B3419014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5" y="290826"/>
            <a:ext cx="2622856" cy="3239998"/>
          </a:xfrm>
          <a:prstGeom prst="rect">
            <a:avLst/>
          </a:prstGeom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1065F3D4-71C9-E127-72BC-D86BA78AFB7E}"/>
              </a:ext>
            </a:extLst>
          </p:cNvPr>
          <p:cNvSpPr/>
          <p:nvPr/>
        </p:nvSpPr>
        <p:spPr>
          <a:xfrm>
            <a:off x="1711890" y="392650"/>
            <a:ext cx="124065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6F573E01-2E2C-BC82-5AB5-4D2F8C9941DB}"/>
              </a:ext>
            </a:extLst>
          </p:cNvPr>
          <p:cNvSpPr/>
          <p:nvPr/>
        </p:nvSpPr>
        <p:spPr>
          <a:xfrm>
            <a:off x="211986" y="719174"/>
            <a:ext cx="1189788" cy="275851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5B81A57-953F-B505-2F90-9F9A92490E56}"/>
              </a:ext>
            </a:extLst>
          </p:cNvPr>
          <p:cNvSpPr/>
          <p:nvPr/>
        </p:nvSpPr>
        <p:spPr>
          <a:xfrm>
            <a:off x="3054285" y="97030"/>
            <a:ext cx="3636996" cy="76883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物品分類子實體</a:t>
            </a:r>
            <a:r>
              <a:rPr lang="en-US" altLang="zh-TW" sz="2400" b="1">
                <a:latin typeface="Microsoft JhengHei" pitchFamily="34" charset="0"/>
                <a:ea typeface="Microsoft JhengHei" pitchFamily="34" charset="-122"/>
              </a:rPr>
              <a:t>-</a:t>
            </a: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財產設備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B4C333-0516-A094-0409-315183C6C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6584" y="6381177"/>
            <a:ext cx="2743200" cy="365125"/>
          </a:xfrm>
        </p:spPr>
        <p:txBody>
          <a:bodyPr/>
          <a:lstStyle/>
          <a:p>
            <a:fld id="{FFA32C4C-0BC4-4C0B-B515-D3E7B997DA3C}" type="slidenum">
              <a:rPr lang="zh-TW" altLang="en-US" smtClean="0"/>
              <a:pPr/>
              <a:t>16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167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7D78-2B6D-97E5-53F3-9118E262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4">
            <a:extLst>
              <a:ext uri="{FF2B5EF4-FFF2-40B4-BE49-F238E27FC236}">
                <a16:creationId xmlns:a16="http://schemas.microsoft.com/office/drawing/2014/main" id="{B30A082C-9918-EE96-93D3-43ED17B17CF5}"/>
              </a:ext>
            </a:extLst>
          </p:cNvPr>
          <p:cNvSpPr/>
          <p:nvPr/>
        </p:nvSpPr>
        <p:spPr>
          <a:xfrm>
            <a:off x="3866791" y="128257"/>
            <a:ext cx="5250729" cy="6929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物品分類子實體</a:t>
            </a:r>
            <a:r>
              <a:rPr lang="en-US" altLang="zh-TW" sz="2400" b="1">
                <a:latin typeface="Microsoft JhengHei" pitchFamily="34" charset="0"/>
                <a:ea typeface="Microsoft JhengHei" pitchFamily="34" charset="-122"/>
              </a:rPr>
              <a:t>-</a:t>
            </a: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非列管設備與耗材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65B6B8-B9B6-E7D2-2CF8-B77870094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607867"/>
              </p:ext>
            </p:extLst>
          </p:nvPr>
        </p:nvGraphicFramePr>
        <p:xfrm>
          <a:off x="3866791" y="727185"/>
          <a:ext cx="7807599" cy="5879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255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711255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1711255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2673834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52456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6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5502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規格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不可為空，需描述設備規格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47957795"/>
                  </a:ext>
                </a:extLst>
              </a:tr>
              <a:tr h="5502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必須為整數，且大於等於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699151037"/>
                  </a:ext>
                </a:extLst>
              </a:tr>
              <a:tr h="5502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可借用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是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否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39279449"/>
                  </a:ext>
                </a:extLst>
              </a:tr>
              <a:tr h="5502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可重複使用的非列管設備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需歸還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是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否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157933078"/>
                  </a:ext>
                </a:extLst>
              </a:tr>
              <a:tr h="748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非列管設備明細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內部唯一編號（</a:t>
                      </a:r>
                      <a:r>
                        <a:rPr lang="en-US" altLang="zh-TW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PK/FK</a:t>
                      </a:r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參照完整性／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不可為空，且必須對應至已登錄的物品；該物品類型應為非列管設備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221155760"/>
                  </a:ext>
                </a:extLst>
              </a:tr>
              <a:tr h="52456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庫存量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必須為整數，且大於等於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207462683"/>
                  </a:ext>
                </a:extLst>
              </a:tr>
              <a:tr h="52456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最低庫存量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必須為整數，且大於等於 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584559642"/>
                  </a:ext>
                </a:extLst>
              </a:tr>
              <a:tr h="5502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單位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不可為空，例如：包、盒、支、張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023961715"/>
                  </a:ext>
                </a:extLst>
              </a:tr>
              <a:tr h="55025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耗材明細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內部唯一編號（</a:t>
                      </a:r>
                      <a:r>
                        <a:rPr lang="en-US" altLang="zh-TW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PK/FK</a:t>
                      </a:r>
                      <a:r>
                        <a:rPr lang="zh-TW" altLang="en-US" sz="16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參照完整性／</a:t>
                      </a:r>
                      <a:r>
                        <a:rPr lang="en-US" altLang="zh-TW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不可為空，且必須對應至已登錄的物品；該物品類型應為耗材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37366545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39CB2E08-29A5-E116-D15D-45F047E8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41" y="243270"/>
            <a:ext cx="3343742" cy="3381847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DA93638D-9835-F08F-D0C6-26E1147BF821}"/>
              </a:ext>
            </a:extLst>
          </p:cNvPr>
          <p:cNvSpPr/>
          <p:nvPr/>
        </p:nvSpPr>
        <p:spPr>
          <a:xfrm>
            <a:off x="2329623" y="179986"/>
            <a:ext cx="124065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89C29BC-BE6E-C79F-04F9-971EA555C375}"/>
              </a:ext>
            </a:extLst>
          </p:cNvPr>
          <p:cNvSpPr/>
          <p:nvPr/>
        </p:nvSpPr>
        <p:spPr>
          <a:xfrm>
            <a:off x="780862" y="179986"/>
            <a:ext cx="124065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C9B1AB0-514C-C697-2450-2CF83F45A8F3}"/>
              </a:ext>
            </a:extLst>
          </p:cNvPr>
          <p:cNvSpPr/>
          <p:nvPr/>
        </p:nvSpPr>
        <p:spPr>
          <a:xfrm>
            <a:off x="1814970" y="899056"/>
            <a:ext cx="1285374" cy="166077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C173AF8-C495-93BA-0F42-C0472000A308}"/>
              </a:ext>
            </a:extLst>
          </p:cNvPr>
          <p:cNvSpPr/>
          <p:nvPr/>
        </p:nvSpPr>
        <p:spPr>
          <a:xfrm>
            <a:off x="238834" y="1525107"/>
            <a:ext cx="1371600" cy="205139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5E827F-6B45-4F4B-BEB8-1398EB744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17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412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B18AAF3-9B0F-93BB-535F-EF69ACCB6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119993"/>
              </p:ext>
            </p:extLst>
          </p:nvPr>
        </p:nvGraphicFramePr>
        <p:xfrm>
          <a:off x="710981" y="3914352"/>
          <a:ext cx="10770038" cy="189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933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89993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1899933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5070239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使用者編號</a:t>
                      </a:r>
                      <a:r>
                        <a:rPr lang="en-US" altLang="zh-TW" sz="18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800" b="1" u="sng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使用者姓名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聯絡方式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應記錄有效聯絡方式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4767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角色編號</a:t>
                      </a:r>
                      <a:r>
                        <a:rPr lang="en-US" altLang="zh-TW" sz="1800" b="1" u="none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(FK)</a:t>
                      </a:r>
                      <a:endParaRPr lang="zh-TW" altLang="en-US" sz="1800" b="1" u="none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參照完整性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使用者所屬之角色，必須為系統已定義的角色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</a:tbl>
          </a:graphicData>
        </a:graphic>
      </p:graphicFrame>
      <p:sp>
        <p:nvSpPr>
          <p:cNvPr id="18" name="Text 4">
            <a:extLst>
              <a:ext uri="{FF2B5EF4-FFF2-40B4-BE49-F238E27FC236}">
                <a16:creationId xmlns:a16="http://schemas.microsoft.com/office/drawing/2014/main" id="{3B52EE1C-C685-1B0A-5B96-E2C1E2C8EC13}"/>
              </a:ext>
            </a:extLst>
          </p:cNvPr>
          <p:cNvSpPr/>
          <p:nvPr/>
        </p:nvSpPr>
        <p:spPr>
          <a:xfrm>
            <a:off x="7687257" y="1835318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使用者與角色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B57CB4F-7511-F41A-FBF4-1999B83A0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80" y="537339"/>
            <a:ext cx="6529107" cy="3154237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04F810A8-6AA1-59AB-A2B2-48A43EECACFC}"/>
              </a:ext>
            </a:extLst>
          </p:cNvPr>
          <p:cNvSpPr/>
          <p:nvPr/>
        </p:nvSpPr>
        <p:spPr>
          <a:xfrm>
            <a:off x="5591175" y="556389"/>
            <a:ext cx="1362075" cy="170103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3F010BBA-B0D4-1698-6E07-C3F8AD404327}"/>
              </a:ext>
            </a:extLst>
          </p:cNvPr>
          <p:cNvSpPr/>
          <p:nvPr/>
        </p:nvSpPr>
        <p:spPr>
          <a:xfrm>
            <a:off x="2082581" y="1000125"/>
            <a:ext cx="1819275" cy="73041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F2C1786-35A9-5D9B-6DAA-C38F4A799232}"/>
              </a:ext>
            </a:extLst>
          </p:cNvPr>
          <p:cNvSpPr/>
          <p:nvPr/>
        </p:nvSpPr>
        <p:spPr>
          <a:xfrm>
            <a:off x="787182" y="3200400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CFD35B3-8C9A-E177-168F-D8EEA2F429E4}"/>
              </a:ext>
            </a:extLst>
          </p:cNvPr>
          <p:cNvSpPr/>
          <p:nvPr/>
        </p:nvSpPr>
        <p:spPr>
          <a:xfrm>
            <a:off x="2333296" y="3200400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372431F-C51C-3531-3100-D7F6AB31F6D5}"/>
              </a:ext>
            </a:extLst>
          </p:cNvPr>
          <p:cNvSpPr/>
          <p:nvPr/>
        </p:nvSpPr>
        <p:spPr>
          <a:xfrm>
            <a:off x="3978057" y="3200400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DE2DD889-67D7-967F-A6C3-B2ADF33D9022}"/>
              </a:ext>
            </a:extLst>
          </p:cNvPr>
          <p:cNvSpPr/>
          <p:nvPr/>
        </p:nvSpPr>
        <p:spPr>
          <a:xfrm>
            <a:off x="3910512" y="2166257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E8508D3-8EB4-2B07-F18F-9851F365861D}"/>
              </a:ext>
            </a:extLst>
          </p:cNvPr>
          <p:cNvSpPr/>
          <p:nvPr/>
        </p:nvSpPr>
        <p:spPr>
          <a:xfrm>
            <a:off x="5954214" y="2296752"/>
            <a:ext cx="1362075" cy="12084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CF949FB1-7F61-48C1-3B2A-E792D0394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18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7946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5005-76C0-AC72-7921-38944778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70FA429-0194-56EA-F7F5-A1D4A3712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542704"/>
              </p:ext>
            </p:extLst>
          </p:nvPr>
        </p:nvGraphicFramePr>
        <p:xfrm>
          <a:off x="548471" y="3296904"/>
          <a:ext cx="10770038" cy="334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933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89993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1899933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5070239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系所管理員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無額外屬性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繼承使用者之使用者編號、使用者姓名、聯絡方式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全系師生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無額外屬性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繼承使用者之使用者編號、使用者姓名、聯絡方式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26838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設備負責人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無額外屬性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ISA </a:t>
                      </a: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繼承使用者之使用者編號、使用者姓名、聯絡方式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4767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角色編號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4767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角色名稱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不可為空，且僅能為 系所管理員、全系師生、設備負責人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</a:tbl>
          </a:graphicData>
        </a:graphic>
      </p:graphicFrame>
      <p:sp>
        <p:nvSpPr>
          <p:cNvPr id="18" name="Text 4">
            <a:extLst>
              <a:ext uri="{FF2B5EF4-FFF2-40B4-BE49-F238E27FC236}">
                <a16:creationId xmlns:a16="http://schemas.microsoft.com/office/drawing/2014/main" id="{DF82E020-A43C-E759-6AEE-D48744BC83AB}"/>
              </a:ext>
            </a:extLst>
          </p:cNvPr>
          <p:cNvSpPr/>
          <p:nvPr/>
        </p:nvSpPr>
        <p:spPr>
          <a:xfrm>
            <a:off x="7926393" y="1335871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使用者與角色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7CD22CE-6249-C1F5-8525-52260381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71" y="142667"/>
            <a:ext cx="6529107" cy="3154237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5E2C5E97-9112-7AC5-29FD-6D6C634068E0}"/>
              </a:ext>
            </a:extLst>
          </p:cNvPr>
          <p:cNvSpPr/>
          <p:nvPr/>
        </p:nvSpPr>
        <p:spPr>
          <a:xfrm>
            <a:off x="5428666" y="161717"/>
            <a:ext cx="1362075" cy="170103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410BEDF-ED4F-89F1-211C-3D03C00E3DCF}"/>
              </a:ext>
            </a:extLst>
          </p:cNvPr>
          <p:cNvSpPr/>
          <p:nvPr/>
        </p:nvSpPr>
        <p:spPr>
          <a:xfrm>
            <a:off x="1920072" y="605453"/>
            <a:ext cx="1819275" cy="73041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70B4676-6954-88DF-A0A3-C96975A80DAB}"/>
              </a:ext>
            </a:extLst>
          </p:cNvPr>
          <p:cNvSpPr/>
          <p:nvPr/>
        </p:nvSpPr>
        <p:spPr>
          <a:xfrm>
            <a:off x="624673" y="2805728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604F3C3-B59A-4109-5CC7-9C01AE8D2F20}"/>
              </a:ext>
            </a:extLst>
          </p:cNvPr>
          <p:cNvSpPr/>
          <p:nvPr/>
        </p:nvSpPr>
        <p:spPr>
          <a:xfrm>
            <a:off x="2170787" y="2805728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F3CBBE7-CCA8-3F30-B2AB-8BE092B9A56B}"/>
              </a:ext>
            </a:extLst>
          </p:cNvPr>
          <p:cNvSpPr/>
          <p:nvPr/>
        </p:nvSpPr>
        <p:spPr>
          <a:xfrm>
            <a:off x="3815548" y="2805728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54E4429-07DE-EA07-DEBD-B0C5B40A8BC3}"/>
              </a:ext>
            </a:extLst>
          </p:cNvPr>
          <p:cNvSpPr/>
          <p:nvPr/>
        </p:nvSpPr>
        <p:spPr>
          <a:xfrm>
            <a:off x="3748003" y="1771585"/>
            <a:ext cx="1203544" cy="4572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FD5C2E5-3539-DA14-46F6-CF2912312152}"/>
              </a:ext>
            </a:extLst>
          </p:cNvPr>
          <p:cNvSpPr/>
          <p:nvPr/>
        </p:nvSpPr>
        <p:spPr>
          <a:xfrm>
            <a:off x="5791705" y="1902080"/>
            <a:ext cx="1362075" cy="120844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118C545C-D003-D66F-C9A4-F3888A302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19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2208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4FCC2E3-6682-C8C0-BCA0-69A943492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3" y="130285"/>
            <a:ext cx="6687483" cy="2133898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5590B73-E0BA-BA54-48DC-B2AAC2DC0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773007"/>
              </p:ext>
            </p:extLst>
          </p:nvPr>
        </p:nvGraphicFramePr>
        <p:xfrm>
          <a:off x="470168" y="2342459"/>
          <a:ext cx="11078633" cy="3462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373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95437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188312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4981575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3762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3815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異動編號</a:t>
                      </a:r>
                      <a:r>
                        <a:rPr lang="en-US" altLang="zh-TW" sz="18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800" b="1" u="sng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3815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舊狀態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必須為物品狀態的合法值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3815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必須為物品狀態的合法值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3815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異動時間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不可為空，必須為合法時間格式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3815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異動原因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狀態變更時應記錄異動原因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5894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狀態異動紀錄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使用者編號</a:t>
                      </a:r>
                      <a:r>
                        <a:rPr lang="en-US" altLang="zh-TW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(FK)</a:t>
                      </a:r>
                      <a:endParaRPr lang="zh-TW" altLang="en-US" sz="1800" b="1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執行異動的操作者不可為空，且必須對應至系統中已登錄的使用者編號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3609063155"/>
                  </a:ext>
                </a:extLst>
              </a:tr>
              <a:tr h="58944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狀態異動紀錄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設備編號</a:t>
                      </a:r>
                      <a:r>
                        <a:rPr lang="en-US" altLang="zh-TW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(FK)</a:t>
                      </a:r>
                      <a:endParaRPr lang="zh-TW" altLang="en-US" sz="1800" b="1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發生狀態異動的物品不可為空，且必須對應至系統中已登錄的物品內部唯一編號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1361423769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D9883B85-2F21-303E-247B-FEF64A85A64C}"/>
              </a:ext>
            </a:extLst>
          </p:cNvPr>
          <p:cNvSpPr/>
          <p:nvPr/>
        </p:nvSpPr>
        <p:spPr>
          <a:xfrm>
            <a:off x="1932373" y="1482562"/>
            <a:ext cx="1364279" cy="7253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D2BD820-6D33-FD32-9026-5E73A1922B4C}"/>
              </a:ext>
            </a:extLst>
          </p:cNvPr>
          <p:cNvSpPr/>
          <p:nvPr/>
        </p:nvSpPr>
        <p:spPr>
          <a:xfrm>
            <a:off x="595564" y="300881"/>
            <a:ext cx="6750682" cy="63767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3951B88-4004-2E70-1C36-F7DBC9EF0C29}"/>
              </a:ext>
            </a:extLst>
          </p:cNvPr>
          <p:cNvSpPr/>
          <p:nvPr/>
        </p:nvSpPr>
        <p:spPr>
          <a:xfrm>
            <a:off x="8112568" y="1097026"/>
            <a:ext cx="2399749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狀態異動紀錄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88B1280-16DA-1507-4C66-F95F3DC87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20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064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881624F-98DB-537D-8875-7C15BFDC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5" y="1939436"/>
            <a:ext cx="4264581" cy="2979127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5417BD-D24E-D89C-CEF4-67A1C3207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873107"/>
              </p:ext>
            </p:extLst>
          </p:nvPr>
        </p:nvGraphicFramePr>
        <p:xfrm>
          <a:off x="4436986" y="190705"/>
          <a:ext cx="7188265" cy="6448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660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1349582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1382903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2912120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54472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6807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u="sng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借用紀錄單號</a:t>
                      </a:r>
                      <a:r>
                        <a:rPr lang="en-US" altLang="zh-TW" sz="1800" b="1" u="sng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800" b="1" u="sng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373267732"/>
                  </a:ext>
                </a:extLst>
              </a:tr>
              <a:tr h="6807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不可為空，且必須早於實際歸還時間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62383816"/>
                  </a:ext>
                </a:extLst>
              </a:tr>
              <a:tr h="6807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預計歸還時間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應晚於借用時間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1170417540"/>
                  </a:ext>
                </a:extLst>
              </a:tr>
              <a:tr h="6807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實際歸還時間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若已歸還，不得早於借用時間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20247198"/>
                  </a:ext>
                </a:extLst>
              </a:tr>
              <a:tr h="6807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借用狀態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借用中、已歸還、逾期、取消 等狀態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638939662"/>
                  </a:ext>
                </a:extLst>
              </a:tr>
              <a:tr h="9442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借用紀錄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借用人編號（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FK</a:t>
                      </a: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借用人不可為空，且必須對應至系統中已登錄的使用者編號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3255150357"/>
                  </a:ext>
                </a:extLst>
              </a:tr>
              <a:tr h="15556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借用紀錄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內部唯一編號（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FK</a:t>
                      </a: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 </a:t>
                      </a: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 </a:t>
                      </a: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使用者自訂完整性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被借用的物品不可為空，且必須對應至系統中已登錄的物品內部唯一編號；依系統規則，耗材不得建立借用紀錄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1246571980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B2EE28FA-D652-3778-4E6F-38C03DD03199}"/>
              </a:ext>
            </a:extLst>
          </p:cNvPr>
          <p:cNvSpPr/>
          <p:nvPr/>
        </p:nvSpPr>
        <p:spPr>
          <a:xfrm>
            <a:off x="1207811" y="1887517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9DAE42A-452B-28D7-C710-E42F373D5B72}"/>
              </a:ext>
            </a:extLst>
          </p:cNvPr>
          <p:cNvSpPr/>
          <p:nvPr/>
        </p:nvSpPr>
        <p:spPr>
          <a:xfrm>
            <a:off x="366300" y="2485536"/>
            <a:ext cx="1058778" cy="222763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B98805A-AC1B-4964-A5EA-5BE4243BE1A5}"/>
              </a:ext>
            </a:extLst>
          </p:cNvPr>
          <p:cNvSpPr/>
          <p:nvPr/>
        </p:nvSpPr>
        <p:spPr>
          <a:xfrm>
            <a:off x="529336" y="306534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借用紀錄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6D5AF863-E21E-9AC8-E04C-28ED92CB1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21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8873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3531-F0CB-AE49-7EE4-2089F007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3C3A0FE-F09D-C11E-2345-83D92F5C6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83" y="85403"/>
            <a:ext cx="4264581" cy="2979127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5B2DFF7-1335-5AD6-14FE-8F4C5267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948906"/>
              </p:ext>
            </p:extLst>
          </p:nvPr>
        </p:nvGraphicFramePr>
        <p:xfrm>
          <a:off x="293370" y="2989363"/>
          <a:ext cx="11605259" cy="336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197">
                  <a:extLst>
                    <a:ext uri="{9D8B030D-6E8A-4147-A177-3AD203B41FA5}">
                      <a16:colId xmlns:a16="http://schemas.microsoft.com/office/drawing/2014/main" val="889733905"/>
                    </a:ext>
                  </a:extLst>
                </a:gridCol>
                <a:gridCol w="2178863">
                  <a:extLst>
                    <a:ext uri="{9D8B030D-6E8A-4147-A177-3AD203B41FA5}">
                      <a16:colId xmlns:a16="http://schemas.microsoft.com/office/drawing/2014/main" val="4105041769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1635575124"/>
                    </a:ext>
                  </a:extLst>
                </a:gridCol>
                <a:gridCol w="4701539">
                  <a:extLst>
                    <a:ext uri="{9D8B030D-6E8A-4147-A177-3AD203B41FA5}">
                      <a16:colId xmlns:a16="http://schemas.microsoft.com/office/drawing/2014/main" val="2319296051"/>
                    </a:ext>
                  </a:extLst>
                </a:gridCol>
              </a:tblGrid>
              <a:tr h="4000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4083200932"/>
                  </a:ext>
                </a:extLst>
              </a:tr>
              <a:tr h="4000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u="sng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領用紀錄單號</a:t>
                      </a:r>
                      <a:r>
                        <a:rPr lang="en-US" altLang="zh-TW" sz="1800" b="1" u="sng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800" b="1" u="sng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839740043"/>
                  </a:ext>
                </a:extLst>
              </a:tr>
              <a:tr h="4000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用途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領用時應記錄用途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647957795"/>
                  </a:ext>
                </a:extLst>
              </a:tr>
              <a:tr h="4000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數量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必須為正整數，且不可大於對應耗材庫存量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699151037"/>
                  </a:ext>
                </a:extLst>
              </a:tr>
              <a:tr h="40009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領用時間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不可為空，必須為合法時間格式</a:t>
                      </a: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3639279449"/>
                  </a:ext>
                </a:extLst>
              </a:tr>
              <a:tr h="6812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領用紀錄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領用人編號（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FK</a:t>
                      </a: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領用人不可為空，且必須對應至系統中已登錄的使用者編號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3010402907"/>
                  </a:ext>
                </a:extLst>
              </a:tr>
              <a:tr h="6812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領用紀錄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內部唯一編號（</a:t>
                      </a:r>
                      <a:r>
                        <a:rPr lang="en-US" altLang="zh-TW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FK</a:t>
                      </a:r>
                      <a:r>
                        <a:rPr lang="zh-TW" altLang="en-US" sz="1800" b="1" kern="12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）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 </a:t>
                      </a: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 </a:t>
                      </a: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使用者自訂完整性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被領用的耗材不可為空，且必須對應至系統中已登錄的耗材明細內部唯一編號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2740802148"/>
                  </a:ext>
                </a:extLst>
              </a:tr>
            </a:tbl>
          </a:graphicData>
        </a:graphic>
      </p:graphicFrame>
      <p:sp>
        <p:nvSpPr>
          <p:cNvPr id="6" name="橢圓 5">
            <a:extLst>
              <a:ext uri="{FF2B5EF4-FFF2-40B4-BE49-F238E27FC236}">
                <a16:creationId xmlns:a16="http://schemas.microsoft.com/office/drawing/2014/main" id="{9E04999D-1421-FD0C-23FD-FF8F3AB82920}"/>
              </a:ext>
            </a:extLst>
          </p:cNvPr>
          <p:cNvSpPr/>
          <p:nvPr/>
        </p:nvSpPr>
        <p:spPr>
          <a:xfrm>
            <a:off x="2939015" y="33484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E429E94-6A63-6267-C1E2-5FB38562A500}"/>
              </a:ext>
            </a:extLst>
          </p:cNvPr>
          <p:cNvSpPr/>
          <p:nvPr/>
        </p:nvSpPr>
        <p:spPr>
          <a:xfrm>
            <a:off x="2468479" y="716276"/>
            <a:ext cx="1058778" cy="19667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D20AA23-8017-E68E-221B-8C4C3EB907E9}"/>
              </a:ext>
            </a:extLst>
          </p:cNvPr>
          <p:cNvSpPr/>
          <p:nvPr/>
        </p:nvSpPr>
        <p:spPr>
          <a:xfrm>
            <a:off x="6574530" y="1878987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領用紀錄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BAA438BB-A3A2-2328-4125-260CE91B9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22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5474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8304E02-F1D6-A5C6-E308-CC816358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17" y="1310910"/>
            <a:ext cx="3799927" cy="4866976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2CE8F4-F9F7-ADF4-5329-9D61BDB9B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859645"/>
              </p:ext>
            </p:extLst>
          </p:nvPr>
        </p:nvGraphicFramePr>
        <p:xfrm>
          <a:off x="4031061" y="1970202"/>
          <a:ext cx="7628443" cy="2526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988">
                  <a:extLst>
                    <a:ext uri="{9D8B030D-6E8A-4147-A177-3AD203B41FA5}">
                      <a16:colId xmlns:a16="http://schemas.microsoft.com/office/drawing/2014/main" val="448544113"/>
                    </a:ext>
                  </a:extLst>
                </a:gridCol>
                <a:gridCol w="1671988">
                  <a:extLst>
                    <a:ext uri="{9D8B030D-6E8A-4147-A177-3AD203B41FA5}">
                      <a16:colId xmlns:a16="http://schemas.microsoft.com/office/drawing/2014/main" val="886864725"/>
                    </a:ext>
                  </a:extLst>
                </a:gridCol>
                <a:gridCol w="1671988">
                  <a:extLst>
                    <a:ext uri="{9D8B030D-6E8A-4147-A177-3AD203B41FA5}">
                      <a16:colId xmlns:a16="http://schemas.microsoft.com/office/drawing/2014/main" val="1707460985"/>
                    </a:ext>
                  </a:extLst>
                </a:gridCol>
                <a:gridCol w="2612479">
                  <a:extLst>
                    <a:ext uri="{9D8B030D-6E8A-4147-A177-3AD203B41FA5}">
                      <a16:colId xmlns:a16="http://schemas.microsoft.com/office/drawing/2014/main" val="3087382891"/>
                    </a:ext>
                  </a:extLst>
                </a:gridCol>
              </a:tblGrid>
              <a:tr h="36303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88620795"/>
                  </a:ext>
                </a:extLst>
              </a:tr>
              <a:tr h="5341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維護廠商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廠商聯繫方式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應記錄有效聯絡方式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406185067"/>
                  </a:ext>
                </a:extLst>
              </a:tr>
              <a:tr h="9650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維護廠商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廠商名稱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不可為空；若以廠商名稱作為識別，則應避免重複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4698265"/>
                  </a:ext>
                </a:extLst>
              </a:tr>
              <a:tr h="664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維護廠商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維護廠商編號</a:t>
                      </a:r>
                      <a:r>
                        <a:rPr lang="en-US" altLang="zh-TW" sz="1800" b="1" u="sng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(PK)</a:t>
                      </a:r>
                      <a:endParaRPr lang="zh-TW" altLang="en-US" sz="1800" b="1" u="sng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不可為空，且不可重複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882801232"/>
                  </a:ext>
                </a:extLst>
              </a:tr>
            </a:tbl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1143A9CD-8D7B-D18A-7597-EB6878E1329B}"/>
              </a:ext>
            </a:extLst>
          </p:cNvPr>
          <p:cNvSpPr/>
          <p:nvPr/>
        </p:nvSpPr>
        <p:spPr>
          <a:xfrm>
            <a:off x="602054" y="314881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維護廠商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25024B2-51DB-D70D-95E4-577A5255BD71}"/>
              </a:ext>
            </a:extLst>
          </p:cNvPr>
          <p:cNvSpPr/>
          <p:nvPr/>
        </p:nvSpPr>
        <p:spPr>
          <a:xfrm>
            <a:off x="586040" y="4578501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B546BDB-0E18-07EA-E1B8-6519D27195B7}"/>
              </a:ext>
            </a:extLst>
          </p:cNvPr>
          <p:cNvSpPr/>
          <p:nvPr/>
        </p:nvSpPr>
        <p:spPr>
          <a:xfrm>
            <a:off x="86342" y="5359148"/>
            <a:ext cx="3664703" cy="85525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0A6B9C7A-B69E-3C83-DDB9-D00023158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23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7169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5188-54C0-34AA-9521-D58E09AE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754317B-AC4E-92B0-C845-6B19AD9A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877" y="1310910"/>
            <a:ext cx="3799927" cy="4866976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ED30BAF-A1C8-4D3B-A84C-9A242E345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35933"/>
              </p:ext>
            </p:extLst>
          </p:nvPr>
        </p:nvGraphicFramePr>
        <p:xfrm>
          <a:off x="4131724" y="876160"/>
          <a:ext cx="7527780" cy="519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02">
                  <a:extLst>
                    <a:ext uri="{9D8B030D-6E8A-4147-A177-3AD203B41FA5}">
                      <a16:colId xmlns:a16="http://schemas.microsoft.com/office/drawing/2014/main" val="448544113"/>
                    </a:ext>
                  </a:extLst>
                </a:gridCol>
                <a:gridCol w="1647060">
                  <a:extLst>
                    <a:ext uri="{9D8B030D-6E8A-4147-A177-3AD203B41FA5}">
                      <a16:colId xmlns:a16="http://schemas.microsoft.com/office/drawing/2014/main" val="886864725"/>
                    </a:ext>
                  </a:extLst>
                </a:gridCol>
                <a:gridCol w="1976472">
                  <a:extLst>
                    <a:ext uri="{9D8B030D-6E8A-4147-A177-3AD203B41FA5}">
                      <a16:colId xmlns:a16="http://schemas.microsoft.com/office/drawing/2014/main" val="1707460985"/>
                    </a:ext>
                  </a:extLst>
                </a:gridCol>
                <a:gridCol w="2401046">
                  <a:extLst>
                    <a:ext uri="{9D8B030D-6E8A-4147-A177-3AD203B41FA5}">
                      <a16:colId xmlns:a16="http://schemas.microsoft.com/office/drawing/2014/main" val="3087382891"/>
                    </a:ext>
                  </a:extLst>
                </a:gridCol>
              </a:tblGrid>
              <a:tr h="41123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88620795"/>
                  </a:ext>
                </a:extLst>
              </a:tr>
              <a:tr h="7522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報修日期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不可為空，必須為合法日期格式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174069519"/>
                  </a:ext>
                </a:extLst>
              </a:tr>
              <a:tr h="74803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故障描述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報修時應填寫故障內容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596876882"/>
                  </a:ext>
                </a:extLst>
              </a:tr>
              <a:tr h="95277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維修狀態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值域完整性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僅能為 待處理、處理中、已完成、取消 等狀態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391732477"/>
                  </a:ext>
                </a:extLst>
              </a:tr>
              <a:tr h="41123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維修費用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數值限制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必須大於等於 </a:t>
                      </a:r>
                      <a:r>
                        <a:rPr lang="en-US" altLang="zh-TW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370777812"/>
                  </a:ext>
                </a:extLst>
              </a:tr>
              <a:tr h="41123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完成日期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不得早於報修日期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167254431"/>
                  </a:ext>
                </a:extLst>
              </a:tr>
              <a:tr h="7522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更換零件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使用者自訂完整性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若有更換零件，應記錄零件內容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739580300"/>
                  </a:ext>
                </a:extLst>
              </a:tr>
              <a:tr h="75222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下次保養日期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時序限制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應晚於完成日期或報修日期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92486805"/>
                  </a:ext>
                </a:extLst>
              </a:tr>
            </a:tbl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C31E1FD3-47FD-F941-88E7-F7A0AAB06703}"/>
              </a:ext>
            </a:extLst>
          </p:cNvPr>
          <p:cNvSpPr/>
          <p:nvPr/>
        </p:nvSpPr>
        <p:spPr>
          <a:xfrm>
            <a:off x="701114" y="314881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維修工單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5FBB72C-828C-47C4-8748-EBE3C8CC0FE2}"/>
              </a:ext>
            </a:extLst>
          </p:cNvPr>
          <p:cNvSpPr/>
          <p:nvPr/>
        </p:nvSpPr>
        <p:spPr>
          <a:xfrm>
            <a:off x="152201" y="2738584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CCE41D5-9D85-01DF-3AF1-275E59758178}"/>
              </a:ext>
            </a:extLst>
          </p:cNvPr>
          <p:cNvSpPr/>
          <p:nvPr/>
        </p:nvSpPr>
        <p:spPr>
          <a:xfrm>
            <a:off x="2384256" y="1252633"/>
            <a:ext cx="1326047" cy="396721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3E8D8260-0801-E22C-87AA-2D927EAEA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24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644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33C2B-C977-3C2D-BD95-2A3CF832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4EA5BE3-BB21-73A8-9FEE-4181FD022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877" y="1310910"/>
            <a:ext cx="3799927" cy="4866976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C10BF34-7873-FA12-1C58-C9E5CC0E0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094309"/>
              </p:ext>
            </p:extLst>
          </p:nvPr>
        </p:nvGraphicFramePr>
        <p:xfrm>
          <a:off x="4100660" y="919703"/>
          <a:ext cx="7654056" cy="5018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417">
                  <a:extLst>
                    <a:ext uri="{9D8B030D-6E8A-4147-A177-3AD203B41FA5}">
                      <a16:colId xmlns:a16="http://schemas.microsoft.com/office/drawing/2014/main" val="448544113"/>
                    </a:ext>
                  </a:extLst>
                </a:gridCol>
                <a:gridCol w="1674689">
                  <a:extLst>
                    <a:ext uri="{9D8B030D-6E8A-4147-A177-3AD203B41FA5}">
                      <a16:colId xmlns:a16="http://schemas.microsoft.com/office/drawing/2014/main" val="886864725"/>
                    </a:ext>
                  </a:extLst>
                </a:gridCol>
                <a:gridCol w="2009627">
                  <a:extLst>
                    <a:ext uri="{9D8B030D-6E8A-4147-A177-3AD203B41FA5}">
                      <a16:colId xmlns:a16="http://schemas.microsoft.com/office/drawing/2014/main" val="1707460985"/>
                    </a:ext>
                  </a:extLst>
                </a:gridCol>
                <a:gridCol w="2441323">
                  <a:extLst>
                    <a:ext uri="{9D8B030D-6E8A-4147-A177-3AD203B41FA5}">
                      <a16:colId xmlns:a16="http://schemas.microsoft.com/office/drawing/2014/main" val="3087382891"/>
                    </a:ext>
                  </a:extLst>
                </a:gridCol>
              </a:tblGrid>
              <a:tr h="48141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目標屬性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限制類型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完整性限制</a:t>
                      </a:r>
                      <a:endParaRPr lang="en-US" sz="18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488620795"/>
                  </a:ext>
                </a:extLst>
              </a:tr>
              <a:tr h="123290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維修工單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設備負責人</a:t>
                      </a:r>
                      <a:r>
                        <a:rPr lang="en-US" altLang="zh-TW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(FK)</a:t>
                      </a:r>
                      <a:endParaRPr lang="zh-TW" altLang="en-US" sz="1800" b="1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若已指派處理人，該人員必須對應至系統中已登錄的使用者編號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106203908"/>
                  </a:ext>
                </a:extLst>
              </a:tr>
              <a:tr h="123290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維修工單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廠商編號</a:t>
                      </a:r>
                      <a:r>
                        <a:rPr lang="en-US" altLang="zh-TW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(FK)</a:t>
                      </a:r>
                      <a:endParaRPr lang="zh-TW" altLang="en-US" sz="1800" b="1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若委託廠商維修，廠商必須對應至系統中已登錄的維護廠商編號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2698444806"/>
                  </a:ext>
                </a:extLst>
              </a:tr>
              <a:tr h="10751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維修工單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通報人</a:t>
                      </a:r>
                      <a:r>
                        <a:rPr lang="en-US" altLang="zh-TW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(FK)</a:t>
                      </a:r>
                      <a:endParaRPr lang="zh-TW" altLang="en-US" sz="1800" b="1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通報人不可為空，且必須對應至系統中已登錄的使用者編號</a:t>
                      </a:r>
                      <a:endParaRPr 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159917"/>
                  </a:ext>
                </a:extLst>
              </a:tr>
              <a:tr h="9962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維修工單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設備編號</a:t>
                      </a:r>
                      <a:r>
                        <a:rPr lang="en-US" altLang="zh-TW" sz="1800" b="1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(FK)</a:t>
                      </a:r>
                      <a:endParaRPr lang="zh-TW" altLang="en-US" sz="1800" b="1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參照完整性 </a:t>
                      </a: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 </a:t>
                      </a: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使用者自訂完整性</a:t>
                      </a:r>
                    </a:p>
                  </a:txBody>
                  <a:tcPr marL="24300" marR="24300" marT="12149" marB="121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報修設備不可為空，且必須對應至系統中已登錄的物品內部唯一編號</a:t>
                      </a:r>
                    </a:p>
                  </a:txBody>
                  <a:tcPr marL="24300" marR="24300" marT="12149" marB="12149" anchor="ctr"/>
                </a:tc>
                <a:extLst>
                  <a:ext uri="{0D108BD9-81ED-4DB2-BD59-A6C34878D82A}">
                    <a16:rowId xmlns:a16="http://schemas.microsoft.com/office/drawing/2014/main" val="2035127210"/>
                  </a:ext>
                </a:extLst>
              </a:tr>
            </a:tbl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8C1480E4-2EAF-2E9F-9042-7CC07E295FF5}"/>
              </a:ext>
            </a:extLst>
          </p:cNvPr>
          <p:cNvSpPr/>
          <p:nvPr/>
        </p:nvSpPr>
        <p:spPr>
          <a:xfrm>
            <a:off x="701114" y="314881"/>
            <a:ext cx="3148991" cy="55827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2400" b="1">
                <a:latin typeface="Microsoft JhengHei" pitchFamily="34" charset="0"/>
                <a:ea typeface="Microsoft JhengHei" pitchFamily="34" charset="-122"/>
              </a:rPr>
              <a:t>維修工單</a:t>
            </a:r>
            <a:endParaRPr lang="en-US" altLang="zh-TW" sz="24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545BF39-F010-C399-0BAA-914A364B850D}"/>
              </a:ext>
            </a:extLst>
          </p:cNvPr>
          <p:cNvSpPr/>
          <p:nvPr/>
        </p:nvSpPr>
        <p:spPr>
          <a:xfrm>
            <a:off x="152201" y="2738584"/>
            <a:ext cx="1406390" cy="5461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0A8D5F-B97C-2AFE-055F-9A431D6C7BC1}"/>
              </a:ext>
            </a:extLst>
          </p:cNvPr>
          <p:cNvSpPr/>
          <p:nvPr/>
        </p:nvSpPr>
        <p:spPr>
          <a:xfrm>
            <a:off x="2384256" y="1252633"/>
            <a:ext cx="1326047" cy="396721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3F781200-1892-F8E3-1CB3-C0B7ABBB5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25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304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E3A0-D82C-5B73-7E7E-A3B31E80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03E6067B-C500-D4AF-5954-4754113B4076}"/>
              </a:ext>
            </a:extLst>
          </p:cNvPr>
          <p:cNvSpPr/>
          <p:nvPr/>
        </p:nvSpPr>
        <p:spPr>
          <a:xfrm>
            <a:off x="502919" y="146944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3600" b="1">
                <a:latin typeface="Microsoft JhengHei" pitchFamily="34" charset="0"/>
                <a:ea typeface="Microsoft JhengHei" pitchFamily="34" charset="-122"/>
              </a:rPr>
              <a:t>完整性限制：</a:t>
            </a:r>
            <a:r>
              <a:rPr lang="en-US" altLang="zh-TW" sz="3600" b="1">
                <a:latin typeface="Microsoft JhengHei" pitchFamily="34" charset="0"/>
                <a:ea typeface="Microsoft JhengHei" pitchFamily="34" charset="-122"/>
              </a:rPr>
              <a:t>Trigger</a:t>
            </a:r>
            <a:endParaRPr lang="zh-TW" altLang="en-US" sz="36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39F18CDE-D27A-00C3-8531-6351FAF97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26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0F286B-E81B-E77A-1540-6ADC9F232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662552"/>
              </p:ext>
            </p:extLst>
          </p:nvPr>
        </p:nvGraphicFramePr>
        <p:xfrm>
          <a:off x="264293" y="914400"/>
          <a:ext cx="11591378" cy="5410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769">
                  <a:extLst>
                    <a:ext uri="{9D8B030D-6E8A-4147-A177-3AD203B41FA5}">
                      <a16:colId xmlns:a16="http://schemas.microsoft.com/office/drawing/2014/main" val="3885105195"/>
                    </a:ext>
                  </a:extLst>
                </a:gridCol>
                <a:gridCol w="1798789">
                  <a:extLst>
                    <a:ext uri="{9D8B030D-6E8A-4147-A177-3AD203B41FA5}">
                      <a16:colId xmlns:a16="http://schemas.microsoft.com/office/drawing/2014/main" val="4176534059"/>
                    </a:ext>
                  </a:extLst>
                </a:gridCol>
                <a:gridCol w="1798789">
                  <a:extLst>
                    <a:ext uri="{9D8B030D-6E8A-4147-A177-3AD203B41FA5}">
                      <a16:colId xmlns:a16="http://schemas.microsoft.com/office/drawing/2014/main" val="906773974"/>
                    </a:ext>
                  </a:extLst>
                </a:gridCol>
                <a:gridCol w="1786509">
                  <a:extLst>
                    <a:ext uri="{9D8B030D-6E8A-4147-A177-3AD203B41FA5}">
                      <a16:colId xmlns:a16="http://schemas.microsoft.com/office/drawing/2014/main" val="3343917012"/>
                    </a:ext>
                  </a:extLst>
                </a:gridCol>
                <a:gridCol w="1798789">
                  <a:extLst>
                    <a:ext uri="{9D8B030D-6E8A-4147-A177-3AD203B41FA5}">
                      <a16:colId xmlns:a16="http://schemas.microsoft.com/office/drawing/2014/main" val="238287533"/>
                    </a:ext>
                  </a:extLst>
                </a:gridCol>
                <a:gridCol w="2369733">
                  <a:extLst>
                    <a:ext uri="{9D8B030D-6E8A-4147-A177-3AD203B41FA5}">
                      <a16:colId xmlns:a16="http://schemas.microsoft.com/office/drawing/2014/main" val="756200091"/>
                    </a:ext>
                  </a:extLst>
                </a:gridCol>
              </a:tblGrid>
              <a:tr h="3562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Trigger 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</a:t>
                      </a:r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  <a:endParaRPr 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掛載位置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防護目標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觸發時機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系統處理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169195"/>
                  </a:ext>
                </a:extLst>
              </a:tr>
              <a:tr h="1424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狀態異動自動稽核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狀態異動紀錄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更新物品資料後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確保任何物品狀態變更都留下歷史紀錄，避免後台暗改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當物品的狀態被修改，且修改前後狀態不同時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系統自動新增一筆狀態異動紀錄，保存物品編號、舊狀態、新狀態、異動時間與異動原因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303624"/>
                  </a:ext>
                </a:extLst>
              </a:tr>
              <a:tr h="10347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報廢狀態鎖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更新物品資料前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防止報廢物品重新變成可用狀態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當使用者嘗試將已報廢物品改成其他狀態時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系統拒絕本次更新，並顯示「已報廢物品不可更改為其他狀態」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35181"/>
                  </a:ext>
                </a:extLst>
              </a:tr>
              <a:tr h="1512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借用攔截器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新增借用紀錄前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防止不可借用的物品被建立借用紀錄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當使用者嘗試借用耗材、報廢、停用、維修中、遺失或已借出的物品時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系統拒絕新增借用紀錄，並提示該物品目前不可借用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207987"/>
                  </a:ext>
                </a:extLst>
              </a:tr>
              <a:tr h="10347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維修攔截器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新增維修工單前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防止報廢物品或耗材被建立維修工單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當使用者嘗試對報廢物品或耗材建立維修工單時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系統拒絕新增維修工單，避免無效維修或浪費維修資源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37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991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37A17-133A-B4EC-9D00-50EB6CB0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9EC6CE35-7E7B-7E04-875E-E1C8CB218387}"/>
              </a:ext>
            </a:extLst>
          </p:cNvPr>
          <p:cNvSpPr/>
          <p:nvPr/>
        </p:nvSpPr>
        <p:spPr>
          <a:xfrm>
            <a:off x="502919" y="146944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zh-TW" altLang="en-US" sz="3600" b="1">
                <a:latin typeface="Microsoft JhengHei" pitchFamily="34" charset="0"/>
                <a:ea typeface="Microsoft JhengHei" pitchFamily="34" charset="-122"/>
              </a:rPr>
              <a:t>完整性限制： </a:t>
            </a:r>
            <a:r>
              <a:rPr lang="en-US" altLang="zh-TW" sz="3600" b="1">
                <a:latin typeface="Microsoft JhengHei" pitchFamily="34" charset="0"/>
                <a:ea typeface="Microsoft JhengHei" pitchFamily="34" charset="-122"/>
              </a:rPr>
              <a:t>Transaction</a:t>
            </a:r>
            <a:endParaRPr lang="zh-TW" altLang="en-US" sz="36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7B6E733B-D79C-0924-DBAD-999B90A99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27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C8E9102-C67E-D545-E23E-9746570C2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964818"/>
              </p:ext>
            </p:extLst>
          </p:nvPr>
        </p:nvGraphicFramePr>
        <p:xfrm>
          <a:off x="264292" y="914399"/>
          <a:ext cx="11616602" cy="5412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594">
                  <a:extLst>
                    <a:ext uri="{9D8B030D-6E8A-4147-A177-3AD203B41FA5}">
                      <a16:colId xmlns:a16="http://schemas.microsoft.com/office/drawing/2014/main" val="3885105195"/>
                    </a:ext>
                  </a:extLst>
                </a:gridCol>
                <a:gridCol w="1576551">
                  <a:extLst>
                    <a:ext uri="{9D8B030D-6E8A-4147-A177-3AD203B41FA5}">
                      <a16:colId xmlns:a16="http://schemas.microsoft.com/office/drawing/2014/main" val="3494335907"/>
                    </a:ext>
                  </a:extLst>
                </a:gridCol>
                <a:gridCol w="1753972">
                  <a:extLst>
                    <a:ext uri="{9D8B030D-6E8A-4147-A177-3AD203B41FA5}">
                      <a16:colId xmlns:a16="http://schemas.microsoft.com/office/drawing/2014/main" val="4176534059"/>
                    </a:ext>
                  </a:extLst>
                </a:gridCol>
                <a:gridCol w="1916241">
                  <a:extLst>
                    <a:ext uri="{9D8B030D-6E8A-4147-A177-3AD203B41FA5}">
                      <a16:colId xmlns:a16="http://schemas.microsoft.com/office/drawing/2014/main" val="90677397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343917012"/>
                    </a:ext>
                  </a:extLst>
                </a:gridCol>
                <a:gridCol w="2869324">
                  <a:extLst>
                    <a:ext uri="{9D8B030D-6E8A-4147-A177-3AD203B41FA5}">
                      <a16:colId xmlns:a16="http://schemas.microsoft.com/office/drawing/2014/main" val="238287533"/>
                    </a:ext>
                  </a:extLst>
                </a:gridCol>
              </a:tblGrid>
              <a:tr h="3364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</a:t>
                      </a:r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實體</a:t>
                      </a:r>
                      <a:endParaRPr lang="zh-TW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鎖定對象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防護目標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執行時機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系統處理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169195"/>
                  </a:ext>
                </a:extLst>
              </a:tr>
              <a:tr h="1345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耗材領用交易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耗材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領用紀錄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對應耗材的庫存資料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防止多人同時領用導致庫存變成負數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使用者送出耗材領用申請時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系統先鎖定該耗材庫存，確認庫存足夠後才扣除庫存並新增領用紀錄；若庫存不足則取消交易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303624"/>
                  </a:ext>
                </a:extLst>
              </a:tr>
              <a:tr h="1093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設備借用交易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對應物品資料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防止同一設備被兩人同時借走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使用者送出設備借用申請時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系統先鎖定該物品，確認狀態為可用後，新增借用紀錄並同步將物品狀態改為借出中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535181"/>
                  </a:ext>
                </a:extLst>
              </a:tr>
              <a:tr h="1598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設備歸還交易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借用紀錄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對應借用紀錄與物品資料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確保歸還紀錄與物品狀態同步更新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使用者歸還設備時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系統更新實際歸還時間與借用狀態，並同步將物品狀態改回可用；若歸還時發現損壞，則改為維修中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207987"/>
                  </a:ext>
                </a:extLst>
              </a:tr>
              <a:tr h="2997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設備報修交易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物品</a:t>
                      </a:r>
                      <a:endParaRPr lang="en-US" altLang="zh-TW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TW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維修工單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對應物品資料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建立維修工單時立即讓設備下架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使用者建立設備報修單時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系統新增維修工單，並同步將物品狀態改為維修中，避免維修期間仍被借用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37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52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B2903-8E36-5F30-ED1B-20456E4C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E4F16D47-7067-E53D-634A-16C098EFCC77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33FADDC-C623-C320-F27E-C6CE602D34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1293" y="0"/>
            <a:ext cx="11869413" cy="6857999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442BFAA-D884-5FB1-7097-6DD86935B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28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2468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AA7356A-0982-4480-994E-46A0F418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7" y="1224395"/>
            <a:ext cx="4748708" cy="141416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3A87E7D-0A7F-40A6-A266-62C389F8A558}"/>
              </a:ext>
            </a:extLst>
          </p:cNvPr>
          <p:cNvSpPr/>
          <p:nvPr/>
        </p:nvSpPr>
        <p:spPr>
          <a:xfrm>
            <a:off x="5833533" y="1186019"/>
            <a:ext cx="6096000" cy="1711046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space_name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b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</a:br>
            <a:r>
              <a:rPr lang="zh-TW" altLang="en-US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   </a:t>
            </a:r>
            <a:r>
              <a:rPr lang="zh-TW" altLang="zh-TW">
                <a:solidFill>
                  <a:srgbClr val="BBBEBF"/>
                </a:solidFill>
                <a:latin typeface="Consolas" panose="020B0609020204030204" pitchFamily="49" charset="0"/>
              </a:rPr>
              <a:t>location_type </a:t>
            </a:r>
            <a:r>
              <a:rPr lang="zh-TW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zh-TW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zh-TW" altLang="zh-TW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zh-TW" altLang="zh-TW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  <a:r>
              <a:rPr lang="zh-TW" altLang="en-US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</a:rPr>
              <a:t>NOT</a:t>
            </a:r>
            <a:r>
              <a:rPr lang="zh-TW" altLang="en-US" kern="0">
                <a:solidFill>
                  <a:srgbClr val="FF7B72"/>
                </a:solidFill>
                <a:latin typeface="Consolas" panose="020B0609020204030204" pitchFamily="49" charset="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</a:rPr>
              <a:t>NULL,</a:t>
            </a:r>
            <a:endParaRPr lang="zh-TW" altLang="zh-TW" kern="0">
              <a:solidFill>
                <a:srgbClr val="FF7B72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</a:t>
            </a:r>
            <a:r>
              <a:rPr lang="zh-TW" altLang="en-US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(location_type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'教室'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'實驗室'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'儲藏室'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'辦公室'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zh-TW" kern="0">
              <a:solidFill>
                <a:srgbClr val="BBBEBF"/>
              </a:solidFill>
              <a:latin typeface="Consolas" panose="020B0609020204030204" pitchFamily="49" charset="0"/>
              <a:cs typeface="新細明體" panose="02020500000000000000" pitchFamily="18" charset="-12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7A8DA6-FF51-4EFF-85AB-53D0847DD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7" y="3143828"/>
            <a:ext cx="4748708" cy="10755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425D6B5-6FBA-4730-8E76-C6BFB69A6A12}"/>
              </a:ext>
            </a:extLst>
          </p:cNvPr>
          <p:cNvSpPr/>
          <p:nvPr/>
        </p:nvSpPr>
        <p:spPr>
          <a:xfrm>
            <a:off x="5833533" y="3200992"/>
            <a:ext cx="6096000" cy="101854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 </a:t>
            </a:r>
            <a:r>
              <a:rPr lang="en-US" altLang="zh-TW" kern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role_name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6EC23DF-8F71-4958-98D8-22A375C81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08" y="4728909"/>
            <a:ext cx="4748708" cy="14140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3CDE4FF-85C0-4BE0-89ED-AE9F163BE74E}"/>
              </a:ext>
            </a:extLst>
          </p:cNvPr>
          <p:cNvSpPr/>
          <p:nvPr/>
        </p:nvSpPr>
        <p:spPr>
          <a:xfrm>
            <a:off x="5833533" y="4893535"/>
            <a:ext cx="6096000" cy="12493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D2A8F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 </a:t>
            </a:r>
            <a:r>
              <a:rPr lang="en-US" altLang="zh-TW" kern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vendor_name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vendor_contact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255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C1852B-6F9E-49EC-88B6-C454F05A9289}"/>
              </a:ext>
            </a:extLst>
          </p:cNvPr>
          <p:cNvSpPr/>
          <p:nvPr/>
        </p:nvSpPr>
        <p:spPr>
          <a:xfrm>
            <a:off x="2278714" y="855063"/>
            <a:ext cx="1800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存放空間資料表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3CE22C-5742-4678-AE20-8B69806BDAD1}"/>
              </a:ext>
            </a:extLst>
          </p:cNvPr>
          <p:cNvSpPr/>
          <p:nvPr/>
        </p:nvSpPr>
        <p:spPr>
          <a:xfrm>
            <a:off x="2163297" y="2774496"/>
            <a:ext cx="2031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使用者角色資料表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82FCD4-26B5-4D9F-B969-D47E466EF3F4}"/>
              </a:ext>
            </a:extLst>
          </p:cNvPr>
          <p:cNvSpPr/>
          <p:nvPr/>
        </p:nvSpPr>
        <p:spPr>
          <a:xfrm>
            <a:off x="2278714" y="4359577"/>
            <a:ext cx="1800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維護廠商資料表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D283734-0850-C6BD-B4E8-E30B5D36375B}"/>
              </a:ext>
            </a:extLst>
          </p:cNvPr>
          <p:cNvSpPr/>
          <p:nvPr/>
        </p:nvSpPr>
        <p:spPr>
          <a:xfrm>
            <a:off x="502919" y="53729"/>
            <a:ext cx="6595713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3600" b="1">
                <a:latin typeface="Microsoft JhengHei" pitchFamily="34" charset="0"/>
                <a:ea typeface="Microsoft JhengHei" pitchFamily="34" charset="-122"/>
              </a:rPr>
              <a:t>Database Schema ERD</a:t>
            </a:r>
            <a:r>
              <a:rPr lang="zh-TW" altLang="en-US" sz="3600" b="1">
                <a:latin typeface="Microsoft JhengHei" pitchFamily="34" charset="0"/>
                <a:ea typeface="Microsoft JhengHei" pitchFamily="34" charset="-122"/>
              </a:rPr>
              <a:t>：</a:t>
            </a:r>
            <a:r>
              <a:rPr lang="en-US" altLang="zh-TW" sz="3600" b="1">
                <a:latin typeface="Microsoft JhengHei" pitchFamily="34" charset="0"/>
                <a:ea typeface="Microsoft JhengHei" pitchFamily="34" charset="-122"/>
              </a:rPr>
              <a:t>SQL</a:t>
            </a:r>
            <a:endParaRPr lang="zh-TW" altLang="en-US" sz="3600" b="1"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0FC0C7C9-C06C-1D7E-1D8E-EDE3A4D8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29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0339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1E25496-217D-4280-BAD8-EC3C6AD5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08" y="873861"/>
            <a:ext cx="4748708" cy="17484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A3E643-EFF0-4BB1-9103-12D37756231E}"/>
              </a:ext>
            </a:extLst>
          </p:cNvPr>
          <p:cNvSpPr/>
          <p:nvPr/>
        </p:nvSpPr>
        <p:spPr>
          <a:xfrm>
            <a:off x="5661247" y="630197"/>
            <a:ext cx="5935133" cy="19418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CREATE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TABLE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kumimoji="0" lang="zh-TW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`USER`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user_id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50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PRIMARY KEY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user_name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100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email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VARCHAR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>
                <a:solidFill>
                  <a:srgbClr val="B5CEA8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255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UNIQUE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NOT NULL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INT NOT NULL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,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    </a:t>
            </a:r>
            <a:r>
              <a:rPr lang="en-US" altLang="zh-TW" kern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FOREIGN KEY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(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 </a:t>
            </a:r>
            <a:r>
              <a:rPr lang="en-US" altLang="zh-TW" kern="0">
                <a:solidFill>
                  <a:srgbClr val="569CD6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REFERENCES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 </a:t>
            </a:r>
            <a:r>
              <a:rPr lang="en-US" altLang="zh-TW" kern="0">
                <a:solidFill>
                  <a:srgbClr val="FF7B72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(</a:t>
            </a:r>
            <a:r>
              <a:rPr lang="en-US" altLang="zh-TW" kern="0" err="1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role_id</a:t>
            </a: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0"/>
              </a:spcAft>
            </a:pPr>
            <a:r>
              <a:rPr lang="en-US" altLang="zh-TW" kern="0">
                <a:solidFill>
                  <a:srgbClr val="BBBEBF"/>
                </a:solidFill>
                <a:latin typeface="Consolas" panose="020B0609020204030204" pitchFamily="49" charset="0"/>
                <a:cs typeface="新細明體" panose="02020500000000000000" pitchFamily="18" charset="-120"/>
              </a:rPr>
              <a:t>);</a:t>
            </a:r>
            <a:endParaRPr lang="zh-TW" altLang="zh-TW" sz="2400" kern="1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953868-6E2A-4F06-87EB-7A9B4356C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19" y="3272610"/>
            <a:ext cx="4721755" cy="276412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6279888-3A68-475A-AFCF-E51BBE779D90}"/>
              </a:ext>
            </a:extLst>
          </p:cNvPr>
          <p:cNvSpPr/>
          <p:nvPr/>
        </p:nvSpPr>
        <p:spPr>
          <a:xfrm>
            <a:off x="5661247" y="2729042"/>
            <a:ext cx="5994400" cy="40181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internal_id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item_name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manage_type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manage_type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'財產設備'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'非列管設備'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'耗材'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current_status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current_status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'可用'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'借出中'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'維修中'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'停用'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'報廢'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'遺失'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warranty_expiry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space_id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created_by_user_id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(space_id)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SPACE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(space_id),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(created_by_user_id)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>
                <a:solidFill>
                  <a:srgbClr val="A5D6FF"/>
                </a:solidFill>
                <a:latin typeface="Consolas" panose="020B0609020204030204" pitchFamily="49" charset="0"/>
              </a:rPr>
              <a:t>`USER`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(user_id)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8B141F-F538-47D0-9C5D-3AD21AB51D33}"/>
              </a:ext>
            </a:extLst>
          </p:cNvPr>
          <p:cNvSpPr/>
          <p:nvPr/>
        </p:nvSpPr>
        <p:spPr>
          <a:xfrm>
            <a:off x="2161533" y="50452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系統使用者資料表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651F0B-0D46-41D8-9E60-4CEE72269289}"/>
              </a:ext>
            </a:extLst>
          </p:cNvPr>
          <p:cNvSpPr/>
          <p:nvPr/>
        </p:nvSpPr>
        <p:spPr>
          <a:xfrm>
            <a:off x="2276948" y="282235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物品基本資料表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3DAC5608-8C5E-2586-0781-21193426D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30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4599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8D1540C-31EA-47A9-A90C-4BDDBD5A8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332" y="753662"/>
            <a:ext cx="4744548" cy="275556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2F3A61D-4F54-4780-9112-1487D9952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32" y="4148202"/>
            <a:ext cx="4744548" cy="208929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268C862-5656-4553-ADEF-AFA4C0A53767}"/>
              </a:ext>
            </a:extLst>
          </p:cNvPr>
          <p:cNvSpPr/>
          <p:nvPr/>
        </p:nvSpPr>
        <p:spPr>
          <a:xfrm>
            <a:off x="2071359" y="38005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財產設備明細表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9FDF3-BE64-4967-BD2B-26CB4C3E0D62}"/>
              </a:ext>
            </a:extLst>
          </p:cNvPr>
          <p:cNvSpPr/>
          <p:nvPr/>
        </p:nvSpPr>
        <p:spPr>
          <a:xfrm>
            <a:off x="1955942" y="377887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可借用設備明細表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967964-1767-43F6-8479-383CDCEEFB2F}"/>
              </a:ext>
            </a:extLst>
          </p:cNvPr>
          <p:cNvSpPr/>
          <p:nvPr/>
        </p:nvSpPr>
        <p:spPr>
          <a:xfrm>
            <a:off x="5687523" y="233857"/>
            <a:ext cx="6096000" cy="3556486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D2A8FF"/>
                </a:solidFill>
                <a:latin typeface="Consolas" panose="020B0609020204030204" pitchFamily="49" charset="0"/>
              </a:rPr>
              <a:t>ASSET_DETAIL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asset_id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UNIQUE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fund_source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acquired_date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DATE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acquired_cost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(acquired_cost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altLang="zh-TW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lifespan_years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(lifespan_years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altLang="zh-TW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custodian_id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zh-TW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ON DELETE CASCADE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custodian_id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A5D6FF"/>
                </a:solidFill>
                <a:latin typeface="Consolas" panose="020B0609020204030204" pitchFamily="49" charset="0"/>
              </a:rPr>
              <a:t>"USER"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25F707-8EFF-4BC3-9691-BE96FC53A18F}"/>
              </a:ext>
            </a:extLst>
          </p:cNvPr>
          <p:cNvSpPr/>
          <p:nvPr/>
        </p:nvSpPr>
        <p:spPr>
          <a:xfrm>
            <a:off x="5687523" y="4009722"/>
            <a:ext cx="6096000" cy="2402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D2A8FF"/>
                </a:solidFill>
                <a:latin typeface="Consolas" panose="020B0609020204030204" pitchFamily="49" charset="0"/>
              </a:rPr>
              <a:t>REUSABLE_EQUIPMENT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specification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quantity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(quantity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is_borrowable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TRUE,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need_return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TRUE,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ON DELETE CASCADE</a:t>
            </a:r>
            <a:endParaRPr lang="en-US" altLang="zh-TW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492C60EB-EB44-8894-8F82-AE0A04E14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31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5073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EC0FDD4-3614-4728-819B-574976DF5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9" y="739448"/>
            <a:ext cx="4747643" cy="17591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43ECABD-F768-441A-AB79-8EEEB35C3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08" y="3440901"/>
            <a:ext cx="4747643" cy="242964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983979A-D853-4F80-8029-0F32D36CE627}"/>
              </a:ext>
            </a:extLst>
          </p:cNvPr>
          <p:cNvSpPr/>
          <p:nvPr/>
        </p:nvSpPr>
        <p:spPr>
          <a:xfrm>
            <a:off x="2278182" y="39391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耗材明細資料表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018566-2C84-47AF-B56E-C3B9CD00B6FD}"/>
              </a:ext>
            </a:extLst>
          </p:cNvPr>
          <p:cNvSpPr/>
          <p:nvPr/>
        </p:nvSpPr>
        <p:spPr>
          <a:xfrm>
            <a:off x="2278181" y="305967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耗材領用紀錄表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7744CD-58D8-4765-9A22-A788A01531D3}"/>
              </a:ext>
            </a:extLst>
          </p:cNvPr>
          <p:cNvSpPr/>
          <p:nvPr/>
        </p:nvSpPr>
        <p:spPr>
          <a:xfrm>
            <a:off x="5749299" y="528837"/>
            <a:ext cx="6096000" cy="2402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D2A8FF"/>
                </a:solidFill>
                <a:latin typeface="Consolas" panose="020B0609020204030204" pitchFamily="49" charset="0"/>
              </a:rPr>
              <a:t>CONSUMABLE_DETAIL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stock_quantity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(stock_quantity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min_stock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(min_stock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unit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ON DELETE CASCADE</a:t>
            </a:r>
            <a:endParaRPr lang="en-US" altLang="zh-TW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AB9415-122A-49B5-AD55-5069E0C6B29C}"/>
              </a:ext>
            </a:extLst>
          </p:cNvPr>
          <p:cNvSpPr/>
          <p:nvPr/>
        </p:nvSpPr>
        <p:spPr>
          <a:xfrm>
            <a:off x="5749299" y="3107966"/>
            <a:ext cx="6096000" cy="286398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D2A8FF"/>
                </a:solidFill>
                <a:latin typeface="Consolas" panose="020B0609020204030204" pitchFamily="49" charset="0"/>
              </a:rPr>
              <a:t>CONSUME_RECORD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record_id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consume_time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amount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(amount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purpose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(internal_id)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CONSUMABLE_DETAIL(internal_id)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zh-TW" altLang="zh-TW">
                <a:solidFill>
                  <a:srgbClr val="A5D6FF"/>
                </a:solidFill>
                <a:latin typeface="Consolas" panose="020B0609020204030204" pitchFamily="49" charset="0"/>
              </a:rPr>
              <a:t>`USER`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DE6F42AC-B4C5-1D85-3A97-F412C252F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32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3574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C8D02CC-58F0-439E-ACA2-FDEF3AE0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73" y="2034846"/>
            <a:ext cx="4747643" cy="277426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62339A1-916A-4F6C-B58E-B9557EB6F712}"/>
              </a:ext>
            </a:extLst>
          </p:cNvPr>
          <p:cNvSpPr/>
          <p:nvPr/>
        </p:nvSpPr>
        <p:spPr>
          <a:xfrm>
            <a:off x="2007247" y="166391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設備借用紀錄表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7F86D5-5E5E-4938-8087-E5DFD77CA310}"/>
              </a:ext>
            </a:extLst>
          </p:cNvPr>
          <p:cNvSpPr/>
          <p:nvPr/>
        </p:nvSpPr>
        <p:spPr>
          <a:xfrm>
            <a:off x="5562327" y="1477687"/>
            <a:ext cx="6096000" cy="424898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D2A8FF"/>
                </a:solidFill>
                <a:latin typeface="Consolas" panose="020B0609020204030204" pitchFamily="49" charset="0"/>
              </a:rPr>
              <a:t>BORROW_RECORD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record_id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borrow_time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expected_return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actual_return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TIMESTAMP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'借用中'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'已歸還'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'逾期'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'取消'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(expected_return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expected_return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borrow_time),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(actual_return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actual_return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borrow_time),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zh-TW" altLang="zh-TW">
                <a:solidFill>
                  <a:srgbClr val="A5D6FF"/>
                </a:solidFill>
                <a:latin typeface="Consolas" panose="020B0609020204030204" pitchFamily="49" charset="0"/>
              </a:rPr>
              <a:t>`USER`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45A873-1D59-125C-6B5A-AFB0A4CD6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33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3556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7187AB-0E0A-4F63-BA7E-310B165FE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2" y="793335"/>
            <a:ext cx="4743518" cy="480313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3830433-BE5B-4512-8C7B-801299051FC8}"/>
              </a:ext>
            </a:extLst>
          </p:cNvPr>
          <p:cNvSpPr/>
          <p:nvPr/>
        </p:nvSpPr>
        <p:spPr>
          <a:xfrm>
            <a:off x="1858304" y="42400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設備維修工單表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52DFBE-6D9F-4473-BE2C-FBA25A9E91B5}"/>
              </a:ext>
            </a:extLst>
          </p:cNvPr>
          <p:cNvSpPr/>
          <p:nvPr/>
        </p:nvSpPr>
        <p:spPr>
          <a:xfrm>
            <a:off x="5270179" y="150538"/>
            <a:ext cx="6319451" cy="65569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MAINTENANCE_TICKET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ticket_id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internal_id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reporter_id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handler_id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vendor_id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repair_time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CURRENT_TIMESTAMP,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issue_desc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maint_status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maint_status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'待處理'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'處理中'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'已完成'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'取消'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repair_cost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(repair_cost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resolved_time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replaced_parts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next_maint_date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result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resolved_time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NULL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resolved_time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repair_time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next_maint_date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NULL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resolved_time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IS NOT NULL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next_maint_date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CAST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(resolved_time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resolved_time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NULL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next_maint_date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CAST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(repair_time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(internal_id)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ITEM(internal_id),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(reporter_id)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>
                <a:solidFill>
                  <a:srgbClr val="A5D6FF"/>
                </a:solidFill>
                <a:latin typeface="Consolas" panose="020B0609020204030204" pitchFamily="49" charset="0"/>
              </a:rPr>
              <a:t>`USER`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(user_id),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(handler_id)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>
                <a:solidFill>
                  <a:srgbClr val="A5D6FF"/>
                </a:solidFill>
                <a:latin typeface="Consolas" panose="020B0609020204030204" pitchFamily="49" charset="0"/>
              </a:rPr>
              <a:t>`USER`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(user_id),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(vendor_id) </a:t>
            </a:r>
            <a:r>
              <a:rPr lang="zh-TW" altLang="zh-TW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VENDOR(vendor_id)</a:t>
            </a:r>
          </a:p>
          <a:p>
            <a:pPr>
              <a:lnSpc>
                <a:spcPts val="14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90766E4E-FE66-B86D-FBF1-50425EEFE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34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9979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E151D21-8D4E-4F5C-91B4-077D98217E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4468" y="1656827"/>
            <a:ext cx="4747401" cy="275430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361C471-D5DB-4D79-B1F5-F548FDCF3F55}"/>
              </a:ext>
            </a:extLst>
          </p:cNvPr>
          <p:cNvSpPr/>
          <p:nvPr/>
        </p:nvSpPr>
        <p:spPr>
          <a:xfrm>
            <a:off x="1827089" y="128589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物品狀態異動紀錄表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AB22CF-E58A-427A-9BFA-75CFFF9CC608}"/>
              </a:ext>
            </a:extLst>
          </p:cNvPr>
          <p:cNvSpPr/>
          <p:nvPr/>
        </p:nvSpPr>
        <p:spPr>
          <a:xfrm>
            <a:off x="5718048" y="1470560"/>
            <a:ext cx="5889484" cy="424898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CREATE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TABLE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D2A8FF"/>
                </a:solidFill>
                <a:latin typeface="Consolas" panose="020B0609020204030204" pitchFamily="49" charset="0"/>
              </a:rPr>
              <a:t>STATUS_HISTORY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log_id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PRIMARY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operator_id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VARCHAR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FF7B72"/>
                </a:solidFill>
                <a:latin typeface="Consolas" panose="020B0609020204030204" pitchFamily="49" charset="0"/>
              </a:rPr>
              <a:t>NOT NULL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change_time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CURRENT_TIMESTAMP,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old_status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(old_status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'可用'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'借出中'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'維修中'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'停用'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'報廢'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'遺失'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new_status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(new_status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'可用'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'借出中'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'維修中'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'停用'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'報廢'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'遺失'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800"/>
              </a:lnSpc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reason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zh-TW" altLang="zh-TW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ITEM(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internal_id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FOREIGN KEY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operator_id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 </a:t>
            </a:r>
            <a:r>
              <a:rPr lang="en-US" altLang="zh-TW">
                <a:solidFill>
                  <a:srgbClr val="569CD6"/>
                </a:solidFill>
                <a:latin typeface="Consolas" panose="020B0609020204030204" pitchFamily="49" charset="0"/>
              </a:rPr>
              <a:t>REFERENCES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zh-TW" altLang="zh-TW">
                <a:solidFill>
                  <a:srgbClr val="A5D6FF"/>
                </a:solidFill>
                <a:latin typeface="Consolas" panose="020B0609020204030204" pitchFamily="49" charset="0"/>
              </a:rPr>
              <a:t>`USER`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(</a:t>
            </a:r>
            <a:r>
              <a:rPr lang="en-US" altLang="zh-TW" err="1">
                <a:solidFill>
                  <a:srgbClr val="BBBEBF"/>
                </a:solidFill>
                <a:latin typeface="Consolas" panose="020B0609020204030204" pitchFamily="49" charset="0"/>
              </a:rPr>
              <a:t>user_id</a:t>
            </a: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-US" altLang="zh-TW">
                <a:solidFill>
                  <a:srgbClr val="BBBEBF"/>
                </a:solidFill>
                <a:latin typeface="Consolas" panose="020B0609020204030204" pitchFamily="49" charset="0"/>
              </a:rPr>
              <a:t>);</a:t>
            </a:r>
            <a:endParaRPr lang="en-US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C7F1B86-8959-3961-B78C-B9265CF57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35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138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51C8D54-7314-4FAC-8392-6353FE37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476250"/>
            <a:ext cx="12192000" cy="590549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5B7AE2-4C72-E9F6-40A5-8177B06F9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36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5765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874D6-CD02-8497-66AA-32BFB0BCC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37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DF7D2866-BAAA-9C69-7DA8-E21935CF70A2}"/>
              </a:ext>
            </a:extLst>
          </p:cNvPr>
          <p:cNvSpPr/>
          <p:nvPr/>
        </p:nvSpPr>
        <p:spPr>
          <a:xfrm>
            <a:off x="6096000" y="1800759"/>
            <a:ext cx="5103043" cy="547014"/>
          </a:xfrm>
          <a:prstGeom prst="roundRect">
            <a:avLst>
              <a:gd name="adj" fmla="val 6731"/>
            </a:avLst>
          </a:prstGeom>
          <a:solidFill>
            <a:srgbClr val="EEDAD6"/>
          </a:solidFill>
          <a:ln w="6350">
            <a:noFill/>
            <a:prstDash val="solid"/>
          </a:ln>
        </p:spPr>
        <p:txBody>
          <a:bodyPr lIns="180000" anchor="ctr" anchorCtr="0"/>
          <a:lstStyle/>
          <a:p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外部層</a:t>
            </a:r>
            <a:r>
              <a:rPr lang="zh-TW" altLang="en-US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：Views</a:t>
            </a:r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8EA8B0D0-95C1-174B-3EFA-366987EB1138}"/>
              </a:ext>
            </a:extLst>
          </p:cNvPr>
          <p:cNvSpPr/>
          <p:nvPr/>
        </p:nvSpPr>
        <p:spPr>
          <a:xfrm>
            <a:off x="6109050" y="3338557"/>
            <a:ext cx="5103043" cy="925307"/>
          </a:xfrm>
          <a:prstGeom prst="roundRect">
            <a:avLst>
              <a:gd name="adj" fmla="val 673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noFill/>
            <a:prstDash val="solid"/>
          </a:ln>
        </p:spPr>
        <p:txBody>
          <a:bodyPr lIns="180000" anchor="ctr" anchorCtr="0"/>
          <a:lstStyle/>
          <a:p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概念層</a:t>
            </a:r>
            <a:r>
              <a:rPr lang="zh-TW" altLang="en-US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：ITEM / USER / BORROW_RECORD /</a:t>
            </a:r>
            <a:endParaRPr lang="en-US" altLang="zh-TW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MAINTENANCE_TICKET ...</a:t>
            </a: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99CCED87-2067-AEE7-D0B3-5ABFA1D77178}"/>
              </a:ext>
            </a:extLst>
          </p:cNvPr>
          <p:cNvSpPr/>
          <p:nvPr/>
        </p:nvSpPr>
        <p:spPr>
          <a:xfrm>
            <a:off x="6103070" y="5355170"/>
            <a:ext cx="5103043" cy="547014"/>
          </a:xfrm>
          <a:prstGeom prst="roundRect">
            <a:avLst>
              <a:gd name="adj" fmla="val 6731"/>
            </a:avLst>
          </a:prstGeom>
          <a:solidFill>
            <a:srgbClr val="DDE7D8"/>
          </a:solidFill>
          <a:ln w="6350">
            <a:noFill/>
            <a:prstDash val="solid"/>
          </a:ln>
        </p:spPr>
        <p:txBody>
          <a:bodyPr lIns="180000" anchor="ctr" anchorCtr="0"/>
          <a:lstStyle/>
          <a:p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內部層</a:t>
            </a:r>
            <a:r>
              <a:rPr lang="zh-TW" altLang="en-US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：MariaDB / Index / Storage</a:t>
            </a:r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B10A3618-2CC6-0D3E-3B1A-8BDBD0050F76}"/>
              </a:ext>
            </a:extLst>
          </p:cNvPr>
          <p:cNvSpPr/>
          <p:nvPr/>
        </p:nvSpPr>
        <p:spPr>
          <a:xfrm>
            <a:off x="8528115" y="2493547"/>
            <a:ext cx="277592" cy="699236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92A175B3-8157-7571-84B3-2E59A1DEDBFC}"/>
              </a:ext>
            </a:extLst>
          </p:cNvPr>
          <p:cNvSpPr/>
          <p:nvPr/>
        </p:nvSpPr>
        <p:spPr>
          <a:xfrm>
            <a:off x="8508725" y="4459899"/>
            <a:ext cx="277592" cy="699236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163D6EDA-8FF7-31D2-259F-8723D44D3186}"/>
              </a:ext>
            </a:extLst>
          </p:cNvPr>
          <p:cNvSpPr/>
          <p:nvPr/>
        </p:nvSpPr>
        <p:spPr>
          <a:xfrm>
            <a:off x="756173" y="4001846"/>
            <a:ext cx="4673666" cy="1900338"/>
          </a:xfrm>
          <a:prstGeom prst="roundRect">
            <a:avLst>
              <a:gd name="adj" fmla="val 6731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noFill/>
            <a:prstDash val="solid"/>
          </a:ln>
        </p:spPr>
        <p:txBody>
          <a:bodyPr lIns="252000" anchor="ctr" anchorCtr="0"/>
          <a:lstStyle/>
          <a:p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設計目的：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隱藏敏感欄位：垂直安全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過濾不該看見的資料列：水平安全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簡化跨表 JOIN 查詢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將角色權限與資料存取層分離</a:t>
            </a:r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583E7BED-12CC-0256-AE60-305DC2F82317}"/>
              </a:ext>
            </a:extLst>
          </p:cNvPr>
          <p:cNvSpPr/>
          <p:nvPr/>
        </p:nvSpPr>
        <p:spPr>
          <a:xfrm>
            <a:off x="756173" y="1800759"/>
            <a:ext cx="4673666" cy="1900338"/>
          </a:xfrm>
          <a:prstGeom prst="roundRect">
            <a:avLst>
              <a:gd name="adj" fmla="val 6731"/>
            </a:avLst>
          </a:prstGeom>
          <a:solidFill>
            <a:schemeClr val="bg2"/>
          </a:solidFill>
          <a:ln w="6350">
            <a:noFill/>
            <a:prstDash val="solid"/>
          </a:ln>
        </p:spPr>
        <p:txBody>
          <a:bodyPr lIns="252000" anchor="ctr" anchorCtr="0"/>
          <a:lstStyle/>
          <a:p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View 在本系統中對應 資料庫三層架構的 External Schema。</a:t>
            </a:r>
          </a:p>
          <a:p>
            <a:r>
              <a:rPr lang="zh-TW" altLang="en-US" b="1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不同角色不直接查詢 Base Tables，而是透過 View 取得授權後的資料視角。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2A09E51E-BF63-EB8F-3041-8475478555FF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en-US" altLang="zh-TW" sz="4000" b="1">
                <a:latin typeface="Microsoft JhengHei" pitchFamily="34" charset="0"/>
                <a:ea typeface="Microsoft JhengHei" pitchFamily="34" charset="-122"/>
              </a:rPr>
              <a:t>View </a:t>
            </a: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與外部層權限設計</a:t>
            </a:r>
          </a:p>
        </p:txBody>
      </p:sp>
    </p:spTree>
    <p:extLst>
      <p:ext uri="{BB962C8B-B14F-4D97-AF65-F5344CB8AC3E}">
        <p14:creationId xmlns:p14="http://schemas.microsoft.com/office/powerpoint/2010/main" val="658676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A45D3-CC11-BE55-926F-69B3342E7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38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0227C1A-F6B5-6030-A3FA-38059257ADB5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altLang="zh-TW" sz="4000" b="1">
                <a:latin typeface="Microsoft JhengHei" pitchFamily="34" charset="0"/>
                <a:ea typeface="Microsoft JhengHei" pitchFamily="34" charset="-122"/>
              </a:rPr>
              <a:t>View </a:t>
            </a: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角色對應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E2F169D-A8FD-6F8F-232F-86B2CBF90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391368"/>
              </p:ext>
            </p:extLst>
          </p:nvPr>
        </p:nvGraphicFramePr>
        <p:xfrm>
          <a:off x="791483" y="1297661"/>
          <a:ext cx="10609033" cy="5114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489">
                  <a:extLst>
                    <a:ext uri="{9D8B030D-6E8A-4147-A177-3AD203B41FA5}">
                      <a16:colId xmlns:a16="http://schemas.microsoft.com/office/drawing/2014/main" val="448544113"/>
                    </a:ext>
                  </a:extLst>
                </a:gridCol>
                <a:gridCol w="2321231">
                  <a:extLst>
                    <a:ext uri="{9D8B030D-6E8A-4147-A177-3AD203B41FA5}">
                      <a16:colId xmlns:a16="http://schemas.microsoft.com/office/drawing/2014/main" val="886864725"/>
                    </a:ext>
                  </a:extLst>
                </a:gridCol>
                <a:gridCol w="2785476">
                  <a:extLst>
                    <a:ext uri="{9D8B030D-6E8A-4147-A177-3AD203B41FA5}">
                      <a16:colId xmlns:a16="http://schemas.microsoft.com/office/drawing/2014/main" val="1707460985"/>
                    </a:ext>
                  </a:extLst>
                </a:gridCol>
                <a:gridCol w="3383837">
                  <a:extLst>
                    <a:ext uri="{9D8B030D-6E8A-4147-A177-3AD203B41FA5}">
                      <a16:colId xmlns:a16="http://schemas.microsoft.com/office/drawing/2014/main" val="3087382891"/>
                    </a:ext>
                  </a:extLst>
                </a:gridCol>
              </a:tblGrid>
              <a:tr h="4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View 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對應角色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主要用途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安全設計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620795"/>
                  </a:ext>
                </a:extLst>
              </a:tr>
              <a:tr h="10793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vw_Student_Available_Borrowable_Items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全系師生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查詢可借用設備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隱藏金額、經費來源；只顯示可用設備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069519"/>
                  </a:ext>
                </a:extLst>
              </a:tr>
              <a:tr h="882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vw_Supervisor_Assigned_Maintenance_Tasks</a:t>
                      </a:r>
                      <a:endParaRPr lang="zh-TW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設備負責人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查詢自己被指派的待處理、處理中維修工單</a:t>
                      </a:r>
                      <a:endParaRPr lang="zh-TW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設備負責人只需要維修相關資訊，不需要看到財產採購與經費資料。</a:t>
                      </a:r>
                      <a:endParaRPr lang="zh-TW" b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876882"/>
                  </a:ext>
                </a:extLst>
              </a:tr>
              <a:tr h="11246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vw_Admin_Asset_Master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系所管理員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全系資產盤點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1800" kern="120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管理員完整查詢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732477"/>
                  </a:ext>
                </a:extLst>
              </a:tr>
              <a:tr h="755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vw_Admin_Consumable_Alert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系所管理員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低庫存耗材預警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只顯示低庫存耗材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77812"/>
                  </a:ext>
                </a:extLst>
              </a:tr>
              <a:tr h="755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vw_Admin_Audit_Trail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系所管理員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使用歷程追蹤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整合借用、維修、狀態異動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254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798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E16CE5D-B1C4-35EE-2357-92CE0FF66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39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6CEE692E-DC24-1AC2-DC30-5A6984E3928F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全系師生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1D0C6A6-A1E2-AE5F-CE93-93B1DF0E9AC3}"/>
              </a:ext>
            </a:extLst>
          </p:cNvPr>
          <p:cNvSpPr txBox="1"/>
          <p:nvPr/>
        </p:nvSpPr>
        <p:spPr>
          <a:xfrm>
            <a:off x="5075157" y="836541"/>
            <a:ext cx="6094428" cy="496546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vw_Student_Available_Borrowable_Items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manage_type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current_status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specification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need_return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SPACE 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LEFT 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REUSABLE_EQUIPMENT r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current_status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'可用'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manage_type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'財產設備'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'非列管設備'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manage_type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'財產設備'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is_borrowable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TRUE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);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DB1838-82B8-5DB0-EA3F-F51A49E31767}"/>
              </a:ext>
            </a:extLst>
          </p:cNvPr>
          <p:cNvSpPr txBox="1"/>
          <p:nvPr/>
        </p:nvSpPr>
        <p:spPr>
          <a:xfrm>
            <a:off x="122157" y="3353720"/>
            <a:ext cx="4953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/>
              <a:t>垂直安全：不選取 </a:t>
            </a:r>
            <a:r>
              <a:rPr lang="zh-TW" altLang="zh-TW">
                <a:latin typeface="Courier New" panose="02070309020205020404" pitchFamily="49" charset="0"/>
              </a:rPr>
              <a:t>ASSET_DETAIL.acquired_cost</a:t>
            </a:r>
            <a:r>
              <a:rPr lang="zh-TW" altLang="zh-TW"/>
              <a:t>、</a:t>
            </a:r>
            <a:r>
              <a:rPr lang="zh-TW" altLang="zh-TW">
                <a:latin typeface="Courier New" panose="02070309020205020404" pitchFamily="49" charset="0"/>
              </a:rPr>
              <a:t>fund_source</a:t>
            </a:r>
            <a:r>
              <a:rPr lang="zh-TW" altLang="zh-TW"/>
              <a:t>、</a:t>
            </a:r>
            <a:r>
              <a:rPr lang="zh-TW" altLang="zh-TW">
                <a:latin typeface="Courier New" panose="02070309020205020404" pitchFamily="49" charset="0"/>
              </a:rPr>
              <a:t>custodian_id</a:t>
            </a:r>
            <a:r>
              <a:rPr lang="zh-TW" altLang="zh-TW"/>
              <a:t>，避免學生看到財務與保管資訊。</a:t>
            </a:r>
            <a:br>
              <a:rPr lang="zh-TW" altLang="zh-TW"/>
            </a:br>
            <a:r>
              <a:rPr lang="zh-TW" altLang="zh-TW"/>
              <a:t>水平安全：只顯示狀態為「可用」且可借用的非耗材設備。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968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99D5D8-38AF-628A-1495-F872DD376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40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0A42E9-8231-205E-E763-92657DA54F7A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設備負責人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E4C2298-322C-C496-B0BE-6C2437B08388}"/>
              </a:ext>
            </a:extLst>
          </p:cNvPr>
          <p:cNvSpPr txBox="1"/>
          <p:nvPr/>
        </p:nvSpPr>
        <p:spPr>
          <a:xfrm>
            <a:off x="5075157" y="1289021"/>
            <a:ext cx="6094428" cy="51714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 OR REPLACE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vw_Supervisor_Assigned_Maintenance_Tasks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ticket_id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reporter_name,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handler_id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handler_name,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repair_time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issue_desc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maint_status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MAINTENANCE_TICKET mt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SPACE 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`USER`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reporter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LEFT 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`USER`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handler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handler_id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maint_status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'待處理'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'處理中'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19854A6-C1DB-B4B3-B645-EF72648F45F6}"/>
              </a:ext>
            </a:extLst>
          </p:cNvPr>
          <p:cNvSpPr txBox="1"/>
          <p:nvPr/>
        </p:nvSpPr>
        <p:spPr>
          <a:xfrm>
            <a:off x="1022415" y="3342400"/>
            <a:ext cx="30861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/>
              <a:t>水平安全：登入後由後端加入 </a:t>
            </a:r>
            <a:r>
              <a:rPr lang="zh-TW" altLang="zh-TW">
                <a:latin typeface="Courier New" panose="02070309020205020404" pitchFamily="49" charset="0"/>
              </a:rPr>
              <a:t>WHERE handler_id = login_user_id</a:t>
            </a:r>
            <a:r>
              <a:rPr lang="zh-TW" altLang="zh-TW"/>
              <a:t>，只顯示被指派給該設備負責人的工單。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4384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C2FD-71C6-9C4C-2EB1-1E131B83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062433-475E-C9D7-A0B0-6A93A4679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41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367C99-DA73-5D4D-4BAD-B06375F7C7B1}"/>
              </a:ext>
            </a:extLst>
          </p:cNvPr>
          <p:cNvSpPr txBox="1"/>
          <p:nvPr/>
        </p:nvSpPr>
        <p:spPr>
          <a:xfrm>
            <a:off x="4409290" y="2119744"/>
            <a:ext cx="6094428" cy="40172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vw_Admin_Asset_Master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current_status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asset_id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fund_source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acquired_cost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lifespan_years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custodian_name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</a:t>
            </a: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ASSET_DETAIL a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SPACE 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`USER`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u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custodian_id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manage_type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'財產設備'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44F7F6B-F343-EC82-03C8-067716548ED8}"/>
              </a:ext>
            </a:extLst>
          </p:cNvPr>
          <p:cNvSpPr txBox="1"/>
          <p:nvPr/>
        </p:nvSpPr>
        <p:spPr>
          <a:xfrm>
            <a:off x="504825" y="3934956"/>
            <a:ext cx="3171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/>
              <a:t>系所管理員為最高權限角色，可查看財產編號、經費來源、取得金額與保管人，用於全系盤點與報廢審查。</a:t>
            </a:r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775B14-2D6E-FEF5-4A82-CFFB9DBFB93C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系所管理員</a:t>
            </a:r>
          </a:p>
        </p:txBody>
      </p:sp>
    </p:spTree>
    <p:extLst>
      <p:ext uri="{BB962C8B-B14F-4D97-AF65-F5344CB8AC3E}">
        <p14:creationId xmlns:p14="http://schemas.microsoft.com/office/powerpoint/2010/main" val="2937049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844C73-59A4-8CBA-6A47-B6161D50E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42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506FCFF-A552-2BCE-4172-1F0962D40240}"/>
              </a:ext>
            </a:extLst>
          </p:cNvPr>
          <p:cNvSpPr txBox="1"/>
          <p:nvPr/>
        </p:nvSpPr>
        <p:spPr>
          <a:xfrm>
            <a:off x="4304515" y="2145722"/>
            <a:ext cx="6094428" cy="374718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-- 低庫存預警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vw_Admin_Consumable_Alert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space_name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stock_quantity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min_stock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unit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CONSUMABLE_DETAIL c</a:t>
            </a: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SPACE s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space_id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manage_type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'耗材'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current_status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&lt;&gt;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'報廢'</a:t>
            </a:r>
            <a:endParaRPr lang="zh-TW" altLang="zh-TW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900"/>
              </a:lnSpc>
              <a:buNone/>
            </a:pP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zh-TW" altLang="zh-TW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stock_quantity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min_stock</a:t>
            </a:r>
            <a:r>
              <a:rPr lang="zh-TW" altLang="zh-TW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AC74DC3-556E-F839-3CD7-E498D450BFA1}"/>
              </a:ext>
            </a:extLst>
          </p:cNvPr>
          <p:cNvSpPr txBox="1"/>
          <p:nvPr/>
        </p:nvSpPr>
        <p:spPr>
          <a:xfrm>
            <a:off x="504825" y="3934956"/>
            <a:ext cx="31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/>
              <a:t>只顯示低於安全庫存的耗材，</a:t>
            </a:r>
            <a:endParaRPr lang="en-US" altLang="zh-TW"/>
          </a:p>
          <a:p>
            <a:r>
              <a:rPr lang="zh-TW" altLang="zh-TW"/>
              <a:t>提供系所管理員採購補貨依據。</a:t>
            </a:r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E73ABB-78BC-1C2A-03FD-1541FE30F495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系所管理員</a:t>
            </a:r>
          </a:p>
        </p:txBody>
      </p:sp>
    </p:spTree>
    <p:extLst>
      <p:ext uri="{BB962C8B-B14F-4D97-AF65-F5344CB8AC3E}">
        <p14:creationId xmlns:p14="http://schemas.microsoft.com/office/powerpoint/2010/main" val="3528306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BA9D7-5A4F-BE5B-B76B-700A7753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E4ADAB2-A54E-7646-A177-D1DC3E5C4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43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71DC67-76B8-D31A-F129-CA8B09BCF551}"/>
              </a:ext>
            </a:extLst>
          </p:cNvPr>
          <p:cNvSpPr txBox="1"/>
          <p:nvPr/>
        </p:nvSpPr>
        <p:spPr>
          <a:xfrm>
            <a:off x="4709867" y="202382"/>
            <a:ext cx="6592872" cy="64402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vw_Admin_Audit_Trail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'狀態異動'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event_type,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change_time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event_time,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actor_name,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old_status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→ 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new_status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detail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STATUS_HISTORY sh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`USER`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op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operator_id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UNION ALL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'設備借用'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borrow_time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'借用狀態：'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BORROW_RECORD br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`USER`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u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UNION ALL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SELECT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'維修報修'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repair_time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user_name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'維修狀態：'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maint_status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MAINTENANCE_TICKET mt</a:t>
            </a: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ITEM i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internal_id</a:t>
            </a:r>
            <a:endParaRPr lang="zh-TW" altLang="zh-TW" sz="14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`USER`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reporter </a:t>
            </a:r>
            <a:r>
              <a:rPr lang="zh-TW" altLang="zh-TW" sz="14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mt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reporter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TW" altLang="zh-TW" sz="14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zh-TW" altLang="zh-TW" sz="14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404D9F-5B84-0692-B48E-496316999C02}"/>
              </a:ext>
            </a:extLst>
          </p:cNvPr>
          <p:cNvSpPr txBox="1"/>
          <p:nvPr/>
        </p:nvSpPr>
        <p:spPr>
          <a:xfrm>
            <a:off x="504825" y="3934956"/>
            <a:ext cx="3171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/>
              <a:t>將狀態異動、借用紀錄、維修工單整合成同一種事件格式，支援設備流向追蹤與責任溯源。</a:t>
            </a:r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4A8513-F712-FC6F-F923-2356EA10E3E4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系所管理員</a:t>
            </a:r>
          </a:p>
        </p:txBody>
      </p:sp>
    </p:spTree>
    <p:extLst>
      <p:ext uri="{BB962C8B-B14F-4D97-AF65-F5344CB8AC3E}">
        <p14:creationId xmlns:p14="http://schemas.microsoft.com/office/powerpoint/2010/main" val="2778160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DE3CD7-E85D-BFA8-0CED-5DD3CE1E4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44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C2A5BD-ADCC-89AD-5E07-8B610F0E1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23" y="3305459"/>
            <a:ext cx="3362794" cy="154326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E540A41-C91C-B9B9-22E7-162112655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261" y="1985193"/>
            <a:ext cx="2039260" cy="91826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AD3A8A6-7408-FF3A-1AED-58F08A27A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23" y="1941993"/>
            <a:ext cx="4502691" cy="961463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F88D3EAF-91D6-1997-50A2-F98B320F9179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5BD964F-4186-0D8E-AF12-7B646AC3F145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使用者角色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43B6353-A801-7145-D6ED-ADE440364502}"/>
              </a:ext>
            </a:extLst>
          </p:cNvPr>
          <p:cNvSpPr txBox="1"/>
          <p:nvPr/>
        </p:nvSpPr>
        <p:spPr>
          <a:xfrm>
            <a:off x="818865" y="534164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ROLE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為固定角色代碼表，用於區分系所管理員、全系師生與設備負責人，並支援後續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View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權限控管</a:t>
            </a:r>
          </a:p>
        </p:txBody>
      </p:sp>
    </p:spTree>
    <p:extLst>
      <p:ext uri="{BB962C8B-B14F-4D97-AF65-F5344CB8AC3E}">
        <p14:creationId xmlns:p14="http://schemas.microsoft.com/office/powerpoint/2010/main" val="760423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490F00C-E0A2-D951-5D15-BAC59E82A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45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F08F1C8-72EB-4FEB-CDA9-418A173C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37" y="3254966"/>
            <a:ext cx="5809698" cy="28356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FC1A6E2-2D49-2D2E-0FAC-F6B06A81F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469" y="1353677"/>
            <a:ext cx="1453622" cy="63546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7497F09-505B-383D-5DAB-700FFFC08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37" y="1353677"/>
            <a:ext cx="4923577" cy="182329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D5E4C21-C3E2-08C3-FC17-59517A9376AA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04879D-E1F1-FAB3-CA47-6524AAA4F62E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存放空間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F6AE1A3-5CA7-337B-1B8E-9834887BEBC0}"/>
              </a:ext>
            </a:extLst>
          </p:cNvPr>
          <p:cNvSpPr txBox="1"/>
          <p:nvPr/>
        </p:nvSpPr>
        <p:spPr>
          <a:xfrm>
            <a:off x="6909846" y="3212024"/>
            <a:ext cx="4232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SPACE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用於記錄系所內各教室、實驗室、辦公室與儲藏室，作為物品存放位置的參照資料。</a:t>
            </a:r>
          </a:p>
        </p:txBody>
      </p:sp>
    </p:spTree>
    <p:extLst>
      <p:ext uri="{BB962C8B-B14F-4D97-AF65-F5344CB8AC3E}">
        <p14:creationId xmlns:p14="http://schemas.microsoft.com/office/powerpoint/2010/main" val="1156552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B73D228-615A-3489-E5D0-150AB1409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46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2EA440-E523-D641-4AB2-241853175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86" y="3308516"/>
            <a:ext cx="5337866" cy="266488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E98F551-3E13-48AC-647C-6362A117B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90" y="1441196"/>
            <a:ext cx="1427819" cy="59803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6172A09-E62D-B28E-B762-D2AE330B8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86" y="1441196"/>
            <a:ext cx="5903474" cy="175165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444BE51-97F3-4DAC-5E87-EAC177FEBE29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1D1FDA2-834E-6C6A-F1AA-B1BCEF5F261B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維護廠商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72D3E9F-0DF5-B626-6B51-0BDD9EA7CE0B}"/>
              </a:ext>
            </a:extLst>
          </p:cNvPr>
          <p:cNvSpPr txBox="1"/>
          <p:nvPr/>
        </p:nvSpPr>
        <p:spPr>
          <a:xfrm>
            <a:off x="6843860" y="3796349"/>
            <a:ext cx="47039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VENDOR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用於記錄外部維護廠商名稱與聯絡方式，作為維修工單委外維修時的參照資料。</a:t>
            </a:r>
          </a:p>
        </p:txBody>
      </p:sp>
    </p:spTree>
    <p:extLst>
      <p:ext uri="{BB962C8B-B14F-4D97-AF65-F5344CB8AC3E}">
        <p14:creationId xmlns:p14="http://schemas.microsoft.com/office/powerpoint/2010/main" val="3931321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97CEC9-67CB-CB7C-5908-C017EA9E3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47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235073-CDF4-556E-6D99-0B3D8C52D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94" y="3564665"/>
            <a:ext cx="5958045" cy="256125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52BD9BE-AB63-C842-7EDA-0CE75F6C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315" y="1245392"/>
            <a:ext cx="1442487" cy="6024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BB7694B-2A13-219B-B44A-F5A86A07C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94" y="1245392"/>
            <a:ext cx="5958045" cy="21712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B52AABD-1366-B75C-8F5A-19A62AA6B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315" y="1944945"/>
            <a:ext cx="2469199" cy="67881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5EC618F-975E-2E21-CEAF-7105911BA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315" y="3564665"/>
            <a:ext cx="966170" cy="7811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5E0A61F-ECF4-3AC8-53E3-040F76E54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315" y="2720866"/>
            <a:ext cx="2129790" cy="69578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5DDFCAB-30E0-1167-5682-37F48853EC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315" y="4597532"/>
            <a:ext cx="950977" cy="78116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0496A84C-C713-F17C-9BB3-BA30A176EC71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F5C517E-7620-F5C4-B7B9-01787EB9060F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使用者與角色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AAF0EE6-2D99-A7B0-E1F5-E0765B150188}"/>
              </a:ext>
            </a:extLst>
          </p:cNvPr>
          <p:cNvSpPr txBox="1"/>
          <p:nvPr/>
        </p:nvSpPr>
        <p:spPr>
          <a:xfrm>
            <a:off x="8302703" y="3997367"/>
            <a:ext cx="3361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USER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用於記錄系統使用者基本資料，並透過 </a:t>
            </a:r>
            <a:r>
              <a:rPr lang="en-US" altLang="zh-TW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role_id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與角色子表區分系所管理員、全系師生與設備負責人。</a:t>
            </a:r>
          </a:p>
        </p:txBody>
      </p:sp>
    </p:spTree>
    <p:extLst>
      <p:ext uri="{BB962C8B-B14F-4D97-AF65-F5344CB8AC3E}">
        <p14:creationId xmlns:p14="http://schemas.microsoft.com/office/powerpoint/2010/main" val="7003231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E5190D-B6B0-8404-DB6D-CC38D77A0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48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E7C170-1887-5A9E-EBAB-52BA5746E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8" y="2416074"/>
            <a:ext cx="6356418" cy="265859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8A662C0-9A7E-B308-B5F0-3E0B8C4E5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18" y="5074671"/>
            <a:ext cx="5724064" cy="132382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CF882CD-1990-3359-17BB-B8A1B029A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170" y="1163053"/>
            <a:ext cx="5100896" cy="267092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AF8ABF6-062E-8398-0DE0-E6C6C8BE2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18" y="1163053"/>
            <a:ext cx="3406523" cy="109225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1680A577-8B40-1AF4-82AC-1D3B22FABF2A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AA057C3-0597-66EE-4DC3-2ABECF949C4D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物品基本資料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84D4D0-445E-2F12-9ED1-4351DCAB7CC7}"/>
              </a:ext>
            </a:extLst>
          </p:cNvPr>
          <p:cNvSpPr txBox="1"/>
          <p:nvPr/>
        </p:nvSpPr>
        <p:spPr>
          <a:xfrm>
            <a:off x="6832170" y="4613006"/>
            <a:ext cx="5157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ITEM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為物品主資料表，保存所有物品的內部唯一編號、名稱、管理類型、狀態與存放位置；三種子類型各提供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筆資料，因此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ITEM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共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30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筆。</a:t>
            </a:r>
          </a:p>
        </p:txBody>
      </p:sp>
    </p:spTree>
    <p:extLst>
      <p:ext uri="{BB962C8B-B14F-4D97-AF65-F5344CB8AC3E}">
        <p14:creationId xmlns:p14="http://schemas.microsoft.com/office/powerpoint/2010/main" val="19592053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AE520DF-38D3-9BEB-C2DE-CFA47322B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49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EF13E4-9207-B88F-B3FD-6557686D6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13" y="1668621"/>
            <a:ext cx="1743318" cy="7144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D93FD2D-C121-089A-35F2-B6935CD8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13" y="3635509"/>
            <a:ext cx="9743440" cy="220985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AC38BB8-5C45-6F45-698B-DF47EA8C4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603" y="1668621"/>
            <a:ext cx="7922597" cy="1740811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3E8520F0-925D-14CB-59C4-FD778203F180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4B80F00-0E0F-09F3-5B2F-2F67C519D72C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財產設備明細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149E64-5812-171C-6AFB-071941A7DAAB}"/>
              </a:ext>
            </a:extLst>
          </p:cNvPr>
          <p:cNvSpPr txBox="1"/>
          <p:nvPr/>
        </p:nvSpPr>
        <p:spPr>
          <a:xfrm>
            <a:off x="1082613" y="5998379"/>
            <a:ext cx="7344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ASSET_DETAIL 用於記錄財產設備的財產編號、經費來源、取得日期、取得金額、耐用年限與保管人，可支援財產盤點與報廢評估。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17428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909CD7-C7BD-A4B2-A613-A08CFBD09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50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D495C7-B55B-F500-8269-5D68389F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073" y="3267331"/>
            <a:ext cx="9012340" cy="258182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7DAD4B1-8819-81D8-7394-E65548DEF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073" y="1311893"/>
            <a:ext cx="2210108" cy="68589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DCDC968-5DFB-2973-F7D5-8463E095C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784" y="1311893"/>
            <a:ext cx="6588629" cy="1819345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2AF92915-B40B-B16D-7026-9E779E37553C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41DE423-253A-983B-099B-338B81095FEA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非列管設備明細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E405DD6-CFDA-5CB9-477A-A642515F969A}"/>
              </a:ext>
            </a:extLst>
          </p:cNvPr>
          <p:cNvSpPr txBox="1"/>
          <p:nvPr/>
        </p:nvSpPr>
        <p:spPr>
          <a:xfrm>
            <a:off x="1816073" y="5954316"/>
            <a:ext cx="8431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REUSABLE_EQUIPMENT 用於管理可重複使用但無財產標籤的設備，記錄規格、數量、是否可借用與是否需歸還。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65692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AE11A8D-4B9E-168B-6A0A-B3102330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51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EF69B0-0EE6-B1FF-0519-48E18890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823" y="3429000"/>
            <a:ext cx="5784759" cy="304608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845D920-2F60-8FAD-E483-ADE63481B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447390"/>
            <a:ext cx="1838018" cy="6290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5E2CC2-DB36-C550-5690-462210846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823" y="1447390"/>
            <a:ext cx="5784758" cy="1906748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1061F6A1-B7B1-A97E-7E3A-C39C1AB681D3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118C30-CE40-D51A-E98A-9E72A2D72CB1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耗材明細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09FB96-587F-79BC-CA33-7F9915CFA55F}"/>
              </a:ext>
            </a:extLst>
          </p:cNvPr>
          <p:cNvSpPr txBox="1"/>
          <p:nvPr/>
        </p:nvSpPr>
        <p:spPr>
          <a:xfrm>
            <a:off x="8552468" y="3423274"/>
            <a:ext cx="3353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CONSUMABLE_DETAIL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用於記錄耗材庫存量、最低庫存量與單位，可支援低庫存預警與補貨判斷。</a:t>
            </a:r>
          </a:p>
        </p:txBody>
      </p:sp>
    </p:spTree>
    <p:extLst>
      <p:ext uri="{BB962C8B-B14F-4D97-AF65-F5344CB8AC3E}">
        <p14:creationId xmlns:p14="http://schemas.microsoft.com/office/powerpoint/2010/main" val="24969627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922826-9215-FE9B-D0D2-58225154C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52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F619A3A-AFA5-5606-A183-B8681826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710" y="3283253"/>
            <a:ext cx="9198579" cy="269868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626B738-5F9A-622E-B4B1-188A8BD30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10" y="1135838"/>
            <a:ext cx="1972354" cy="7726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0BC346F-0C7C-9AF8-63A8-B98584750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461" y="1135838"/>
            <a:ext cx="7105828" cy="2101305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2798B33F-ADA5-6391-01A6-F051BB0458C9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DF5691-7068-EF88-7D17-A7E324F416EE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耗材領用紀錄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A62640-CB98-EF25-5D0C-EEA262ABE722}"/>
              </a:ext>
            </a:extLst>
          </p:cNvPr>
          <p:cNvSpPr txBox="1"/>
          <p:nvPr/>
        </p:nvSpPr>
        <p:spPr>
          <a:xfrm>
            <a:off x="888476" y="6093792"/>
            <a:ext cx="9009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CONSUME_RECORD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用於記錄耗材領用時間、領用人、數量與用途，可追蹤耗材流向，並作為後續庫存扣減與補貨判斷依據。</a:t>
            </a:r>
          </a:p>
        </p:txBody>
      </p:sp>
    </p:spTree>
    <p:extLst>
      <p:ext uri="{BB962C8B-B14F-4D97-AF65-F5344CB8AC3E}">
        <p14:creationId xmlns:p14="http://schemas.microsoft.com/office/powerpoint/2010/main" val="34462917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166EB3-E0E2-5B72-F194-8DE99A188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53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1F7D5-E0D5-433D-E97A-B9FCFFB3D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61" y="3391292"/>
            <a:ext cx="10459275" cy="245080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CD51FD4-8F4E-844A-19E0-3668D19F0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60" y="1311967"/>
            <a:ext cx="1631741" cy="64589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E60F6A9-6714-0F55-EDD8-6DCA46E34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639" y="1311967"/>
            <a:ext cx="8638998" cy="1999977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4BE18000-A264-E264-CFF6-4D5AD7CB32C9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64ADD8-8B7B-484E-9102-4A05349D2E3B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借用紀錄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3A9934D-A61F-0643-1DD5-249AA3E5B76D}"/>
              </a:ext>
            </a:extLst>
          </p:cNvPr>
          <p:cNvSpPr txBox="1"/>
          <p:nvPr/>
        </p:nvSpPr>
        <p:spPr>
          <a:xfrm>
            <a:off x="866359" y="5967995"/>
            <a:ext cx="7712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BORROW_RECORD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用於記錄設備借用、預計歸還、實際歸還與借用狀態，可追蹤設備流向與使用責任。</a:t>
            </a:r>
          </a:p>
        </p:txBody>
      </p:sp>
    </p:spTree>
    <p:extLst>
      <p:ext uri="{BB962C8B-B14F-4D97-AF65-F5344CB8AC3E}">
        <p14:creationId xmlns:p14="http://schemas.microsoft.com/office/powerpoint/2010/main" val="33495374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59DF07-B005-C8BE-0ACD-CAC6F902C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54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C9E424-FF76-ADEB-ACC2-7593EAE00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15" y="4226269"/>
            <a:ext cx="11126770" cy="120592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97F35F5-23EA-A954-64EB-94DFDC028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15" y="1859029"/>
            <a:ext cx="1513662" cy="48766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2DA6CCC-431E-2280-8F2D-B41686E21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457" y="1859029"/>
            <a:ext cx="9528927" cy="2274925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B2CF1FC1-599F-4DD2-E5DA-AC7D7E637EA5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67EA8C2-E529-89AF-BB91-8249DE898C48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維修工單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95E1669-DEE0-80AF-06BA-17A7DC4734FD}"/>
              </a:ext>
            </a:extLst>
          </p:cNvPr>
          <p:cNvSpPr txBox="1"/>
          <p:nvPr/>
        </p:nvSpPr>
        <p:spPr>
          <a:xfrm>
            <a:off x="502919" y="5628050"/>
            <a:ext cx="8537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MAINTENANCE_TICKET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用於記錄設備報修、處理人、維修狀態、費用、完成時間與維修結果，可支援維修流程追蹤與成本統計。</a:t>
            </a:r>
          </a:p>
        </p:txBody>
      </p:sp>
    </p:spTree>
    <p:extLst>
      <p:ext uri="{BB962C8B-B14F-4D97-AF65-F5344CB8AC3E}">
        <p14:creationId xmlns:p14="http://schemas.microsoft.com/office/powerpoint/2010/main" val="4765018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3D9FE5-E070-967B-1C2C-C0F2E4C85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55</a:t>
            </a:fld>
            <a:endParaRPr lang="zh-TW" altLang="en-US"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FFF9BF-AA80-F898-6B44-BA19CDC32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11" y="3527785"/>
            <a:ext cx="10864378" cy="238787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F8F31A3-0DB1-9A7E-A2C4-8399C0B35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11" y="1304858"/>
            <a:ext cx="1895740" cy="77163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EF2255E-32B4-D761-5D7F-E6F956742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313" y="1304858"/>
            <a:ext cx="8655876" cy="2142310"/>
          </a:xfrm>
          <a:prstGeom prst="rect">
            <a:avLst/>
          </a:prstGeom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1525DDFE-42D3-2ACC-33F8-DFC6BD73A3CC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資料庫實作結果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D5DCAA4-605E-2480-203F-AA859D4B99E6}"/>
              </a:ext>
            </a:extLst>
          </p:cNvPr>
          <p:cNvSpPr txBox="1"/>
          <p:nvPr/>
        </p:nvSpPr>
        <p:spPr>
          <a:xfrm>
            <a:off x="4153037" y="6959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STATUS_HISTORY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狀態異動紀錄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566F03E-409E-FDE3-4735-3987D857E374}"/>
              </a:ext>
            </a:extLst>
          </p:cNvPr>
          <p:cNvSpPr txBox="1"/>
          <p:nvPr/>
        </p:nvSpPr>
        <p:spPr>
          <a:xfrm>
            <a:off x="663811" y="6050202"/>
            <a:ext cx="1050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STATUS_HISTORY 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用於保存物品狀態異動歷程，包含操作者、異動時間、舊狀態、新狀態與異動原因，可支援設備追蹤與責任溯源。</a:t>
            </a:r>
          </a:p>
        </p:txBody>
      </p:sp>
    </p:spTree>
    <p:extLst>
      <p:ext uri="{BB962C8B-B14F-4D97-AF65-F5344CB8AC3E}">
        <p14:creationId xmlns:p14="http://schemas.microsoft.com/office/powerpoint/2010/main" val="34142785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F185D73-B43A-A83D-86CD-149356D7BDBD}"/>
              </a:ext>
            </a:extLst>
          </p:cNvPr>
          <p:cNvSpPr txBox="1"/>
          <p:nvPr/>
        </p:nvSpPr>
        <p:spPr>
          <a:xfrm>
            <a:off x="502919" y="1412161"/>
            <a:ext cx="79889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虎科大學務處器材借用系統</a:t>
            </a: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https://eqapp.nfu.edu.tw/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虎科大資工系教室借用系統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https://csieoffice1.nfu.edu.tw/RoomManager/index.php/Home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虎科大學務處活動場地借用系統</a:t>
            </a:r>
          </a:p>
          <a:p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https://placeapp.nfu.edu.tw/</a:t>
            </a:r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F600B9C-C2ED-C8C9-7977-355E2337D732}"/>
              </a:ext>
            </a:extLst>
          </p:cNvPr>
          <p:cNvSpPr/>
          <p:nvPr/>
        </p:nvSpPr>
        <p:spPr>
          <a:xfrm>
            <a:off x="502919" y="484632"/>
            <a:ext cx="10936411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zh-TW" altLang="en-US" sz="4000" b="1">
                <a:latin typeface="Microsoft JhengHei" pitchFamily="34" charset="0"/>
                <a:ea typeface="Microsoft JhengHei" pitchFamily="34" charset="-122"/>
              </a:rPr>
              <a:t>參考資料</a:t>
            </a:r>
            <a:endParaRPr lang="en-US" sz="40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A7C6A26-663C-D915-57C9-1634ED48D6A6}"/>
              </a:ext>
            </a:extLst>
          </p:cNvPr>
          <p:cNvSpPr/>
          <p:nvPr/>
        </p:nvSpPr>
        <p:spPr>
          <a:xfrm>
            <a:off x="384048" y="6327648"/>
            <a:ext cx="11155680" cy="0"/>
          </a:xfrm>
          <a:prstGeom prst="line">
            <a:avLst/>
          </a:prstGeom>
          <a:noFill/>
          <a:ln w="1016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2AC6F77-92A4-790E-BFED-A474A7B02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56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92492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98555">
            <a:off x="6906477" y="1056580"/>
            <a:ext cx="7499966" cy="5536338"/>
          </a:xfrm>
          <a:custGeom>
            <a:avLst/>
            <a:gdLst/>
            <a:ahLst/>
            <a:cxnLst/>
            <a:rect l="l" t="t" r="r" b="b"/>
            <a:pathLst>
              <a:path w="12791303" h="9442307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Freeform 3"/>
          <p:cNvSpPr/>
          <p:nvPr/>
        </p:nvSpPr>
        <p:spPr>
          <a:xfrm rot="-10659522">
            <a:off x="-771064" y="-836626"/>
            <a:ext cx="4011843" cy="2399811"/>
          </a:xfrm>
          <a:custGeom>
            <a:avLst/>
            <a:gdLst/>
            <a:ahLst/>
            <a:cxnLst/>
            <a:rect l="l" t="t" r="r" b="b"/>
            <a:pathLst>
              <a:path w="6017764" h="3599717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616014" y="3459308"/>
            <a:ext cx="3144654" cy="4167613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1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77637" y="1644130"/>
            <a:ext cx="6448591" cy="394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397"/>
              </a:lnSpc>
            </a:pPr>
            <a:r>
              <a:rPr lang="en-US" sz="13700" b="1" spc="-769">
                <a:solidFill>
                  <a:srgbClr val="424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92679" y="4414426"/>
            <a:ext cx="2333549" cy="82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4"/>
              </a:lnSpc>
            </a:pPr>
            <a:r>
              <a:rPr lang="en-US" sz="2400" spc="-146">
                <a:solidFill>
                  <a:srgbClr val="424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for your time and attention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AF47960-F48E-7532-4305-E0A1ACFB8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32C4C-0BC4-4C0B-B515-D3E7B997DA3C}" type="slidenum">
              <a:rPr lang="zh-TW" altLang="en-US" smtClean="0"/>
              <a:pPr/>
              <a:t>57</a:t>
            </a:fld>
            <a:endParaRPr lang="zh-TW" altLang="en-US"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9F417DA72AAA41951F198C29C980E0" ma:contentTypeVersion="5" ma:contentTypeDescription="Create a new document." ma:contentTypeScope="" ma:versionID="dad83f9de48eae9ddeeefcc144043629">
  <xsd:schema xmlns:xsd="http://www.w3.org/2001/XMLSchema" xmlns:xs="http://www.w3.org/2001/XMLSchema" xmlns:p="http://schemas.microsoft.com/office/2006/metadata/properties" xmlns:ns3="19862800-3f85-4165-afa8-5e3406ccc921" targetNamespace="http://schemas.microsoft.com/office/2006/metadata/properties" ma:root="true" ma:fieldsID="988f5475ad65d477113ccba8b71fac9b" ns3:_="">
    <xsd:import namespace="19862800-3f85-4165-afa8-5e3406ccc92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862800-3f85-4165-afa8-5e3406ccc92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862800-3f85-4165-afa8-5e3406ccc92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C0A552-6A78-4B14-947D-C87B490A3F77}">
  <ds:schemaRefs>
    <ds:schemaRef ds:uri="19862800-3f85-4165-afa8-5e3406ccc9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BA2C4C3-902F-4498-A7B6-922C59EB5290}">
  <ds:schemaRefs>
    <ds:schemaRef ds:uri="19862800-3f85-4165-afa8-5e3406ccc9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71488B6-88D6-4471-877A-3A01F054FB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6455</Words>
  <Application>Microsoft Office PowerPoint</Application>
  <PresentationFormat>寬螢幕</PresentationFormat>
  <Paragraphs>1004</Paragraphs>
  <Slides>57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</vt:vector>
  </HeadingPairs>
  <TitlesOfParts>
    <vt:vector size="64" baseType="lpstr">
      <vt:lpstr>微軟正黑體</vt:lpstr>
      <vt:lpstr>微軟正黑體</vt:lpstr>
      <vt:lpstr>Arial</vt:lpstr>
      <vt:lpstr>Calibri</vt:lpstr>
      <vt:lpstr>Consolas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G05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設備管理與維護系統（以實驗室為例）</dc:title>
  <dc:subject>資料庫系統 期末專題 Part I</dc:subject>
  <dc:creator>OpenAI</dc:creator>
  <cp:lastModifiedBy>MIC_LAB NFU</cp:lastModifiedBy>
  <cp:revision>1</cp:revision>
  <dcterms:created xsi:type="dcterms:W3CDTF">2026-04-26T08:24:12Z</dcterms:created>
  <dcterms:modified xsi:type="dcterms:W3CDTF">2026-06-09T22:22:01Z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0x0101008F9F417DA72AAA41951F198C29C980E0</vt:lpwstr>
  </property>
</Properties>
</file>